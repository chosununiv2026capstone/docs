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292608"/>
            <a:ext cx="1325880" cy="0"/>
          </a:xfrm>
          <a:prstGeom prst="line">
            <a:avLst/>
          </a:prstGeom>
          <a:noFill/>
          <a:ln w="15240">
            <a:solidFill>
              <a:srgbClr val="8FA8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6172200"/>
            <a:ext cx="2011680" cy="0"/>
          </a:xfrm>
          <a:prstGeom prst="line">
            <a:avLst/>
          </a:prstGeom>
          <a:noFill/>
          <a:ln w="15240">
            <a:solidFill>
              <a:srgbClr val="8FA8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Wi-Fi 기반 위치 판별과 디바이스 인증을 결합한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스마트 클래스 서비스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8DAE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W4 진행 업데이트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66928" y="440740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조선대학교 차세대 사이버캠퍼스 프로토타입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2F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기준 시점: 2026-03-30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2F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초점: 현재 저장소 변경사항과 다음 단계 정리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750040" y="644652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2F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58368"/>
            <a:ext cx="0" cy="347472"/>
          </a:xfrm>
          <a:prstGeom prst="line">
            <a:avLst/>
          </a:prstGeom>
          <a:noFill/>
          <a:ln w="2286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5669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목차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65860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2103120" cy="4617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1554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이번 주 핵심 변화</a:t>
            </a:r>
            <a:endParaRPr lang="en-US" sz="15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
02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저장소별 구현 진행</a:t>
            </a:r>
            <a:endParaRPr lang="en-US" sz="15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
03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현재 단계와 아키텍처</a:t>
            </a:r>
            <a:endParaRPr lang="en-US" sz="15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
04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리스크와 다음 액션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0" y="1508760"/>
            <a:ext cx="7772400" cy="3566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문서 기준 source of truth와 저장소 분리 구조가 실제 작업 흐름으로 고정되었습니다.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Front, Backend, PresenceService, DB에 각자 첫 번째 구현 뼈대가 생겼습니다.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이번 W4는 제안서가 아니라 현재 구현 상태를 설명하는 주간 업데이트용 덱입니다.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246120" y="4892040"/>
            <a:ext cx="3703320" cy="9144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2700">
            <a:solidFill>
              <a:srgbClr val="C6D3E3"/>
            </a:solidFill>
            <a:prstDash val="solid"/>
          </a:ln>
          <a:effectLst>
            <a:outerShdw sx="100000" sy="100000" kx="0" ky="0" algn="bl" rotWithShape="0" blurRad="19050" dist="12700" dir="2700000">
              <a:srgbClr val="35507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50566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이번 주 포인트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536752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기능 범위보다 구현 경계와 실행 가능 구조를 먼저 고정했습니다.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78040" y="4892040"/>
            <a:ext cx="3703320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>
            <a:solidFill>
              <a:srgbClr val="C6D3E3"/>
            </a:solidFill>
            <a:prstDash val="solid"/>
          </a:ln>
          <a:effectLst>
            <a:outerShdw sx="100000" sy="100000" kx="0" ky="0" algn="bl" rotWithShape="0" blurRad="19050" dist="12700" dir="2700000">
              <a:srgbClr val="35507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60920" y="50566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발표 방향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60920" y="536752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‘왜 필요한가’보다 ‘지금 어디까지 만들었는가’ 중심으로 재구성했습니다.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58368"/>
            <a:ext cx="0" cy="347472"/>
          </a:xfrm>
          <a:prstGeom prst="line">
            <a:avLst/>
          </a:prstGeom>
          <a:noFill/>
          <a:ln w="2286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5669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이번 주 핵심 변화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65860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653796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docs 저장소를 중심으로 요구사항·로드맵·리스크·오픈질문이 현재 기준으로 정리되었습니다.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CodexKit이 워크스페이스 부트스트랩, docs seed, 브랜치 규약을 묶는 운영 패키지로 자리 잡았습니다.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프론트·백엔드·재실성 서비스·DB에 각각 첫 번째 실행 가능한 slice가 생겼습니다.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주간 진행 발표를 계속 고도화할 수 있도록 PPTX와 manifest를 Git으로 관리하는 방향을 확정했습니다.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35240" y="1325880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EAF2FB"/>
          </a:solidFill>
          <a:ln w="12700">
            <a:solidFill>
              <a:srgbClr val="C6D3E3"/>
            </a:solidFill>
            <a:prstDash val="solid"/>
          </a:ln>
          <a:effectLst>
            <a:outerShdw sx="100000" sy="100000" kx="0" ky="0" algn="bl" rotWithShape="0" blurRad="19050" dist="12700" dir="2700000">
              <a:srgbClr val="35507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18120" y="149047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문서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18120" y="180136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로드맵 / 리스크 / 운영 규칙 정리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35240" y="2606040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EEF2F7"/>
          </a:solidFill>
          <a:ln w="12700">
            <a:solidFill>
              <a:srgbClr val="C6D3E3"/>
            </a:solidFill>
            <a:prstDash val="solid"/>
          </a:ln>
          <a:effectLst>
            <a:outerShdw sx="100000" sy="100000" kx="0" ky="0" algn="bl" rotWithShape="0" blurRad="19050" dist="12700" dir="2700000">
              <a:srgbClr val="35507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18120" y="277063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구현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18120" y="308152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서비스별 첫 번째 뼈대 확보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35240" y="3886200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EAF2FB"/>
          </a:solidFill>
          <a:ln w="12700">
            <a:solidFill>
              <a:srgbClr val="C6D3E3"/>
            </a:solidFill>
            <a:prstDash val="solid"/>
          </a:ln>
          <a:effectLst>
            <a:outerShdw sx="100000" sy="100000" kx="0" ky="0" algn="bl" rotWithShape="0" blurRad="19050" dist="12700" dir="2700000">
              <a:srgbClr val="35507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18120" y="405079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발표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18120" y="436168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주간 덱 증분 편집 체계 정의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35240" y="5166360"/>
            <a:ext cx="3794760" cy="640080"/>
          </a:xfrm>
          <a:prstGeom prst="roundRect">
            <a:avLst>
              <a:gd name="adj" fmla="val 11429"/>
            </a:avLst>
          </a:prstGeom>
          <a:solidFill>
            <a:srgbClr val="F4F8FC"/>
          </a:solidFill>
          <a:ln w="12700">
            <a:solidFill>
              <a:srgbClr val="C6D3E3"/>
            </a:solidFill>
            <a:prstDash val="solid"/>
          </a:ln>
          <a:effectLst>
            <a:outerShdw sx="100000" sy="100000" kx="0" ky="0" algn="bl" rotWithShape="0" blurRad="19050" dist="12700" dir="2700000">
              <a:srgbClr val="35507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18120" y="533095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상태 판단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18120" y="5641848"/>
            <a:ext cx="3429000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제안 단계 -&gt; 구현 진행 보고 단계로 전환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58368"/>
            <a:ext cx="0" cy="347472"/>
          </a:xfrm>
          <a:prstGeom prst="line">
            <a:avLst/>
          </a:prstGeom>
          <a:noFill/>
          <a:ln w="2286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5669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저장소별 구현 진행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65860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10972800" cy="4389120"/>
        </p:xfrm>
        <a:graphic>
          <a:graphicData uri="http://schemas.openxmlformats.org/drawingml/2006/table">
            <a:tbl>
              <a:tblPr/>
              <a:tblGrid>
                <a:gridCol w="1600200"/>
                <a:gridCol w="7086600"/>
                <a:gridCol w="22860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저장소</a:t>
                      </a:r>
                      <a:endParaRPr lang="en-US" sz="13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이번 상태</a:t>
                      </a:r>
                      <a:endParaRPr lang="en-US" sz="13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판단</a:t>
                      </a:r>
                      <a:endParaRPr lang="en-US" sz="13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docs</a:t>
                      </a:r>
                      <a:endParaRPr lang="en-US" sz="13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로드맵·리스크·오픈질문·슬라이드 운영 설계 정리</a:t>
                      </a:r>
                      <a:endParaRPr lang="en-US" sz="13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기준 문서 정착</a:t>
                      </a:r>
                      <a:endParaRPr lang="en-US" sz="13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CodexKit</a:t>
                      </a:r>
                      <a:endParaRPr lang="en-US" sz="13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워크스페이스 부트스트랩 / docs seed / 브랜치 규약 반영</a:t>
                      </a:r>
                      <a:endParaRPr lang="en-US" sz="13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운영 기반 확보</a:t>
                      </a:r>
                      <a:endParaRPr lang="en-US" sz="13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Front</a:t>
                      </a:r>
                      <a:endParaRPr lang="en-US" sz="13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로그인·프로필·강의 페이지 재구성</a:t>
                      </a:r>
                      <a:endParaRPr lang="en-US" sz="13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UI 뼈대 진행 중</a:t>
                      </a:r>
                      <a:endParaRPr lang="en-US" sz="13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Backend</a:t>
                      </a:r>
                      <a:endParaRPr lang="en-US" sz="13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출석 eligibility 및 read-model spine 구축</a:t>
                      </a:r>
                      <a:endParaRPr lang="en-US" sz="13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도메인 뼈대 진행 중</a:t>
                      </a:r>
                      <a:endParaRPr lang="en-US" sz="13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PresenceService</a:t>
                      </a:r>
                      <a:endParaRPr lang="en-US" sz="13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OpenWrt형 더미 수집 서비스 제공</a:t>
                      </a:r>
                      <a:endParaRPr lang="en-US" sz="13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연동 기반 확보</a:t>
                      </a:r>
                      <a:endParaRPr lang="en-US" sz="13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DB</a:t>
                      </a:r>
                      <a:endParaRPr lang="en-US" sz="13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CSV 기반 데모 데이터와 attendance slice 시드</a:t>
                      </a:r>
                      <a:endParaRPr lang="en-US" sz="13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데이터 기반 확보</a:t>
                      </a:r>
                      <a:endParaRPr lang="en-US" sz="13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5806440"/>
            <a:ext cx="10972800" cy="566928"/>
          </a:xfrm>
          <a:prstGeom prst="roundRect">
            <a:avLst>
              <a:gd name="adj" fmla="val 12903"/>
            </a:avLst>
          </a:prstGeom>
          <a:solidFill>
            <a:srgbClr val="F8FBFE"/>
          </a:solidFill>
          <a:ln w="12700">
            <a:solidFill>
              <a:srgbClr val="C6D3E3"/>
            </a:solidFill>
            <a:prstDash val="solid"/>
          </a:ln>
          <a:effectLst>
            <a:outerShdw sx="100000" sy="100000" kx="0" ky="0" algn="bl" rotWithShape="0" blurRad="19050" dist="12700" dir="2700000">
              <a:srgbClr val="35507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4400" y="5971032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해석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6281928"/>
            <a:ext cx="10607040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각 저장소가 서로 다른 책임을 가진 상태로 첫 구현 조각을 확보했습니다. 다음 주부터는 slice 간 연결과 검증의 비중이 커집니다.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58368"/>
            <a:ext cx="0" cy="347472"/>
          </a:xfrm>
          <a:prstGeom prst="line">
            <a:avLst/>
          </a:prstGeom>
          <a:noFill/>
          <a:ln w="2286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5669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현재 단계와 범위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65860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3520440" cy="3337560"/>
          </a:xfrm>
          <a:prstGeom prst="roundRect">
            <a:avLst>
              <a:gd name="adj" fmla="val 2192"/>
            </a:avLst>
          </a:prstGeom>
          <a:solidFill>
            <a:srgbClr val="EAF2FB"/>
          </a:solidFill>
          <a:ln w="12700">
            <a:solidFill>
              <a:srgbClr val="C6D3E3"/>
            </a:solidFill>
            <a:prstDash val="solid"/>
          </a:ln>
          <a:effectLst>
            <a:outerShdw sx="100000" sy="100000" kx="0" ky="0" algn="bl" rotWithShape="0" blurRad="19050" dist="12700" dir="2700000">
              <a:srgbClr val="35507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44475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Phase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755648"/>
            <a:ext cx="3154680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로그인, 단말 관리, eligibility, Docker 실행의 기본 동작 확보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280160"/>
            <a:ext cx="3520440" cy="3337560"/>
          </a:xfrm>
          <a:prstGeom prst="roundRect">
            <a:avLst>
              <a:gd name="adj" fmla="val 2192"/>
            </a:avLst>
          </a:prstGeom>
          <a:solidFill>
            <a:srgbClr val="EEF2F7"/>
          </a:solidFill>
          <a:ln w="12700">
            <a:solidFill>
              <a:srgbClr val="C6D3E3"/>
            </a:solidFill>
            <a:prstDash val="solid"/>
          </a:ln>
          <a:effectLst>
            <a:outerShdw sx="100000" sy="100000" kx="0" ky="0" algn="bl" rotWithShape="0" blurRad="19050" dist="12700" dir="2700000">
              <a:srgbClr val="35507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144475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Phase 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1755648"/>
            <a:ext cx="3154680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강의 목록 / 공지 / 관리자 조회의 1차 뼈대 구현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0" y="1280160"/>
            <a:ext cx="3520440" cy="3337560"/>
          </a:xfrm>
          <a:prstGeom prst="roundRect">
            <a:avLst>
              <a:gd name="adj" fmla="val 2192"/>
            </a:avLst>
          </a:prstGeom>
          <a:solidFill>
            <a:srgbClr val="EAF2FB"/>
          </a:solidFill>
          <a:ln w="12700">
            <a:solidFill>
              <a:srgbClr val="C6D3E3"/>
            </a:solidFill>
            <a:prstDash val="solid"/>
          </a:ln>
          <a:effectLst>
            <a:outerShdw sx="100000" sy="100000" kx="0" ky="0" algn="bl" rotWithShape="0" blurRad="19050" dist="12700" dir="2700000">
              <a:srgbClr val="35507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38160" y="144475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Phase 3+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38160" y="1755648"/>
            <a:ext cx="3154680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강의자료 / 동영상 / 과제 / 퀴즈 / 성적은 계획 수립 완료, 아직 미착수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554480" y="4983480"/>
            <a:ext cx="905256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14400" y="51389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기본 동작 확보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43400" y="51389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조회 중심 뼈대 확장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18120" y="51389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콘텐츠·평가 기능 연결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58368"/>
            <a:ext cx="0" cy="347472"/>
          </a:xfrm>
          <a:prstGeom prst="line">
            <a:avLst/>
          </a:prstGeom>
          <a:noFill/>
          <a:ln w="2286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5669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현재 아키텍처 진행 포인트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65860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2148840" cy="2011680"/>
          </a:xfrm>
          <a:prstGeom prst="roundRect">
            <a:avLst>
              <a:gd name="adj" fmla="val 3636"/>
            </a:avLst>
          </a:prstGeom>
          <a:solidFill>
            <a:srgbClr val="EAF2FB"/>
          </a:solidFill>
          <a:ln w="12700">
            <a:solidFill>
              <a:srgbClr val="C6D3E3"/>
            </a:solidFill>
            <a:prstDash val="solid"/>
          </a:ln>
          <a:effectLst>
            <a:outerShdw sx="100000" sy="100000" kx="0" ky="0" algn="bl" rotWithShape="0" blurRad="19050" dist="12700" dir="2700000">
              <a:srgbClr val="35507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5819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Front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892808"/>
            <a:ext cx="17830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학생/교수/관리자 UI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로그인·프로필·강의 화면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08960" y="1417320"/>
            <a:ext cx="2148840" cy="2011680"/>
          </a:xfrm>
          <a:prstGeom prst="roundRect">
            <a:avLst>
              <a:gd name="adj" fmla="val 3636"/>
            </a:avLst>
          </a:prstGeom>
          <a:solidFill>
            <a:srgbClr val="EEF2F7"/>
          </a:solidFill>
          <a:ln w="12700">
            <a:solidFill>
              <a:srgbClr val="C6D3E3"/>
            </a:solidFill>
            <a:prstDash val="solid"/>
          </a:ln>
          <a:effectLst>
            <a:outerShdw sx="100000" sy="100000" kx="0" ky="0" algn="bl" rotWithShape="0" blurRad="19050" dist="12700" dir="2700000">
              <a:srgbClr val="35507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5819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Backend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91840" y="1892808"/>
            <a:ext cx="17830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LMS 도메인 + eligibility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read model spine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40680" y="1417320"/>
            <a:ext cx="2148840" cy="2011680"/>
          </a:xfrm>
          <a:prstGeom prst="roundRect">
            <a:avLst>
              <a:gd name="adj" fmla="val 3636"/>
            </a:avLst>
          </a:prstGeom>
          <a:solidFill>
            <a:srgbClr val="EAF2FB"/>
          </a:solidFill>
          <a:ln w="12700">
            <a:solidFill>
              <a:srgbClr val="C6D3E3"/>
            </a:solidFill>
            <a:prstDash val="solid"/>
          </a:ln>
          <a:effectLst>
            <a:outerShdw sx="100000" sy="100000" kx="0" ky="0" algn="bl" rotWithShape="0" blurRad="19050" dist="12700" dir="2700000">
              <a:srgbClr val="35507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23560" y="15819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PresenceService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23560" y="1892808"/>
            <a:ext cx="17830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OpenWrt형 단말 연결 정보 수집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재실성 보조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0" y="1417320"/>
            <a:ext cx="2148840" cy="2011680"/>
          </a:xfrm>
          <a:prstGeom prst="roundRect">
            <a:avLst>
              <a:gd name="adj" fmla="val 3636"/>
            </a:avLst>
          </a:prstGeom>
          <a:solidFill>
            <a:srgbClr val="EEF2F7"/>
          </a:solidFill>
          <a:ln w="12700">
            <a:solidFill>
              <a:srgbClr val="C6D3E3"/>
            </a:solidFill>
            <a:prstDash val="solid"/>
          </a:ln>
          <a:effectLst>
            <a:outerShdw sx="100000" sy="100000" kx="0" ky="0" algn="bl" rotWithShape="0" blurRad="19050" dist="12700" dir="2700000">
              <a:srgbClr val="35507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955280" y="15819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955280" y="1892808"/>
            <a:ext cx="17830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attendance slice demo data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CSV 기반 초기값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104120" y="1417320"/>
            <a:ext cx="1325880" cy="2011680"/>
          </a:xfrm>
          <a:prstGeom prst="roundRect">
            <a:avLst>
              <a:gd name="adj" fmla="val 5517"/>
            </a:avLst>
          </a:prstGeom>
          <a:solidFill>
            <a:srgbClr val="EAF2FB"/>
          </a:solidFill>
          <a:ln w="12700">
            <a:solidFill>
              <a:srgbClr val="C6D3E3"/>
            </a:solidFill>
            <a:prstDash val="solid"/>
          </a:ln>
          <a:effectLst>
            <a:outerShdw sx="100000" sy="100000" kx="0" ky="0" algn="bl" rotWithShape="0" blurRad="19050" dist="12700" dir="2700000">
              <a:srgbClr val="35507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287000" y="158191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docs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287000" y="1892808"/>
            <a:ext cx="9601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요구사항/규약/상태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70632" y="2148840"/>
            <a:ext cx="201168" cy="320040"/>
          </a:xfrm>
          <a:prstGeom prst="chevron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02352" y="2148840"/>
            <a:ext cx="201168" cy="320040"/>
          </a:xfrm>
          <a:prstGeom prst="chevron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34072" y="2148840"/>
            <a:ext cx="201168" cy="320040"/>
          </a:xfrm>
          <a:prstGeom prst="chevron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65792" y="2148840"/>
            <a:ext cx="201168" cy="320040"/>
          </a:xfrm>
          <a:prstGeom prst="chevron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977640"/>
            <a:ext cx="1088136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핵심은 서비스별 책임을 먼저 분리하고, eligibility와 attendance 흐름을 연결 가능한 상태로 만드는 것입니다.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docs와 CodexKit이 구현보다 먼저 경계를 고정해 주기 때문에 이후 기능 확장 시 서비스 혼선을 줄일 수 있습니다.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58368"/>
            <a:ext cx="0" cy="347472"/>
          </a:xfrm>
          <a:prstGeom prst="line">
            <a:avLst/>
          </a:prstGeom>
          <a:noFill/>
          <a:ln w="2286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5669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문서 및 운영 개선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65860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EAF2FB"/>
          </a:solidFill>
          <a:ln w="12700">
            <a:solidFill>
              <a:srgbClr val="C6D3E3"/>
            </a:solidFill>
            <a:prstDash val="solid"/>
          </a:ln>
          <a:effectLst>
            <a:outerShdw sx="100000" sy="100000" kx="0" ky="0" algn="bl" rotWithShape="0" blurRad="19050" dist="12700" dir="2700000">
              <a:srgbClr val="35507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4904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docs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801368"/>
            <a:ext cx="3291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source of truth 역할 정착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로드맵·리스크·오픈질문이 현재 기준으로 갱신됨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26280" y="132588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12700">
            <a:solidFill>
              <a:srgbClr val="C6D3E3"/>
            </a:solidFill>
            <a:prstDash val="solid"/>
          </a:ln>
          <a:effectLst>
            <a:outerShdw sx="100000" sy="100000" kx="0" ky="0" algn="bl" rotWithShape="0" blurRad="19050" dist="12700" dir="2700000">
              <a:srgbClr val="35507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4904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CodexKit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9160" y="1801368"/>
            <a:ext cx="3291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workspace bootstrap, docs seed, 브랜치 규약을 하나의 운영 패키지로 정리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75320" y="1325880"/>
            <a:ext cx="3154680" cy="1828800"/>
          </a:xfrm>
          <a:prstGeom prst="roundRect">
            <a:avLst>
              <a:gd name="adj" fmla="val 4000"/>
            </a:avLst>
          </a:prstGeom>
          <a:solidFill>
            <a:srgbClr val="EAF2FB"/>
          </a:solidFill>
          <a:ln w="12700">
            <a:solidFill>
              <a:srgbClr val="C6D3E3"/>
            </a:solidFill>
            <a:prstDash val="solid"/>
          </a:ln>
          <a:effectLst>
            <a:outerShdw sx="100000" sy="100000" kx="0" ky="0" algn="bl" rotWithShape="0" blurRad="19050" dist="12700" dir="2700000">
              <a:srgbClr val="35507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58200" y="149047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slides workflow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58200" y="1801368"/>
            <a:ext cx="2788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PPTX + manifest + notes를 Git으로 관리하는 주간 덱 운영 방향 합의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의미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023360"/>
            <a:ext cx="1069848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문서가 구현보다 한 발 앞서면서, 기능 추가 시 어떤 저장소에서 무엇을 해야 하는지가 더 명확해졌습니다.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발표 자료도 일회성 산출물이 아니라 점진적으로 고도화되는 프로젝트 자산으로 전환합니다.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58368"/>
            <a:ext cx="0" cy="347472"/>
          </a:xfrm>
          <a:prstGeom prst="line">
            <a:avLst/>
          </a:prstGeom>
          <a:noFill/>
          <a:ln w="2286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5669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리스크와 오픈 질문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65860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28016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EEF2F7"/>
          </a:solidFill>
          <a:ln w="12700">
            <a:solidFill>
              <a:srgbClr val="C6D3E3"/>
            </a:solidFill>
            <a:prstDash val="solid"/>
          </a:ln>
          <a:effectLst>
            <a:outerShdw sx="100000" sy="100000" kx="0" ky="0" algn="bl" rotWithShape="0" blurRad="19050" dist="12700" dir="2700000">
              <a:srgbClr val="35507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44475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주요 리스크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755648"/>
            <a:ext cx="5074920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• OpenWrt / 게이트웨이 환경에서 필요한 단말 정보를 안정적으로 수집할 수 있는지 검증 필요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• 랜덤 MAC 활성화 시 등록 단말 매칭 실패 가능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• Redis snapshot 캐시 만료 구간에 수집 부하 집중 위험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• 시험 접근 제어 범위를 너무 빠르게 넓히면 운영 복잡도 급증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28016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EAF2FB"/>
          </a:solidFill>
          <a:ln w="12700">
            <a:solidFill>
              <a:srgbClr val="C6D3E3"/>
            </a:solidFill>
            <a:prstDash val="solid"/>
          </a:ln>
          <a:effectLst>
            <a:outerShdw sx="100000" sy="100000" kx="0" ky="0" algn="bl" rotWithShape="0" blurRad="19050" dist="12700" dir="2700000">
              <a:srgbClr val="35507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444752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오픈 질문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1755648"/>
            <a:ext cx="4709160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• 시험 접근 제어에 재실성 조건을 어디까지 적용할 것인가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• 실제 교내 Wi-Fi 환경에서 사용할 수 있는 식별자 범위는 어디까지인가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• 수강신청과 관리자 기능의 MVP 우선순위는 어떻게 정할 것인가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• OpenWrt 수집 실패 시 fail-close 정책을 어느 수준까지 둘 것인가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58368"/>
            <a:ext cx="0" cy="347472"/>
          </a:xfrm>
          <a:prstGeom prst="line">
            <a:avLst/>
          </a:prstGeom>
          <a:noFill/>
          <a:ln w="2286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5669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다음 주 액션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65860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EAF2FB"/>
          </a:solidFill>
          <a:ln w="12700">
            <a:solidFill>
              <a:srgbClr val="C6D3E3"/>
            </a:solidFill>
            <a:prstDash val="solid"/>
          </a:ln>
          <a:effectLst>
            <a:outerShdw sx="100000" sy="100000" kx="0" ky="0" algn="bl" rotWithShape="0" blurRad="19050" dist="12700" dir="2700000">
              <a:srgbClr val="35507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49047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801368"/>
            <a:ext cx="315468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Front / Backend / PresenceService / DB의 첫 slice를 실제 흐름으로 연결합니다.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출석 eligibility와 단말 등록 경로를 우선 검증합니다.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132588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EEF2F7"/>
          </a:solidFill>
          <a:ln w="12700">
            <a:solidFill>
              <a:srgbClr val="C6D3E3"/>
            </a:solidFill>
            <a:prstDash val="solid"/>
          </a:ln>
          <a:effectLst>
            <a:outerShdw sx="100000" sy="100000" kx="0" ky="0" algn="bl" rotWithShape="0" blurRad="19050" dist="12700" dir="2700000">
              <a:srgbClr val="35507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49047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문서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1801368"/>
            <a:ext cx="315468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로드맵과 리스크를 구현 결과에 맞춰 계속 갱신합니다.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발표 자료는 manifest 기반 주간 증분 편집으로 전환합니다.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83880" y="1325880"/>
            <a:ext cx="3246120" cy="3383280"/>
          </a:xfrm>
          <a:prstGeom prst="roundRect">
            <a:avLst>
              <a:gd name="adj" fmla="val 2254"/>
            </a:avLst>
          </a:prstGeom>
          <a:solidFill>
            <a:srgbClr val="EAF2FB"/>
          </a:solidFill>
          <a:ln w="12700">
            <a:solidFill>
              <a:srgbClr val="C6D3E3"/>
            </a:solidFill>
            <a:prstDash val="solid"/>
          </a:ln>
          <a:effectLst>
            <a:outerShdw sx="100000" sy="100000" kx="0" ky="0" algn="bl" rotWithShape="0" blurRad="19050" dist="12700" dir="2700000">
              <a:srgbClr val="35507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6760" y="149047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검증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66760" y="1801368"/>
            <a:ext cx="288036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OpenWrt 수집 가능 정보와 랜덤 MAC 영향을 실제 환경에서 확인합니다.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Docker 로컬 런타임을 연결 검증 단위로 삼습니다.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" y="5166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요약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55046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이번 W4는 ‘무엇을 만들 것인가’보다 ‘지금 어떤 구조와 구현 조각이 확보되었는가’를 보여주는 업데이트 덱입니다.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Smart Class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 클래스 서비스 W4 진행 업데이트</dc:title>
  <dc:subject>Weekly project progress</dc:subject>
  <dc:creator>Codex</dc:creator>
  <cp:lastModifiedBy>Codex</cp:lastModifiedBy>
  <cp:revision>1</cp:revision>
  <dcterms:created xsi:type="dcterms:W3CDTF">2026-03-30T06:02:40Z</dcterms:created>
  <dcterms:modified xsi:type="dcterms:W3CDTF">2026-03-30T06:02:40Z</dcterms:modified>
</cp:coreProperties>
</file>