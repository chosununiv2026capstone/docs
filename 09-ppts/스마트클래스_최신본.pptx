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4"/>
  </p:normalViewPr>
  <p:slideViewPr>
    <p:cSldViewPr snapToGrid="0">
      <p:cViewPr varScale="1">
        <p:scale>
          <a:sx n="108" d="100"/>
          <a:sy n="108" d="100"/>
        </p:scale>
        <p:origin x="12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11693FE-FFD1-431A-BC63-89BC906265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5472AA-7E10-4A62-A141-13E7D238F282}"/>
              </a:ext>
            </a:extLst>
          </p:cNvPr>
          <p:cNvSpPr>
            <a:spLocks noGrp="1"/>
          </p:cNvSpPr>
          <p:nvPr/>
        </p:nvSpPr>
        <p:spPr>
          <a:xfrm>
            <a:off x="12420600" y="0"/>
            <a:ext cx="5943600" cy="10287000"/>
          </a:xfrm>
          <a:prstGeom prst="rect">
            <a:avLst/>
          </a:prstGeom>
          <a:solidFill>
            <a:srgbClr val="102A4C"/>
          </a:solidFill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F34CE1-7CAA-4590-9BB0-310E578EEBF6}"/>
              </a:ext>
            </a:extLst>
          </p:cNvPr>
          <p:cNvSpPr>
            <a:spLocks noGrp="1"/>
          </p:cNvSpPr>
          <p:nvPr/>
        </p:nvSpPr>
        <p:spPr>
          <a:xfrm>
            <a:off x="12115800" y="0"/>
            <a:ext cx="76200" cy="10287000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723900"/>
            <a:ext cx="552450" cy="552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165594-918D-48FF-BD65-E364EE1CDDB6}"/>
              </a:ext>
            </a:extLst>
          </p:cNvPr>
          <p:cNvSpPr>
            <a:spLocks noGrp="1"/>
          </p:cNvSpPr>
          <p:nvPr/>
        </p:nvSpPr>
        <p:spPr>
          <a:xfrm>
            <a:off x="1600200" y="895350"/>
            <a:ext cx="2095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6BCC82-DD89-48C5-BD1E-0DD6FB9B26B9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10287000" cy="2609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Wi-Fi 기반 위치 판별과</a:t>
            </a:r>
          </a:p>
          <a:p>
            <a:pPr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디바이스 인증을 결합한</a:t>
            </a:r>
          </a:p>
          <a:p>
            <a:pPr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공정한 스마트 클래스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65D410-17F4-4FA7-9275-7046BEB0B356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93345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2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조선대학교 사이버 캠퍼스 개선형 프로토타입</a:t>
            </a:r>
          </a:p>
          <a:p>
            <a:pPr>
              <a:defRPr sz="22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2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산학프로젝트1 · 강의실영역전개(4조)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9B682A4-19EA-4987-9D0B-28452E18FDBF}"/>
              </a:ext>
            </a:extLst>
          </p:cNvPr>
          <p:cNvSpPr>
            <a:spLocks noGrp="1"/>
          </p:cNvSpPr>
          <p:nvPr/>
        </p:nvSpPr>
        <p:spPr>
          <a:xfrm>
            <a:off x="914400" y="5783580"/>
            <a:ext cx="1047750" cy="400050"/>
          </a:xfrm>
          <a:prstGeom prst="roundRect">
            <a:avLst>
              <a:gd name="adj" fmla="val 38095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4C9F4B-22BF-424A-8DAB-BF88B3EAFBB2}"/>
              </a:ext>
            </a:extLst>
          </p:cNvPr>
          <p:cNvSpPr>
            <a:spLocks noGrp="1"/>
          </p:cNvSpPr>
          <p:nvPr/>
        </p:nvSpPr>
        <p:spPr>
          <a:xfrm>
            <a:off x="1047750" y="5867400"/>
            <a:ext cx="781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LMS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DCAF2E-D401-4F33-AF61-E88B0B0E1187}"/>
              </a:ext>
            </a:extLst>
          </p:cNvPr>
          <p:cNvSpPr>
            <a:spLocks noGrp="1"/>
          </p:cNvSpPr>
          <p:nvPr/>
        </p:nvSpPr>
        <p:spPr>
          <a:xfrm>
            <a:off x="2057400" y="5783580"/>
            <a:ext cx="1714500" cy="400050"/>
          </a:xfrm>
          <a:prstGeom prst="roundRect">
            <a:avLst>
              <a:gd name="adj" fmla="val 38095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26DDC2-08DA-4D87-976D-5686FEB0A6C0}"/>
              </a:ext>
            </a:extLst>
          </p:cNvPr>
          <p:cNvSpPr>
            <a:spLocks noGrp="1"/>
          </p:cNvSpPr>
          <p:nvPr/>
        </p:nvSpPr>
        <p:spPr>
          <a:xfrm>
            <a:off x="2190750" y="5867400"/>
            <a:ext cx="1447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Wi-Fi 재실성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390A4BC-BB2E-4245-8BE2-63A924235237}"/>
              </a:ext>
            </a:extLst>
          </p:cNvPr>
          <p:cNvSpPr>
            <a:spLocks noGrp="1"/>
          </p:cNvSpPr>
          <p:nvPr/>
        </p:nvSpPr>
        <p:spPr>
          <a:xfrm>
            <a:off x="3867150" y="5783580"/>
            <a:ext cx="1047750" cy="400050"/>
          </a:xfrm>
          <a:prstGeom prst="roundRect">
            <a:avLst>
              <a:gd name="adj" fmla="val 38095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AFF9B6-561B-411A-9F06-6DAF814E7817}"/>
              </a:ext>
            </a:extLst>
          </p:cNvPr>
          <p:cNvSpPr>
            <a:spLocks noGrp="1"/>
          </p:cNvSpPr>
          <p:nvPr/>
        </p:nvSpPr>
        <p:spPr>
          <a:xfrm>
            <a:off x="4000500" y="5867400"/>
            <a:ext cx="781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등록 단말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BFCF4A0-A29F-44D0-ABB5-74769C91FF7B}"/>
              </a:ext>
            </a:extLst>
          </p:cNvPr>
          <p:cNvSpPr>
            <a:spLocks noGrp="1"/>
          </p:cNvSpPr>
          <p:nvPr/>
        </p:nvSpPr>
        <p:spPr>
          <a:xfrm>
            <a:off x="5010150" y="5783580"/>
            <a:ext cx="1714500" cy="400050"/>
          </a:xfrm>
          <a:prstGeom prst="roundRect">
            <a:avLst>
              <a:gd name="adj" fmla="val 38095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FEB6D4-57AC-4BA7-91D2-134F73BDB6C8}"/>
              </a:ext>
            </a:extLst>
          </p:cNvPr>
          <p:cNvSpPr>
            <a:spLocks noGrp="1"/>
          </p:cNvSpPr>
          <p:nvPr/>
        </p:nvSpPr>
        <p:spPr>
          <a:xfrm>
            <a:off x="5143500" y="5867400"/>
            <a:ext cx="1447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출석·시험 신뢰성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3F3F2A3-AFB7-4663-969C-8A7AF0536771}"/>
              </a:ext>
            </a:extLst>
          </p:cNvPr>
          <p:cNvSpPr>
            <a:spLocks noGrp="1"/>
          </p:cNvSpPr>
          <p:nvPr/>
        </p:nvSpPr>
        <p:spPr>
          <a:xfrm>
            <a:off x="12954000" y="6096000"/>
            <a:ext cx="4000500" cy="781050"/>
          </a:xfrm>
          <a:prstGeom prst="roundRect">
            <a:avLst>
              <a:gd name="adj" fmla="val 9756"/>
            </a:avLst>
          </a:prstGeom>
          <a:solidFill>
            <a:srgbClr val="082846"/>
          </a:solidFill>
          <a:ln w="9525">
            <a:solidFill>
              <a:srgbClr val="245B8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DF5DA9-A728-4B8A-B163-97960E8A684D}"/>
              </a:ext>
            </a:extLst>
          </p:cNvPr>
          <p:cNvSpPr>
            <a:spLocks noGrp="1"/>
          </p:cNvSpPr>
          <p:nvPr/>
        </p:nvSpPr>
        <p:spPr>
          <a:xfrm>
            <a:off x="13125450" y="6210300"/>
            <a:ext cx="3657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Focus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73082A-DF5B-4E8B-9F56-FA4D000B7CEB}"/>
              </a:ext>
            </a:extLst>
          </p:cNvPr>
          <p:cNvSpPr>
            <a:spLocks noGrp="1"/>
          </p:cNvSpPr>
          <p:nvPr/>
        </p:nvSpPr>
        <p:spPr>
          <a:xfrm>
            <a:off x="13125450" y="6457950"/>
            <a:ext cx="3657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출석·시험 신뢰성 강화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09E0DC4-D435-423C-AA83-DC805D1F13A1}"/>
              </a:ext>
            </a:extLst>
          </p:cNvPr>
          <p:cNvSpPr>
            <a:spLocks noGrp="1"/>
          </p:cNvSpPr>
          <p:nvPr/>
        </p:nvSpPr>
        <p:spPr>
          <a:xfrm>
            <a:off x="12954000" y="7048500"/>
            <a:ext cx="4000500" cy="781050"/>
          </a:xfrm>
          <a:prstGeom prst="roundRect">
            <a:avLst>
              <a:gd name="adj" fmla="val 9756"/>
            </a:avLst>
          </a:prstGeom>
          <a:solidFill>
            <a:srgbClr val="082846"/>
          </a:solidFill>
          <a:ln w="9525">
            <a:solidFill>
              <a:srgbClr val="245B8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A39A71-6066-4D6B-BBC3-467ED2833B34}"/>
              </a:ext>
            </a:extLst>
          </p:cNvPr>
          <p:cNvSpPr>
            <a:spLocks noGrp="1"/>
          </p:cNvSpPr>
          <p:nvPr/>
        </p:nvSpPr>
        <p:spPr>
          <a:xfrm>
            <a:off x="13125450" y="7162800"/>
            <a:ext cx="3657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B05D5-0BF1-4530-9A4B-72E068682333}"/>
              </a:ext>
            </a:extLst>
          </p:cNvPr>
          <p:cNvSpPr>
            <a:spLocks noGrp="1"/>
          </p:cNvSpPr>
          <p:nvPr/>
        </p:nvSpPr>
        <p:spPr>
          <a:xfrm>
            <a:off x="13125450" y="7410450"/>
            <a:ext cx="3657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LMS + Wi-Fi evidence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ACCB255-3986-4B3D-A9F6-09AA371101CB}"/>
              </a:ext>
            </a:extLst>
          </p:cNvPr>
          <p:cNvSpPr>
            <a:spLocks noGrp="1"/>
          </p:cNvSpPr>
          <p:nvPr/>
        </p:nvSpPr>
        <p:spPr>
          <a:xfrm>
            <a:off x="12954000" y="8001000"/>
            <a:ext cx="4000500" cy="781050"/>
          </a:xfrm>
          <a:prstGeom prst="roundRect">
            <a:avLst>
              <a:gd name="adj" fmla="val 9756"/>
            </a:avLst>
          </a:prstGeom>
          <a:solidFill>
            <a:srgbClr val="082846"/>
          </a:solidFill>
          <a:ln w="9525">
            <a:solidFill>
              <a:srgbClr val="245B8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5C2FE1-8E6D-453B-91C4-207D18F2228A}"/>
              </a:ext>
            </a:extLst>
          </p:cNvPr>
          <p:cNvSpPr>
            <a:spLocks noGrp="1"/>
          </p:cNvSpPr>
          <p:nvPr/>
        </p:nvSpPr>
        <p:spPr>
          <a:xfrm>
            <a:off x="13125450" y="8115300"/>
            <a:ext cx="3657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Demo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B1B5CE-CB51-40C0-9EE7-62DF1852AD7D}"/>
              </a:ext>
            </a:extLst>
          </p:cNvPr>
          <p:cNvSpPr>
            <a:spLocks noGrp="1"/>
          </p:cNvSpPr>
          <p:nvPr/>
        </p:nvSpPr>
        <p:spPr>
          <a:xfrm>
            <a:off x="13125450" y="8362950"/>
            <a:ext cx="3657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QR 서비스와 영상 포함</a:t>
            </a:r>
          </a:p>
        </p:txBody>
      </p:sp>
    </p:spTree>
    <p:extLst>
      <p:ext uri="{BB962C8B-B14F-4D97-AF65-F5344CB8AC3E}">
        <p14:creationId xmlns:p14="http://schemas.microsoft.com/office/powerpoint/2010/main" val="280010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3E190B1-666F-427F-A8A1-3E0A7B5AB8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D8F50B-23D4-4AE0-BC8A-48030730CEAB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165933-7EF8-4351-8B5E-8A0283F3DE8C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28590F-ED8A-4FD9-88B3-CFC1127779D6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팀, 문제, 목표, 요구사항, 설계, 구현 증거, 배포와 검증 흐름을 순서대로 설명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404210-5BB8-4760-8B7A-56185BB9B4B0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DE5171-8BBA-4CA7-8E30-FC95698257BC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B64662-F00F-4368-B5D7-DD731DC706BE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2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8CF22C1-A3A3-4F78-97C2-F1659F9880AE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6764000" cy="7429500"/>
          </a:xfrm>
          <a:prstGeom prst="roundRect">
            <a:avLst>
              <a:gd name="adj" fmla="val 1026"/>
            </a:avLst>
          </a:prstGeom>
          <a:solidFill>
            <a:srgbClr val="FFFFFF"/>
          </a:solidFill>
        </p:spPr>
        <p:txBody>
          <a:bodyPr/>
          <a:lstStyle/>
          <a:p>
            <a:endParaRPr lang="en-KR"/>
          </a:p>
        </p:txBody>
      </p:sp>
      <p:graphicFrame>
        <p:nvGraphicFramePr>
          <p:cNvPr id="11" name="Table 10"/>
          <p:cNvGraphicFramePr/>
          <p:nvPr/>
        </p:nvGraphicFramePr>
        <p:xfrm>
          <a:off x="762000" y="2095500"/>
          <a:ext cx="16764000" cy="74295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팀 소개</a:t>
                      </a:r>
                    </a:p>
                    <a:p>
                      <a:pPr algn="l"/>
                      <a:r>
                        <a:rPr sz="1400" b="0">
                          <a:latin typeface="Pretendard"/>
                          <a:ea typeface="Pretendard"/>
                          <a:cs typeface="Pretendard"/>
                        </a:rPr>
                        <a:t>역할과 협업 책임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프로젝트 개요</a:t>
                      </a:r>
                    </a:p>
                    <a:p>
                      <a:pPr algn="l"/>
                      <a:r>
                        <a:rPr sz="1400" b="0">
                          <a:latin typeface="Pretendard"/>
                          <a:ea typeface="Pretendard"/>
                          <a:cs typeface="Pretendard"/>
                        </a:rPr>
                        <a:t>LMS 재구현과 Wi-Fi 재실성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문제 정의</a:t>
                      </a:r>
                    </a:p>
                    <a:p>
                      <a:pPr algn="l"/>
                      <a:r>
                        <a:rPr sz="1400" b="0">
                          <a:latin typeface="Pretendard"/>
                          <a:ea typeface="Pretendard"/>
                          <a:cs typeface="Pretendard"/>
                        </a:rPr>
                        <a:t>PIN·QR·비콘 방식의 한계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프로젝트 목표</a:t>
                      </a:r>
                    </a:p>
                    <a:p>
                      <a:pPr algn="l"/>
                      <a:r>
                        <a:rPr sz="1400" b="0">
                          <a:latin typeface="Pretendard"/>
                          <a:ea typeface="Pretendard"/>
                          <a:cs typeface="Pretendard"/>
                        </a:rPr>
                        <a:t>강의실 인접성 + 등록 단말 인증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요구사항</a:t>
                      </a:r>
                    </a:p>
                    <a:p>
                      <a:pPr algn="l"/>
                      <a:r>
                        <a:rPr sz="1400" b="0">
                          <a:latin typeface="Pretendard"/>
                          <a:ea typeface="Pretendard"/>
                          <a:cs typeface="Pretendard"/>
                        </a:rPr>
                        <a:t>학생·교수·서비스관리자 기능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설계</a:t>
                      </a:r>
                    </a:p>
                    <a:p>
                      <a:pPr algn="l"/>
                      <a:r>
                        <a:rPr sz="1400" b="0">
                          <a:latin typeface="Pretendard"/>
                          <a:ea typeface="Pretendard"/>
                          <a:cs typeface="Pretendard"/>
                        </a:rPr>
                        <a:t>아키텍처·토폴로지·DB·시퀀스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진행상황</a:t>
                      </a:r>
                    </a:p>
                    <a:p>
                      <a:pPr algn="l"/>
                      <a:r>
                        <a:rPr sz="1400" b="0">
                          <a:latin typeface="Pretendard"/>
                          <a:ea typeface="Pretendard"/>
                          <a:cs typeface="Pretendard"/>
                        </a:rPr>
                        <a:t>구현 스냅샷과 증빙 화면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향후 방향</a:t>
                      </a:r>
                    </a:p>
                    <a:p>
                      <a:pPr algn="l"/>
                      <a:r>
                        <a:rPr sz="1400" b="0">
                          <a:latin typeface="Pretendard"/>
                          <a:ea typeface="Pretendard"/>
                          <a:cs typeface="Pretendard"/>
                        </a:rPr>
                        <a:t>리스크와 검증 계획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latin typeface="Pretendard"/>
                          <a:ea typeface="Pretendard"/>
                          <a:cs typeface="Pretendard"/>
                        </a:rPr>
                        <a:t>Q&amp;A</a:t>
                      </a:r>
                    </a:p>
                    <a:p>
                      <a:pPr algn="l"/>
                      <a:r>
                        <a:rPr sz="1400" b="0">
                          <a:latin typeface="Pretendard"/>
                          <a:ea typeface="Pretendard"/>
                          <a:cs typeface="Pretendard"/>
                        </a:rPr>
                        <a:t>정리 및 질의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DE5E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70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32873E90-1B93-4CFD-86AE-DC50A42FFA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53314B-7AA5-4330-87CE-A86842236906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E31256-2D1C-4D2A-A34B-1372AD10D384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팀 소개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63CB36-2A38-49DC-8BB5-DA1229918B89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각 팀원의 담당 관심사를 중심으로 프로젝트 구현 범위를 분담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63486-E8EC-40DA-8FBA-AD075CB883C1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0FCD36-993B-4E68-A29D-655B10617251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4A1CAE-B97A-4400-864A-C0AFE01A5B39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3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597E84-6FFD-471B-958C-9C6814CA7A0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215640" cy="40957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91164" y="2247900"/>
            <a:ext cx="1357313" cy="1809750"/>
          </a:xfrm>
          <a:prstGeom prst="roundRect">
            <a:avLst>
              <a:gd name="adj" fmla="val 2105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C049F6B-FE16-46D9-AB8E-CAA508B21BF9}"/>
              </a:ext>
            </a:extLst>
          </p:cNvPr>
          <p:cNvSpPr>
            <a:spLocks noGrp="1"/>
          </p:cNvSpPr>
          <p:nvPr/>
        </p:nvSpPr>
        <p:spPr>
          <a:xfrm>
            <a:off x="933450" y="4171950"/>
            <a:ext cx="990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B1F3A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김현석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A3B3FCE-0138-4240-A649-3ECBF71CEAE8}"/>
              </a:ext>
            </a:extLst>
          </p:cNvPr>
          <p:cNvSpPr>
            <a:spLocks noGrp="1"/>
          </p:cNvSpPr>
          <p:nvPr/>
        </p:nvSpPr>
        <p:spPr>
          <a:xfrm>
            <a:off x="2019300" y="421005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7D7C5D-DABE-418D-BACE-A8CE9FCDAD1D}"/>
              </a:ext>
            </a:extLst>
          </p:cNvPr>
          <p:cNvSpPr>
            <a:spLocks noGrp="1"/>
          </p:cNvSpPr>
          <p:nvPr/>
        </p:nvSpPr>
        <p:spPr>
          <a:xfrm>
            <a:off x="2114550" y="4267200"/>
            <a:ext cx="552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팀장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82A918-9E67-4876-A127-4AD9782FB124}"/>
              </a:ext>
            </a:extLst>
          </p:cNvPr>
          <p:cNvSpPr>
            <a:spLocks noGrp="1"/>
          </p:cNvSpPr>
          <p:nvPr/>
        </p:nvSpPr>
        <p:spPr>
          <a:xfrm>
            <a:off x="933450" y="461010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리눅스 · 도커 · CI/CD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DC92091-2C0D-41BB-97BC-00D847926A3E}"/>
              </a:ext>
            </a:extLst>
          </p:cNvPr>
          <p:cNvSpPr>
            <a:spLocks noGrp="1"/>
          </p:cNvSpPr>
          <p:nvPr/>
        </p:nvSpPr>
        <p:spPr>
          <a:xfrm>
            <a:off x="4149090" y="2095500"/>
            <a:ext cx="3215640" cy="40957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039682" y="2247900"/>
            <a:ext cx="1434456" cy="1809750"/>
          </a:xfrm>
          <a:prstGeom prst="roundRect">
            <a:avLst>
              <a:gd name="adj" fmla="val 2105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F15691E-EC88-4E02-AA10-A80C7E446A07}"/>
              </a:ext>
            </a:extLst>
          </p:cNvPr>
          <p:cNvSpPr>
            <a:spLocks noGrp="1"/>
          </p:cNvSpPr>
          <p:nvPr/>
        </p:nvSpPr>
        <p:spPr>
          <a:xfrm>
            <a:off x="4324350" y="4171950"/>
            <a:ext cx="2876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B1F3A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김정환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7DB7AF-8BBA-4011-B884-EC44D91857DA}"/>
              </a:ext>
            </a:extLst>
          </p:cNvPr>
          <p:cNvSpPr>
            <a:spLocks noGrp="1"/>
          </p:cNvSpPr>
          <p:nvPr/>
        </p:nvSpPr>
        <p:spPr>
          <a:xfrm>
            <a:off x="4324350" y="461010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데이터 모델링 · 스키마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C4DA654-17A4-4255-97C4-7A606BEE39D1}"/>
              </a:ext>
            </a:extLst>
          </p:cNvPr>
          <p:cNvSpPr>
            <a:spLocks noGrp="1"/>
          </p:cNvSpPr>
          <p:nvPr/>
        </p:nvSpPr>
        <p:spPr>
          <a:xfrm>
            <a:off x="7536180" y="2095500"/>
            <a:ext cx="3215640" cy="40957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418921" y="2247900"/>
            <a:ext cx="1450158" cy="1809750"/>
          </a:xfrm>
          <a:prstGeom prst="roundRect">
            <a:avLst>
              <a:gd name="adj" fmla="val 2105"/>
            </a:avLst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C939969-8CC8-4D1F-B1B7-CB33E530421C}"/>
              </a:ext>
            </a:extLst>
          </p:cNvPr>
          <p:cNvSpPr>
            <a:spLocks noGrp="1"/>
          </p:cNvSpPr>
          <p:nvPr/>
        </p:nvSpPr>
        <p:spPr>
          <a:xfrm>
            <a:off x="7715250" y="4171950"/>
            <a:ext cx="2876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B1F3A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심재혁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D37E03-A08E-4A31-9249-DE21F5B0B51C}"/>
              </a:ext>
            </a:extLst>
          </p:cNvPr>
          <p:cNvSpPr>
            <a:spLocks noGrp="1"/>
          </p:cNvSpPr>
          <p:nvPr/>
        </p:nvSpPr>
        <p:spPr>
          <a:xfrm>
            <a:off x="7715250" y="461010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OpenWrt · 재실성 근거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ACDF200-0852-4F37-BAFB-713C7381410B}"/>
              </a:ext>
            </a:extLst>
          </p:cNvPr>
          <p:cNvSpPr>
            <a:spLocks noGrp="1"/>
          </p:cNvSpPr>
          <p:nvPr/>
        </p:nvSpPr>
        <p:spPr>
          <a:xfrm>
            <a:off x="10923270" y="2095500"/>
            <a:ext cx="3215640" cy="40957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1817087" y="2247900"/>
            <a:ext cx="1428006" cy="1809750"/>
          </a:xfrm>
          <a:prstGeom prst="roundRect">
            <a:avLst>
              <a:gd name="adj" fmla="val 2105"/>
            </a:avLst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166B593-DCC3-4463-BDBF-75DA59A793B6}"/>
              </a:ext>
            </a:extLst>
          </p:cNvPr>
          <p:cNvSpPr>
            <a:spLocks noGrp="1"/>
          </p:cNvSpPr>
          <p:nvPr/>
        </p:nvSpPr>
        <p:spPr>
          <a:xfrm>
            <a:off x="11087100" y="4171950"/>
            <a:ext cx="2876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B1F3A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박준완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124E5F-E55E-47BF-BDBC-C7896DF11B08}"/>
              </a:ext>
            </a:extLst>
          </p:cNvPr>
          <p:cNvSpPr>
            <a:spLocks noGrp="1"/>
          </p:cNvSpPr>
          <p:nvPr/>
        </p:nvSpPr>
        <p:spPr>
          <a:xfrm>
            <a:off x="11087100" y="461010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API · 오브젝트 스토리지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3685E55-717A-4067-94A6-1D946467DC25}"/>
              </a:ext>
            </a:extLst>
          </p:cNvPr>
          <p:cNvSpPr>
            <a:spLocks noGrp="1"/>
          </p:cNvSpPr>
          <p:nvPr/>
        </p:nvSpPr>
        <p:spPr>
          <a:xfrm>
            <a:off x="14310360" y="2095500"/>
            <a:ext cx="3215640" cy="40957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5224351" y="2247900"/>
            <a:ext cx="1387659" cy="1809750"/>
          </a:xfrm>
          <a:prstGeom prst="roundRect">
            <a:avLst>
              <a:gd name="adj" fmla="val 2105"/>
            </a:avLst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B6B3972-ED34-4DD0-8D34-732F238BAD63}"/>
              </a:ext>
            </a:extLst>
          </p:cNvPr>
          <p:cNvSpPr>
            <a:spLocks noGrp="1"/>
          </p:cNvSpPr>
          <p:nvPr/>
        </p:nvSpPr>
        <p:spPr>
          <a:xfrm>
            <a:off x="14478000" y="4171950"/>
            <a:ext cx="2876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B1F3A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이다인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AB4802-F2F0-43EF-9E55-D34E7A1EF5F7}"/>
              </a:ext>
            </a:extLst>
          </p:cNvPr>
          <p:cNvSpPr>
            <a:spLocks noGrp="1"/>
          </p:cNvSpPr>
          <p:nvPr/>
        </p:nvSpPr>
        <p:spPr>
          <a:xfrm>
            <a:off x="14478000" y="461010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UI · 취약점 분석 · 발표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AA336FD-BC99-41E4-9D6B-D1B9A718C7FA}"/>
              </a:ext>
            </a:extLst>
          </p:cNvPr>
          <p:cNvSpPr>
            <a:spLocks noGrp="1"/>
          </p:cNvSpPr>
          <p:nvPr/>
        </p:nvSpPr>
        <p:spPr>
          <a:xfrm>
            <a:off x="762000" y="6400800"/>
            <a:ext cx="4062413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264532-3647-419A-93C2-1BB692C54CC9}"/>
              </a:ext>
            </a:extLst>
          </p:cNvPr>
          <p:cNvSpPr>
            <a:spLocks noGrp="1"/>
          </p:cNvSpPr>
          <p:nvPr/>
        </p:nvSpPr>
        <p:spPr>
          <a:xfrm>
            <a:off x="952500" y="6553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Backend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B51650-910D-47B2-A640-FAD00706D714}"/>
              </a:ext>
            </a:extLst>
          </p:cNvPr>
          <p:cNvSpPr>
            <a:spLocks noGrp="1"/>
          </p:cNvSpPr>
          <p:nvPr/>
        </p:nvSpPr>
        <p:spPr>
          <a:xfrm>
            <a:off x="952500" y="6934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D803BC-1D0D-4CAF-92BB-9FB4E998C52E}"/>
              </a:ext>
            </a:extLst>
          </p:cNvPr>
          <p:cNvSpPr>
            <a:spLocks noGrp="1"/>
          </p:cNvSpPr>
          <p:nvPr/>
        </p:nvSpPr>
        <p:spPr>
          <a:xfrm>
            <a:off x="1200150" y="69342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API 설계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C2D261-6A31-490C-B2E4-36ACB56F5AE9}"/>
              </a:ext>
            </a:extLst>
          </p:cNvPr>
          <p:cNvSpPr>
            <a:spLocks noGrp="1"/>
          </p:cNvSpPr>
          <p:nvPr/>
        </p:nvSpPr>
        <p:spPr>
          <a:xfrm>
            <a:off x="952500" y="7258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62E15E-1633-4F2D-81C3-3F3279D5FA2C}"/>
              </a:ext>
            </a:extLst>
          </p:cNvPr>
          <p:cNvSpPr>
            <a:spLocks noGrp="1"/>
          </p:cNvSpPr>
          <p:nvPr/>
        </p:nvSpPr>
        <p:spPr>
          <a:xfrm>
            <a:off x="1200150" y="72580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인증·출석·판정 로직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78D001-A3A9-45C2-997F-E6722CED1871}"/>
              </a:ext>
            </a:extLst>
          </p:cNvPr>
          <p:cNvSpPr>
            <a:spLocks noGrp="1"/>
          </p:cNvSpPr>
          <p:nvPr/>
        </p:nvSpPr>
        <p:spPr>
          <a:xfrm>
            <a:off x="952500" y="7581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4EB608-493B-407D-B895-9C6C38F34E36}"/>
              </a:ext>
            </a:extLst>
          </p:cNvPr>
          <p:cNvSpPr>
            <a:spLocks noGrp="1"/>
          </p:cNvSpPr>
          <p:nvPr/>
        </p:nvSpPr>
        <p:spPr>
          <a:xfrm>
            <a:off x="1200150" y="75819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DB 연동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7D827FD-FA78-4853-86F1-4FAB4A151A9A}"/>
              </a:ext>
            </a:extLst>
          </p:cNvPr>
          <p:cNvSpPr>
            <a:spLocks noGrp="1"/>
          </p:cNvSpPr>
          <p:nvPr/>
        </p:nvSpPr>
        <p:spPr>
          <a:xfrm>
            <a:off x="4995863" y="6400800"/>
            <a:ext cx="4062413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3D6E7EF-3781-4479-8A97-E32817294EC7}"/>
              </a:ext>
            </a:extLst>
          </p:cNvPr>
          <p:cNvSpPr>
            <a:spLocks noGrp="1"/>
          </p:cNvSpPr>
          <p:nvPr/>
        </p:nvSpPr>
        <p:spPr>
          <a:xfrm>
            <a:off x="5181600" y="6553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Network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96F9CB5-4CA9-4088-97DC-58F365865164}"/>
              </a:ext>
            </a:extLst>
          </p:cNvPr>
          <p:cNvSpPr>
            <a:spLocks noGrp="1"/>
          </p:cNvSpPr>
          <p:nvPr/>
        </p:nvSpPr>
        <p:spPr>
          <a:xfrm>
            <a:off x="5181600" y="6934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17CC86-A41D-49B7-8DA5-FBBA8E5129F2}"/>
              </a:ext>
            </a:extLst>
          </p:cNvPr>
          <p:cNvSpPr>
            <a:spLocks noGrp="1"/>
          </p:cNvSpPr>
          <p:nvPr/>
        </p:nvSpPr>
        <p:spPr>
          <a:xfrm>
            <a:off x="5429250" y="69342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Wi-Fi 환경 이해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65346A-2FE8-4A5B-A1ED-F3510E418496}"/>
              </a:ext>
            </a:extLst>
          </p:cNvPr>
          <p:cNvSpPr>
            <a:spLocks noGrp="1"/>
          </p:cNvSpPr>
          <p:nvPr/>
        </p:nvSpPr>
        <p:spPr>
          <a:xfrm>
            <a:off x="5181600" y="7258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BC2DFC-77C2-45ED-ACCF-7E6325778D1A}"/>
              </a:ext>
            </a:extLst>
          </p:cNvPr>
          <p:cNvSpPr>
            <a:spLocks noGrp="1"/>
          </p:cNvSpPr>
          <p:nvPr/>
        </p:nvSpPr>
        <p:spPr>
          <a:xfrm>
            <a:off x="5429250" y="72580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OpenWrt 연동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AF519D-50B2-4C79-876A-2FEA940C065C}"/>
              </a:ext>
            </a:extLst>
          </p:cNvPr>
          <p:cNvSpPr>
            <a:spLocks noGrp="1"/>
          </p:cNvSpPr>
          <p:nvPr/>
        </p:nvSpPr>
        <p:spPr>
          <a:xfrm>
            <a:off x="5181600" y="7581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A65E45-8F4E-429B-B79C-19EDBFD85C1E}"/>
              </a:ext>
            </a:extLst>
          </p:cNvPr>
          <p:cNvSpPr>
            <a:spLocks noGrp="1"/>
          </p:cNvSpPr>
          <p:nvPr/>
        </p:nvSpPr>
        <p:spPr>
          <a:xfrm>
            <a:off x="5429250" y="75819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station 정보 수집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7C9B533-4BFA-4BD4-974C-0C2B6949A7DF}"/>
              </a:ext>
            </a:extLst>
          </p:cNvPr>
          <p:cNvSpPr>
            <a:spLocks noGrp="1"/>
          </p:cNvSpPr>
          <p:nvPr/>
        </p:nvSpPr>
        <p:spPr>
          <a:xfrm>
            <a:off x="9229725" y="6400800"/>
            <a:ext cx="4062413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73A152-41BF-4A9D-B9AC-5DC167CB117B}"/>
              </a:ext>
            </a:extLst>
          </p:cNvPr>
          <p:cNvSpPr>
            <a:spLocks noGrp="1"/>
          </p:cNvSpPr>
          <p:nvPr/>
        </p:nvSpPr>
        <p:spPr>
          <a:xfrm>
            <a:off x="9429750" y="6553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Frontend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E2CA760-BAF6-4ABF-B650-FF8AC2C0234C}"/>
              </a:ext>
            </a:extLst>
          </p:cNvPr>
          <p:cNvSpPr>
            <a:spLocks noGrp="1"/>
          </p:cNvSpPr>
          <p:nvPr/>
        </p:nvSpPr>
        <p:spPr>
          <a:xfrm>
            <a:off x="9429750" y="6934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9484D1-A9A1-4ED2-A8E4-DFC8BED3670A}"/>
              </a:ext>
            </a:extLst>
          </p:cNvPr>
          <p:cNvSpPr>
            <a:spLocks noGrp="1"/>
          </p:cNvSpPr>
          <p:nvPr/>
        </p:nvSpPr>
        <p:spPr>
          <a:xfrm>
            <a:off x="9677400" y="69342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사용자 흐름 설계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033F17F-FA6D-43BA-82EB-AE8C1CC23D31}"/>
              </a:ext>
            </a:extLst>
          </p:cNvPr>
          <p:cNvSpPr>
            <a:spLocks noGrp="1"/>
          </p:cNvSpPr>
          <p:nvPr/>
        </p:nvSpPr>
        <p:spPr>
          <a:xfrm>
            <a:off x="9429750" y="7258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E85005C-AAC9-4C77-A325-8B85376F6804}"/>
              </a:ext>
            </a:extLst>
          </p:cNvPr>
          <p:cNvSpPr>
            <a:spLocks noGrp="1"/>
          </p:cNvSpPr>
          <p:nvPr/>
        </p:nvSpPr>
        <p:spPr>
          <a:xfrm>
            <a:off x="9677400" y="72580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역할별 화면 구현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6C58912-AC27-41DE-AD62-309222B77981}"/>
              </a:ext>
            </a:extLst>
          </p:cNvPr>
          <p:cNvSpPr>
            <a:spLocks noGrp="1"/>
          </p:cNvSpPr>
          <p:nvPr/>
        </p:nvSpPr>
        <p:spPr>
          <a:xfrm>
            <a:off x="9429750" y="7581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B32561-4E9E-4A0E-A8C6-6BD33B1EAA3C}"/>
              </a:ext>
            </a:extLst>
          </p:cNvPr>
          <p:cNvSpPr>
            <a:spLocks noGrp="1"/>
          </p:cNvSpPr>
          <p:nvPr/>
        </p:nvSpPr>
        <p:spPr>
          <a:xfrm>
            <a:off x="9677400" y="75819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UI 표현 정리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C4BA96E-E162-4FA3-B875-7F936EED61EB}"/>
              </a:ext>
            </a:extLst>
          </p:cNvPr>
          <p:cNvSpPr>
            <a:spLocks noGrp="1"/>
          </p:cNvSpPr>
          <p:nvPr/>
        </p:nvSpPr>
        <p:spPr>
          <a:xfrm>
            <a:off x="13463588" y="6400800"/>
            <a:ext cx="4062413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D2CC11D-156B-4545-818C-B04E4F6AF777}"/>
              </a:ext>
            </a:extLst>
          </p:cNvPr>
          <p:cNvSpPr>
            <a:spLocks noGrp="1"/>
          </p:cNvSpPr>
          <p:nvPr/>
        </p:nvSpPr>
        <p:spPr>
          <a:xfrm>
            <a:off x="13658850" y="6553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Test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5942EA-26EB-4F7B-98A2-E2A9BA02614E}"/>
              </a:ext>
            </a:extLst>
          </p:cNvPr>
          <p:cNvSpPr>
            <a:spLocks noGrp="1"/>
          </p:cNvSpPr>
          <p:nvPr/>
        </p:nvSpPr>
        <p:spPr>
          <a:xfrm>
            <a:off x="13658850" y="6934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05F97F0-9870-49AD-B590-A5D4CE6E5380}"/>
              </a:ext>
            </a:extLst>
          </p:cNvPr>
          <p:cNvSpPr>
            <a:spLocks noGrp="1"/>
          </p:cNvSpPr>
          <p:nvPr/>
        </p:nvSpPr>
        <p:spPr>
          <a:xfrm>
            <a:off x="13906500" y="69342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기능 시나리오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8B4BA9B-04B0-4296-AF4B-869DA710BB88}"/>
              </a:ext>
            </a:extLst>
          </p:cNvPr>
          <p:cNvSpPr>
            <a:spLocks noGrp="1"/>
          </p:cNvSpPr>
          <p:nvPr/>
        </p:nvSpPr>
        <p:spPr>
          <a:xfrm>
            <a:off x="13658850" y="7258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89C9B9E-AE63-471A-A78D-CB0629058286}"/>
              </a:ext>
            </a:extLst>
          </p:cNvPr>
          <p:cNvSpPr>
            <a:spLocks noGrp="1"/>
          </p:cNvSpPr>
          <p:nvPr/>
        </p:nvSpPr>
        <p:spPr>
          <a:xfrm>
            <a:off x="13906500" y="72580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예외 케이스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E569824-701D-40E8-B855-4588F5A355C7}"/>
              </a:ext>
            </a:extLst>
          </p:cNvPr>
          <p:cNvSpPr>
            <a:spLocks noGrp="1"/>
          </p:cNvSpPr>
          <p:nvPr/>
        </p:nvSpPr>
        <p:spPr>
          <a:xfrm>
            <a:off x="13658850" y="7581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0A1A762-FF8C-43CD-BC19-DBF97B9808E5}"/>
              </a:ext>
            </a:extLst>
          </p:cNvPr>
          <p:cNvSpPr>
            <a:spLocks noGrp="1"/>
          </p:cNvSpPr>
          <p:nvPr/>
        </p:nvSpPr>
        <p:spPr>
          <a:xfrm>
            <a:off x="13906500" y="75819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통합 검증</a:t>
            </a:r>
          </a:p>
        </p:txBody>
      </p:sp>
    </p:spTree>
    <p:extLst>
      <p:ext uri="{BB962C8B-B14F-4D97-AF65-F5344CB8AC3E}">
        <p14:creationId xmlns:p14="http://schemas.microsoft.com/office/powerpoint/2010/main" val="1117469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E365D00-A176-4343-947D-2BA03F9AAB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81778A-6182-44AE-9E9C-C3EA161DD924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76200" cy="7543800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" y="685800"/>
            <a:ext cx="476250" cy="476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3E62563-B6C2-45CA-ACFC-E7C6141AF2ED}"/>
              </a:ext>
            </a:extLst>
          </p:cNvPr>
          <p:cNvSpPr>
            <a:spLocks noGrp="1"/>
          </p:cNvSpPr>
          <p:nvPr/>
        </p:nvSpPr>
        <p:spPr>
          <a:xfrm>
            <a:off x="1714500" y="81915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82B2D7-5148-4EF4-8479-7D04BAC02928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1049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66633D-8CF6-4656-B61A-C8BA14C68C59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110490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452D0-5D1E-43FB-871B-D1D1F1A5F13B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1104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1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LMS 재구현과 Wi-Fi 기반 출석 신뢰성의 결합 지점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3D3176-4615-44C8-BE49-89DED9588B7C}"/>
              </a:ext>
            </a:extLst>
          </p:cNvPr>
          <p:cNvSpPr>
            <a:spLocks noGrp="1"/>
          </p:cNvSpPr>
          <p:nvPr/>
        </p:nvSpPr>
        <p:spPr>
          <a:xfrm>
            <a:off x="11049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123A63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564ACB-8134-463C-9E26-FADF722687F1}"/>
              </a:ext>
            </a:extLst>
          </p:cNvPr>
          <p:cNvSpPr>
            <a:spLocks noGrp="1"/>
          </p:cNvSpPr>
          <p:nvPr/>
        </p:nvSpPr>
        <p:spPr>
          <a:xfrm>
            <a:off x="129540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6CE950-2BD1-4E0E-A223-3379391957E1}"/>
              </a:ext>
            </a:extLst>
          </p:cNvPr>
          <p:cNvSpPr>
            <a:spLocks noGrp="1"/>
          </p:cNvSpPr>
          <p:nvPr/>
        </p:nvSpPr>
        <p:spPr>
          <a:xfrm>
            <a:off x="129540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LMS 핵심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DF6088-8574-42CD-A852-BD4C9E1FA763}"/>
              </a:ext>
            </a:extLst>
          </p:cNvPr>
          <p:cNvSpPr>
            <a:spLocks noGrp="1"/>
          </p:cNvSpPr>
          <p:nvPr/>
        </p:nvSpPr>
        <p:spPr>
          <a:xfrm>
            <a:off x="129540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강의·공지·자료·시험·출석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6E0E720-5B94-43DB-A949-674E438D6534}"/>
              </a:ext>
            </a:extLst>
          </p:cNvPr>
          <p:cNvSpPr>
            <a:spLocks noGrp="1"/>
          </p:cNvSpPr>
          <p:nvPr/>
        </p:nvSpPr>
        <p:spPr>
          <a:xfrm>
            <a:off x="49022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E3154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955B32-87EF-49CE-9E7C-6D5846E655E8}"/>
              </a:ext>
            </a:extLst>
          </p:cNvPr>
          <p:cNvSpPr>
            <a:spLocks noGrp="1"/>
          </p:cNvSpPr>
          <p:nvPr/>
        </p:nvSpPr>
        <p:spPr>
          <a:xfrm>
            <a:off x="508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3B1C90-8A37-4746-8555-F464DAA84768}"/>
              </a:ext>
            </a:extLst>
          </p:cNvPr>
          <p:cNvSpPr>
            <a:spLocks noGrp="1"/>
          </p:cNvSpPr>
          <p:nvPr/>
        </p:nvSpPr>
        <p:spPr>
          <a:xfrm>
            <a:off x="508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Wi-Fi 재실성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DEEC41-C234-4587-8639-51373D02A80E}"/>
              </a:ext>
            </a:extLst>
          </p:cNvPr>
          <p:cNvSpPr>
            <a:spLocks noGrp="1"/>
          </p:cNvSpPr>
          <p:nvPr/>
        </p:nvSpPr>
        <p:spPr>
          <a:xfrm>
            <a:off x="508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AP station snapshot evidence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644A8C8-5C9C-45FD-88EA-9F4809FCDE0B}"/>
              </a:ext>
            </a:extLst>
          </p:cNvPr>
          <p:cNvSpPr>
            <a:spLocks noGrp="1"/>
          </p:cNvSpPr>
          <p:nvPr/>
        </p:nvSpPr>
        <p:spPr>
          <a:xfrm>
            <a:off x="86995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A2947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FF5F5E-84D9-41FE-87B2-065A105A37E7}"/>
              </a:ext>
            </a:extLst>
          </p:cNvPr>
          <p:cNvSpPr>
            <a:spLocks noGrp="1"/>
          </p:cNvSpPr>
          <p:nvPr/>
        </p:nvSpPr>
        <p:spPr>
          <a:xfrm>
            <a:off x="889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BA83F8-3958-4359-A2CD-16D6A1683D76}"/>
              </a:ext>
            </a:extLst>
          </p:cNvPr>
          <p:cNvSpPr>
            <a:spLocks noGrp="1"/>
          </p:cNvSpPr>
          <p:nvPr/>
        </p:nvSpPr>
        <p:spPr>
          <a:xfrm>
            <a:off x="889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등록 단말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92031B-BEAA-40DB-A50B-369EDFFFB635}"/>
              </a:ext>
            </a:extLst>
          </p:cNvPr>
          <p:cNvSpPr>
            <a:spLocks noGrp="1"/>
          </p:cNvSpPr>
          <p:nvPr/>
        </p:nvSpPr>
        <p:spPr>
          <a:xfrm>
            <a:off x="889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MAC 기반 본인성 보조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5B220D-5D96-4BA9-A55F-0A24A7C2CE9D}"/>
              </a:ext>
            </a:extLst>
          </p:cNvPr>
          <p:cNvSpPr>
            <a:spLocks noGrp="1"/>
          </p:cNvSpPr>
          <p:nvPr/>
        </p:nvSpPr>
        <p:spPr>
          <a:xfrm>
            <a:off x="16383000" y="9772650"/>
            <a:ext cx="857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4 / 42</a:t>
            </a:r>
          </a:p>
        </p:txBody>
      </p:sp>
    </p:spTree>
    <p:extLst>
      <p:ext uri="{BB962C8B-B14F-4D97-AF65-F5344CB8AC3E}">
        <p14:creationId xmlns:p14="http://schemas.microsoft.com/office/powerpoint/2010/main" val="64666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34952A3-C158-494B-87CF-F0D4B2DA67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AF744F-196A-46FC-B0E3-32C43BB72F6E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22D578-EDD5-4087-AA62-0C646477FD84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FD41FF-E459-44E6-9AC3-B51E505DF543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기존 LMS 기능 재구현에 Wi-Fi 기반 위치 판별과 등록 단말 인증을 결합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8BD42-EE16-4C7C-B1B4-5DC621CADD73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01798F-9733-4055-915B-B4F2A08FD8D7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 dirty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</a:t>
            </a:r>
            <a:r>
              <a:rPr sz="900" dirty="0" err="1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강의실영역전개</a:t>
            </a:r>
            <a:r>
              <a:rPr sz="900" dirty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E9165F-830D-4688-9FA8-DB8116BF819C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5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7E5D53D-0860-4F9D-9A6D-0DD4FF1D2AB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9767125" cy="47625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719483" y="2190750"/>
            <a:ext cx="5852160" cy="4572000"/>
          </a:xfrm>
          <a:prstGeom prst="roundRect">
            <a:avLst>
              <a:gd name="adj" fmla="val 833"/>
            </a:avLst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D8889D8-FA1C-4AA9-87EC-A76386BD11EF}"/>
              </a:ext>
            </a:extLst>
          </p:cNvPr>
          <p:cNvSpPr>
            <a:spLocks noGrp="1"/>
          </p:cNvSpPr>
          <p:nvPr/>
        </p:nvSpPr>
        <p:spPr>
          <a:xfrm>
            <a:off x="10738675" y="2095500"/>
            <a:ext cx="6787324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E7BCB1-698D-44F4-A085-F12957B52567}"/>
              </a:ext>
            </a:extLst>
          </p:cNvPr>
          <p:cNvSpPr>
            <a:spLocks noGrp="1"/>
          </p:cNvSpPr>
          <p:nvPr/>
        </p:nvSpPr>
        <p:spPr>
          <a:xfrm>
            <a:off x="10934700" y="22479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2816F1-7007-4A6D-8F04-9B706F3DB023}"/>
              </a:ext>
            </a:extLst>
          </p:cNvPr>
          <p:cNvSpPr>
            <a:spLocks noGrp="1"/>
          </p:cNvSpPr>
          <p:nvPr/>
        </p:nvSpPr>
        <p:spPr>
          <a:xfrm>
            <a:off x="10934700" y="2362200"/>
            <a:ext cx="6400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정의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D460B4-756B-43DE-AE14-CB3E3C6BEE46}"/>
              </a:ext>
            </a:extLst>
          </p:cNvPr>
          <p:cNvSpPr>
            <a:spLocks noGrp="1"/>
          </p:cNvSpPr>
          <p:nvPr/>
        </p:nvSpPr>
        <p:spPr>
          <a:xfrm>
            <a:off x="10934700" y="2705100"/>
            <a:ext cx="6400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조선대학교 사이버 캠퍼스 개선형 프로토타입입니다. LMS 핵심 흐름을 재구현하면서 강의실 Wi-Fi 관측값과 등록 단말 정보를 출석·시험 판단 근거로 결합합니다.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69C696-F1B0-4B9F-916B-04B2CD848A75}"/>
              </a:ext>
            </a:extLst>
          </p:cNvPr>
          <p:cNvSpPr>
            <a:spLocks noGrp="1"/>
          </p:cNvSpPr>
          <p:nvPr/>
        </p:nvSpPr>
        <p:spPr>
          <a:xfrm>
            <a:off x="10738675" y="3733800"/>
            <a:ext cx="6787324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8D8120-29C8-4A8A-871E-3D52CEA1DB54}"/>
              </a:ext>
            </a:extLst>
          </p:cNvPr>
          <p:cNvSpPr>
            <a:spLocks noGrp="1"/>
          </p:cNvSpPr>
          <p:nvPr/>
        </p:nvSpPr>
        <p:spPr>
          <a:xfrm>
            <a:off x="10934700" y="388620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969966-C7FC-41C8-9F38-6F02B4A8478C}"/>
              </a:ext>
            </a:extLst>
          </p:cNvPr>
          <p:cNvSpPr>
            <a:spLocks noGrp="1"/>
          </p:cNvSpPr>
          <p:nvPr/>
        </p:nvSpPr>
        <p:spPr>
          <a:xfrm>
            <a:off x="10934700" y="4000500"/>
            <a:ext cx="6400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차별점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CAC4FC-C73B-431B-B56E-71E97B9ACA7C}"/>
              </a:ext>
            </a:extLst>
          </p:cNvPr>
          <p:cNvSpPr>
            <a:spLocks noGrp="1"/>
          </p:cNvSpPr>
          <p:nvPr/>
        </p:nvSpPr>
        <p:spPr>
          <a:xfrm>
            <a:off x="10934700" y="4343400"/>
            <a:ext cx="6400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단순 PIN·QR 입력이 아니라 “학생 계정 + 등록 단말 + 강의실 네트워크 관측”을 함께 판단합니다.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24D5283-7B72-4534-97BA-CF24D589711F}"/>
              </a:ext>
            </a:extLst>
          </p:cNvPr>
          <p:cNvSpPr>
            <a:spLocks noGrp="1"/>
          </p:cNvSpPr>
          <p:nvPr/>
        </p:nvSpPr>
        <p:spPr>
          <a:xfrm>
            <a:off x="10738675" y="5229225"/>
            <a:ext cx="6787324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54700-BA2D-4737-84A9-18E4DA119C73}"/>
              </a:ext>
            </a:extLst>
          </p:cNvPr>
          <p:cNvSpPr>
            <a:spLocks noGrp="1"/>
          </p:cNvSpPr>
          <p:nvPr/>
        </p:nvSpPr>
        <p:spPr>
          <a:xfrm>
            <a:off x="10934700" y="53911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1705EE-9C35-4F99-9F70-26A72695F5AF}"/>
              </a:ext>
            </a:extLst>
          </p:cNvPr>
          <p:cNvSpPr>
            <a:spLocks noGrp="1"/>
          </p:cNvSpPr>
          <p:nvPr/>
        </p:nvSpPr>
        <p:spPr>
          <a:xfrm>
            <a:off x="10934700" y="5505450"/>
            <a:ext cx="6400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구현 범위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1123BF-C2BE-4109-86C4-4404000EBCFB}"/>
              </a:ext>
            </a:extLst>
          </p:cNvPr>
          <p:cNvSpPr>
            <a:spLocks noGrp="1"/>
          </p:cNvSpPr>
          <p:nvPr/>
        </p:nvSpPr>
        <p:spPr>
          <a:xfrm>
            <a:off x="10934700" y="5848350"/>
            <a:ext cx="6400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Foundation, Academic Read Model, attendance demo, objective exam MVP는 로컬 MVP 범위에서 시연 가능합니다.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75FC49F-2F07-43D3-BB11-C72A378D272D}"/>
              </a:ext>
            </a:extLst>
          </p:cNvPr>
          <p:cNvSpPr>
            <a:spLocks noGrp="1"/>
          </p:cNvSpPr>
          <p:nvPr/>
        </p:nvSpPr>
        <p:spPr>
          <a:xfrm>
            <a:off x="762000" y="7029450"/>
            <a:ext cx="54737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D58FDD-A892-4071-AB59-056B7C4A38D1}"/>
              </a:ext>
            </a:extLst>
          </p:cNvPr>
          <p:cNvSpPr>
            <a:spLocks noGrp="1"/>
          </p:cNvSpPr>
          <p:nvPr/>
        </p:nvSpPr>
        <p:spPr>
          <a:xfrm>
            <a:off x="952500" y="71818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BA054A-751B-4A89-B512-4243B3FEC660}"/>
              </a:ext>
            </a:extLst>
          </p:cNvPr>
          <p:cNvSpPr>
            <a:spLocks noGrp="1"/>
          </p:cNvSpPr>
          <p:nvPr/>
        </p:nvSpPr>
        <p:spPr>
          <a:xfrm>
            <a:off x="952500" y="72961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LMS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C6CF10-597E-4845-A918-DB3F486EE963}"/>
              </a:ext>
            </a:extLst>
          </p:cNvPr>
          <p:cNvSpPr>
            <a:spLocks noGrp="1"/>
          </p:cNvSpPr>
          <p:nvPr/>
        </p:nvSpPr>
        <p:spPr>
          <a:xfrm>
            <a:off x="952500" y="76390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로그인, 강의, 공지, 자료 scaffold, 시험, 출석 화면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3501EE0-D614-4A05-A829-244C2C0BF16D}"/>
              </a:ext>
            </a:extLst>
          </p:cNvPr>
          <p:cNvSpPr>
            <a:spLocks noGrp="1"/>
          </p:cNvSpPr>
          <p:nvPr/>
        </p:nvSpPr>
        <p:spPr>
          <a:xfrm>
            <a:off x="6407150" y="7029450"/>
            <a:ext cx="54737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71BA82-AD7A-4C3E-B7AC-4D38F9D4999E}"/>
              </a:ext>
            </a:extLst>
          </p:cNvPr>
          <p:cNvSpPr>
            <a:spLocks noGrp="1"/>
          </p:cNvSpPr>
          <p:nvPr/>
        </p:nvSpPr>
        <p:spPr>
          <a:xfrm>
            <a:off x="6591300" y="71818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CDACEC-FAAE-41E6-A488-7227F78CE170}"/>
              </a:ext>
            </a:extLst>
          </p:cNvPr>
          <p:cNvSpPr>
            <a:spLocks noGrp="1"/>
          </p:cNvSpPr>
          <p:nvPr/>
        </p:nvSpPr>
        <p:spPr>
          <a:xfrm>
            <a:off x="6591300" y="72961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Presence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C69097-D35F-4B23-B31C-052DE512325A}"/>
              </a:ext>
            </a:extLst>
          </p:cNvPr>
          <p:cNvSpPr>
            <a:spLocks noGrp="1"/>
          </p:cNvSpPr>
          <p:nvPr/>
        </p:nvSpPr>
        <p:spPr>
          <a:xfrm>
            <a:off x="6591300" y="7639050"/>
            <a:ext cx="5086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Redis snapshot cache, dummy OpenWrt-shaped provider, AP threshold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9A122A0-B2BF-4C26-8448-684B82887DC1}"/>
              </a:ext>
            </a:extLst>
          </p:cNvPr>
          <p:cNvSpPr>
            <a:spLocks noGrp="1"/>
          </p:cNvSpPr>
          <p:nvPr/>
        </p:nvSpPr>
        <p:spPr>
          <a:xfrm>
            <a:off x="12052300" y="7029450"/>
            <a:ext cx="54737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41AF17-C574-4F97-B85A-1BB2EEA62CDD}"/>
              </a:ext>
            </a:extLst>
          </p:cNvPr>
          <p:cNvSpPr>
            <a:spLocks noGrp="1"/>
          </p:cNvSpPr>
          <p:nvPr/>
        </p:nvSpPr>
        <p:spPr>
          <a:xfrm>
            <a:off x="12249150" y="71818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3E4B856-1189-4071-8BF8-CEBCCE07E354}"/>
              </a:ext>
            </a:extLst>
          </p:cNvPr>
          <p:cNvSpPr>
            <a:spLocks noGrp="1"/>
          </p:cNvSpPr>
          <p:nvPr/>
        </p:nvSpPr>
        <p:spPr>
          <a:xfrm>
            <a:off x="12249150" y="72961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Trace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6512E2-62E6-460B-9F2A-C360BB4C11B5}"/>
              </a:ext>
            </a:extLst>
          </p:cNvPr>
          <p:cNvSpPr>
            <a:spLocks noGrp="1"/>
          </p:cNvSpPr>
          <p:nvPr/>
        </p:nvSpPr>
        <p:spPr>
          <a:xfrm>
            <a:off x="12249150" y="76390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eligibility log, attendance audit, reason code로 판단 근거 추적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0A59706-019D-4471-8796-33C3A1E002EF}"/>
              </a:ext>
            </a:extLst>
          </p:cNvPr>
          <p:cNvSpPr>
            <a:spLocks noGrp="1"/>
          </p:cNvSpPr>
          <p:nvPr/>
        </p:nvSpPr>
        <p:spPr>
          <a:xfrm>
            <a:off x="762000" y="87249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B231C1-D3E1-4178-ABCC-1B250594C91D}"/>
              </a:ext>
            </a:extLst>
          </p:cNvPr>
          <p:cNvSpPr>
            <a:spLocks noGrp="1"/>
          </p:cNvSpPr>
          <p:nvPr/>
        </p:nvSpPr>
        <p:spPr>
          <a:xfrm>
            <a:off x="971550" y="89725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핵심 문장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5588B2-98FD-4F89-8F10-8E3716F0969A}"/>
              </a:ext>
            </a:extLst>
          </p:cNvPr>
          <p:cNvSpPr>
            <a:spLocks noGrp="1"/>
          </p:cNvSpPr>
          <p:nvPr/>
        </p:nvSpPr>
        <p:spPr>
          <a:xfrm>
            <a:off x="2571750" y="89725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스마트클래스는 기존 LMS 사용 흐름 안에서 강의실 네트워크 증거를 활용해 출석과 시험 접근의 신뢰성을 높이는 프로토타입입니다.</a:t>
            </a:r>
          </a:p>
        </p:txBody>
      </p:sp>
    </p:spTree>
    <p:extLst>
      <p:ext uri="{BB962C8B-B14F-4D97-AF65-F5344CB8AC3E}">
        <p14:creationId xmlns:p14="http://schemas.microsoft.com/office/powerpoint/2010/main" val="315099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09121B8-7342-4EFC-A8ED-500A6E451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4B0DF0-B655-48F8-8DD9-C4B5581BABD9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76200" cy="7543800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" y="685800"/>
            <a:ext cx="476250" cy="476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09FC08-E949-4B24-8B33-9E17D3A62C67}"/>
              </a:ext>
            </a:extLst>
          </p:cNvPr>
          <p:cNvSpPr>
            <a:spLocks noGrp="1"/>
          </p:cNvSpPr>
          <p:nvPr/>
        </p:nvSpPr>
        <p:spPr>
          <a:xfrm>
            <a:off x="1714500" y="81915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70100D-603B-4AB2-9C7A-896F4EC86183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1049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F9A3FD-B019-456D-BD2E-6818F0FCE8D9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110490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문제 정의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00D16C-6404-4D8A-A044-3F8A75D5A6AA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1104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1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기존 출석체크 시스템이 현재 위치와 본인 단말을 확인하지 못하는 지점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60A0D4-5655-4F35-8C86-3AB661C8CAFF}"/>
              </a:ext>
            </a:extLst>
          </p:cNvPr>
          <p:cNvSpPr>
            <a:spLocks noGrp="1"/>
          </p:cNvSpPr>
          <p:nvPr/>
        </p:nvSpPr>
        <p:spPr>
          <a:xfrm>
            <a:off x="11049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123A63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23FA2E-848C-41FE-9A0F-8ABDFA8F97F3}"/>
              </a:ext>
            </a:extLst>
          </p:cNvPr>
          <p:cNvSpPr>
            <a:spLocks noGrp="1"/>
          </p:cNvSpPr>
          <p:nvPr/>
        </p:nvSpPr>
        <p:spPr>
          <a:xfrm>
            <a:off x="129540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0A194B-D294-470E-AB18-7673B1233EA7}"/>
              </a:ext>
            </a:extLst>
          </p:cNvPr>
          <p:cNvSpPr>
            <a:spLocks noGrp="1"/>
          </p:cNvSpPr>
          <p:nvPr/>
        </p:nvSpPr>
        <p:spPr>
          <a:xfrm>
            <a:off x="129540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PIN/QR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8D155E-EBBA-4C1A-B94F-C8434D12203C}"/>
              </a:ext>
            </a:extLst>
          </p:cNvPr>
          <p:cNvSpPr>
            <a:spLocks noGrp="1"/>
          </p:cNvSpPr>
          <p:nvPr/>
        </p:nvSpPr>
        <p:spPr>
          <a:xfrm>
            <a:off x="129540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공유와 대리 인증 위험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BA1EC3A-A529-4548-9D39-6A6F3C635B73}"/>
              </a:ext>
            </a:extLst>
          </p:cNvPr>
          <p:cNvSpPr>
            <a:spLocks noGrp="1"/>
          </p:cNvSpPr>
          <p:nvPr/>
        </p:nvSpPr>
        <p:spPr>
          <a:xfrm>
            <a:off x="49022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E3154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2A11DF-06FE-4319-B35C-0DC5FFD2685B}"/>
              </a:ext>
            </a:extLst>
          </p:cNvPr>
          <p:cNvSpPr>
            <a:spLocks noGrp="1"/>
          </p:cNvSpPr>
          <p:nvPr/>
        </p:nvSpPr>
        <p:spPr>
          <a:xfrm>
            <a:off x="508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DE63CC-C6F2-4F89-86D2-3185D549E370}"/>
              </a:ext>
            </a:extLst>
          </p:cNvPr>
          <p:cNvSpPr>
            <a:spLocks noGrp="1"/>
          </p:cNvSpPr>
          <p:nvPr/>
        </p:nvSpPr>
        <p:spPr>
          <a:xfrm>
            <a:off x="508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비콘/NFC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FFBFF5-2943-4090-BB86-8650601ABE1D}"/>
              </a:ext>
            </a:extLst>
          </p:cNvPr>
          <p:cNvSpPr>
            <a:spLocks noGrp="1"/>
          </p:cNvSpPr>
          <p:nvPr/>
        </p:nvSpPr>
        <p:spPr>
          <a:xfrm>
            <a:off x="508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장비·앱·편의성 trade-off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82B8213-87A8-4EDB-85C1-361493EF73F9}"/>
              </a:ext>
            </a:extLst>
          </p:cNvPr>
          <p:cNvSpPr>
            <a:spLocks noGrp="1"/>
          </p:cNvSpPr>
          <p:nvPr/>
        </p:nvSpPr>
        <p:spPr>
          <a:xfrm>
            <a:off x="86995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A2947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FC3B0D-553D-43EB-9468-924D4EE95690}"/>
              </a:ext>
            </a:extLst>
          </p:cNvPr>
          <p:cNvSpPr>
            <a:spLocks noGrp="1"/>
          </p:cNvSpPr>
          <p:nvPr/>
        </p:nvSpPr>
        <p:spPr>
          <a:xfrm>
            <a:off x="889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0CC65D-CCA8-4137-81E6-651BB577402C}"/>
              </a:ext>
            </a:extLst>
          </p:cNvPr>
          <p:cNvSpPr>
            <a:spLocks noGrp="1"/>
          </p:cNvSpPr>
          <p:nvPr/>
        </p:nvSpPr>
        <p:spPr>
          <a:xfrm>
            <a:off x="889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시험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C27097-E248-4488-A626-27D7D0A1168D}"/>
              </a:ext>
            </a:extLst>
          </p:cNvPr>
          <p:cNvSpPr>
            <a:spLocks noGrp="1"/>
          </p:cNvSpPr>
          <p:nvPr/>
        </p:nvSpPr>
        <p:spPr>
          <a:xfrm>
            <a:off x="889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접근 제어와 현장성 부족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BF64CD-B2F1-481E-BD55-78748DD42C00}"/>
              </a:ext>
            </a:extLst>
          </p:cNvPr>
          <p:cNvSpPr>
            <a:spLocks noGrp="1"/>
          </p:cNvSpPr>
          <p:nvPr/>
        </p:nvSpPr>
        <p:spPr>
          <a:xfrm>
            <a:off x="16383000" y="9772650"/>
            <a:ext cx="857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6 / 42</a:t>
            </a:r>
          </a:p>
        </p:txBody>
      </p:sp>
    </p:spTree>
    <p:extLst>
      <p:ext uri="{BB962C8B-B14F-4D97-AF65-F5344CB8AC3E}">
        <p14:creationId xmlns:p14="http://schemas.microsoft.com/office/powerpoint/2010/main" val="1142190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76D0CCB4-CF10-413D-A806-5D9A493F10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0AC5A3-64F8-476F-B3F7-7C7715A15AEA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E3C761-5232-4B77-BF87-CBACC0BD8C68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문제 정의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FE8968-9E66-4C63-93E1-8F1BAC8BA91D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기존 출석·시험 시스템은 ‘현재 위치’와 ‘본인 단말’ 근거가 약함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7A3568-0AC1-4C2D-97A7-C28D076D2106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C31F3D-7BB6-47E1-8AF1-B68E2A9589E5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A06350-4AC8-40C0-9E61-1827CA3072B7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7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8D9A76-A99D-45A9-8B59-A1409BBBFCF2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4062413" cy="3048000"/>
          </a:xfrm>
          <a:prstGeom prst="roundRect">
            <a:avLst>
              <a:gd name="adj" fmla="val 2500"/>
            </a:avLst>
          </a:prstGeom>
          <a:solidFill>
            <a:srgbClr val="FFF1F1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935D45-3D26-4A86-AC5C-16ABFDFCC228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628650" cy="38100"/>
          </a:xfrm>
          <a:prstGeom prst="rect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4859A6-87D3-46E5-8E08-2F3CB7C907CD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D645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D64545"/>
                </a:solidFill>
                <a:latin typeface="Pretendard"/>
                <a:ea typeface="Pretendard"/>
                <a:cs typeface="Pretendard"/>
              </a:rPr>
              <a:t>PIN 인증 취약성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438169-5209-4F1D-88F0-7422F9168E13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짧은 번호는 무차별 대입과 공유를 통한 대리 출석에 취약합니다.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4BC66B8-DFE1-4FC2-9496-BFDAD1F18CD0}"/>
              </a:ext>
            </a:extLst>
          </p:cNvPr>
          <p:cNvSpPr>
            <a:spLocks noGrp="1"/>
          </p:cNvSpPr>
          <p:nvPr/>
        </p:nvSpPr>
        <p:spPr>
          <a:xfrm>
            <a:off x="4995863" y="2095500"/>
            <a:ext cx="4062413" cy="3048000"/>
          </a:xfrm>
          <a:prstGeom prst="roundRect">
            <a:avLst>
              <a:gd name="adj" fmla="val 2500"/>
            </a:avLst>
          </a:prstGeom>
          <a:solidFill>
            <a:srgbClr val="FFF7E8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046F7F-3645-4AD1-AF7E-A29DA69ED713}"/>
              </a:ext>
            </a:extLst>
          </p:cNvPr>
          <p:cNvSpPr>
            <a:spLocks noGrp="1"/>
          </p:cNvSpPr>
          <p:nvPr/>
        </p:nvSpPr>
        <p:spPr>
          <a:xfrm>
            <a:off x="5181600" y="224790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5BE75A-0557-46A9-934F-A6233ACA39FD}"/>
              </a:ext>
            </a:extLst>
          </p:cNvPr>
          <p:cNvSpPr>
            <a:spLocks noGrp="1"/>
          </p:cNvSpPr>
          <p:nvPr/>
        </p:nvSpPr>
        <p:spPr>
          <a:xfrm>
            <a:off x="518160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인증 후 퇴실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C8AA39-9CCB-4C4E-9C93-89BAB19C04F0}"/>
              </a:ext>
            </a:extLst>
          </p:cNvPr>
          <p:cNvSpPr>
            <a:spLocks noGrp="1"/>
          </p:cNvSpPr>
          <p:nvPr/>
        </p:nvSpPr>
        <p:spPr>
          <a:xfrm>
            <a:off x="518160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출석 확인 완료 후 강의실 퇴실을 시스템이 지속적으로 확인하기 어렵습니다.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19313ED-6C44-470D-B8F9-43509AFC8975}"/>
              </a:ext>
            </a:extLst>
          </p:cNvPr>
          <p:cNvSpPr>
            <a:spLocks noGrp="1"/>
          </p:cNvSpPr>
          <p:nvPr/>
        </p:nvSpPr>
        <p:spPr>
          <a:xfrm>
            <a:off x="9229725" y="2095500"/>
            <a:ext cx="4062413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5C9976-684E-44B0-984C-F101C4E5AE28}"/>
              </a:ext>
            </a:extLst>
          </p:cNvPr>
          <p:cNvSpPr>
            <a:spLocks noGrp="1"/>
          </p:cNvSpPr>
          <p:nvPr/>
        </p:nvSpPr>
        <p:spPr>
          <a:xfrm>
            <a:off x="9429750" y="22479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D79334-8AAE-40A0-9F63-F741DBEBE6A1}"/>
              </a:ext>
            </a:extLst>
          </p:cNvPr>
          <p:cNvSpPr>
            <a:spLocks noGrp="1"/>
          </p:cNvSpPr>
          <p:nvPr/>
        </p:nvSpPr>
        <p:spPr>
          <a:xfrm>
            <a:off x="942975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수업 시간 손실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F13646-704D-4EA9-AA81-949F2DF3950F}"/>
              </a:ext>
            </a:extLst>
          </p:cNvPr>
          <p:cNvSpPr>
            <a:spLocks noGrp="1"/>
          </p:cNvSpPr>
          <p:nvPr/>
        </p:nvSpPr>
        <p:spPr>
          <a:xfrm>
            <a:off x="942975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인원을 직접 대조하면 5-10분 수준의 강의 시간이 낭비될 수 있습니다.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ADD151D-098F-4602-908B-68517C8E4547}"/>
              </a:ext>
            </a:extLst>
          </p:cNvPr>
          <p:cNvSpPr>
            <a:spLocks noGrp="1"/>
          </p:cNvSpPr>
          <p:nvPr/>
        </p:nvSpPr>
        <p:spPr>
          <a:xfrm>
            <a:off x="13463588" y="2095500"/>
            <a:ext cx="4062413" cy="3048000"/>
          </a:xfrm>
          <a:prstGeom prst="roundRect">
            <a:avLst>
              <a:gd name="adj" fmla="val 2500"/>
            </a:avLst>
          </a:prstGeom>
          <a:solidFill>
            <a:srgbClr val="FFF1F1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F44374-DA7B-44BD-B936-B706BDBE7F93}"/>
              </a:ext>
            </a:extLst>
          </p:cNvPr>
          <p:cNvSpPr>
            <a:spLocks noGrp="1"/>
          </p:cNvSpPr>
          <p:nvPr/>
        </p:nvSpPr>
        <p:spPr>
          <a:xfrm>
            <a:off x="13658850" y="2247900"/>
            <a:ext cx="628650" cy="38100"/>
          </a:xfrm>
          <a:prstGeom prst="rect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0261EC-694D-44BA-8C34-4586FC57B8DC}"/>
              </a:ext>
            </a:extLst>
          </p:cNvPr>
          <p:cNvSpPr>
            <a:spLocks noGrp="1"/>
          </p:cNvSpPr>
          <p:nvPr/>
        </p:nvSpPr>
        <p:spPr>
          <a:xfrm>
            <a:off x="1365885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D645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D64545"/>
                </a:solidFill>
                <a:latin typeface="Pretendard"/>
                <a:ea typeface="Pretendard"/>
                <a:cs typeface="Pretendard"/>
              </a:rPr>
              <a:t>시험 부정 가능성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E30052-3A50-4B9E-B6E1-3458BBB17CDB}"/>
              </a:ext>
            </a:extLst>
          </p:cNvPr>
          <p:cNvSpPr>
            <a:spLocks noGrp="1"/>
          </p:cNvSpPr>
          <p:nvPr/>
        </p:nvSpPr>
        <p:spPr>
          <a:xfrm>
            <a:off x="1365885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시험장 확인 후 퇴실하거나 외부 조력자가 대리 응시할 여지가 남습니다.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00D78BD-AFF9-4932-8161-15EF5687E7A0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7466648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1C6E14-65E4-4BD7-878E-4EC1A3ACC649}"/>
              </a:ext>
            </a:extLst>
          </p:cNvPr>
          <p:cNvSpPr>
            <a:spLocks noGrp="1"/>
          </p:cNvSpPr>
          <p:nvPr/>
        </p:nvSpPr>
        <p:spPr>
          <a:xfrm>
            <a:off x="952500" y="5467350"/>
            <a:ext cx="7086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D64545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D64545"/>
                </a:solidFill>
                <a:latin typeface="Pretendard"/>
                <a:ea typeface="Pretendard"/>
                <a:cs typeface="Pretendard"/>
              </a:rPr>
              <a:t>기존 LMS의 한계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2A6140-3F44-40A9-940B-DF4CEE1D4AE0}"/>
              </a:ext>
            </a:extLst>
          </p:cNvPr>
          <p:cNvSpPr>
            <a:spLocks noGrp="1"/>
          </p:cNvSpPr>
          <p:nvPr/>
        </p:nvSpPr>
        <p:spPr>
          <a:xfrm>
            <a:off x="952500" y="5848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637F74-33A1-4D32-A6B2-293A563EE122}"/>
              </a:ext>
            </a:extLst>
          </p:cNvPr>
          <p:cNvSpPr>
            <a:spLocks noGrp="1"/>
          </p:cNvSpPr>
          <p:nvPr/>
        </p:nvSpPr>
        <p:spPr>
          <a:xfrm>
            <a:off x="1200150" y="5848350"/>
            <a:ext cx="6838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학생의 현재 강의실 위치 정보가 부족함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B7BE3D-C116-4024-930C-2C6E4339F5EC}"/>
              </a:ext>
            </a:extLst>
          </p:cNvPr>
          <p:cNvSpPr>
            <a:spLocks noGrp="1"/>
          </p:cNvSpPr>
          <p:nvPr/>
        </p:nvSpPr>
        <p:spPr>
          <a:xfrm>
            <a:off x="952500" y="6172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08D527-E702-457B-B7AA-361C08D48E95}"/>
              </a:ext>
            </a:extLst>
          </p:cNvPr>
          <p:cNvSpPr>
            <a:spLocks noGrp="1"/>
          </p:cNvSpPr>
          <p:nvPr/>
        </p:nvSpPr>
        <p:spPr>
          <a:xfrm>
            <a:off x="1200150" y="6172200"/>
            <a:ext cx="6838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인증 수단과 실제 재실성이 분리됨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D8DA98-B287-427F-97AC-3C0EE0CC5E2C}"/>
              </a:ext>
            </a:extLst>
          </p:cNvPr>
          <p:cNvSpPr>
            <a:spLocks noGrp="1"/>
          </p:cNvSpPr>
          <p:nvPr/>
        </p:nvSpPr>
        <p:spPr>
          <a:xfrm>
            <a:off x="952500" y="6496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723C94-7082-47CF-BF2C-C644011BC186}"/>
              </a:ext>
            </a:extLst>
          </p:cNvPr>
          <p:cNvSpPr>
            <a:spLocks noGrp="1"/>
          </p:cNvSpPr>
          <p:nvPr/>
        </p:nvSpPr>
        <p:spPr>
          <a:xfrm>
            <a:off x="1200150" y="6496050"/>
            <a:ext cx="6838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출석/시험 판단 근거가 설명 가능하게 남기 어렵음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11008B7-4EF1-457D-99AE-38AC57790022}"/>
              </a:ext>
            </a:extLst>
          </p:cNvPr>
          <p:cNvSpPr>
            <a:spLocks noGrp="1"/>
          </p:cNvSpPr>
          <p:nvPr/>
        </p:nvSpPr>
        <p:spPr>
          <a:xfrm>
            <a:off x="8400098" y="5314950"/>
            <a:ext cx="9125903" cy="2762250"/>
          </a:xfrm>
          <a:prstGeom prst="roundRect">
            <a:avLst>
              <a:gd name="adj" fmla="val 2759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840EBF-9A99-480B-929C-CA3E1E2DFD4A}"/>
              </a:ext>
            </a:extLst>
          </p:cNvPr>
          <p:cNvSpPr>
            <a:spLocks noGrp="1"/>
          </p:cNvSpPr>
          <p:nvPr/>
        </p:nvSpPr>
        <p:spPr>
          <a:xfrm>
            <a:off x="8591550" y="5467350"/>
            <a:ext cx="8743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해결해야 하는 질문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08F894-BD3C-4262-9622-5AE35E762527}"/>
              </a:ext>
            </a:extLst>
          </p:cNvPr>
          <p:cNvSpPr>
            <a:spLocks noGrp="1"/>
          </p:cNvSpPr>
          <p:nvPr/>
        </p:nvSpPr>
        <p:spPr>
          <a:xfrm>
            <a:off x="8591550" y="5867400"/>
            <a:ext cx="874395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0B1F3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사용자가 수업 시간에, 해당 강의실 네트워크 안에서, 등록된 본인 단말을 사용하고 있다는 것을 어떻게 낮은 비용으로 확인할 것인가?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2750B4D-878B-44C5-B82B-636E6AEA4F57}"/>
              </a:ext>
            </a:extLst>
          </p:cNvPr>
          <p:cNvSpPr>
            <a:spLocks noGrp="1"/>
          </p:cNvSpPr>
          <p:nvPr/>
        </p:nvSpPr>
        <p:spPr>
          <a:xfrm>
            <a:off x="762000" y="82486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229D27-7894-4BA4-A209-A6B8E5C34383}"/>
              </a:ext>
            </a:extLst>
          </p:cNvPr>
          <p:cNvSpPr>
            <a:spLocks noGrp="1"/>
          </p:cNvSpPr>
          <p:nvPr/>
        </p:nvSpPr>
        <p:spPr>
          <a:xfrm>
            <a:off x="971550" y="84963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문제의 핵심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058E0B9-72E0-48CC-AE60-C1A09781DEA8}"/>
              </a:ext>
            </a:extLst>
          </p:cNvPr>
          <p:cNvSpPr>
            <a:spLocks noGrp="1"/>
          </p:cNvSpPr>
          <p:nvPr/>
        </p:nvSpPr>
        <p:spPr>
          <a:xfrm>
            <a:off x="2571750" y="84963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사람의 확인이나 일회성 코드가 아니라, 강의실 네트워크에서 반복 확인 가능한 근거가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786520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FC26781-0D2F-43F3-BF2E-E9EB362779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F06362-359E-4097-9F98-9E743463337F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97B010-63CB-4781-B0F6-DF6B36EC43A3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문제 정의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E1262-AE99-40F5-A893-B1B30D383F2A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국내 전자출결 방식은 신뢰성·비용·편의성 사이에 뚜렷한 trade-off가 있음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B4198F-A2BE-47A7-B15C-A6F23266F931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16C28D-AFEB-477A-B9F0-79CC850FD9AC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9E53C6-EAB5-4F50-B87E-DC1C8B058990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8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F2F4C50-4E42-456E-8BB7-EED41E44DA06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67640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aphicFrame>
        <p:nvGraphicFramePr>
          <p:cNvPr id="11" name="Table 10"/>
          <p:cNvGraphicFramePr/>
          <p:nvPr/>
        </p:nvGraphicFramePr>
        <p:xfrm>
          <a:off x="762000" y="2095500"/>
          <a:ext cx="16764000" cy="3143250"/>
        </p:xfrm>
        <a:graphic>
          <a:graphicData uri="http://schemas.openxmlformats.org/drawingml/2006/table">
            <a:tbl>
              <a:tblPr firstRow="1" firstCol="1" bandRow="1"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방식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재실성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편의성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추가 비용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한계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PIN/QR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번호 공유·대리 인증에 취약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학생증/NFC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물리 인증 후 퇴실 방지 어려움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비콘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장비 설치 비용과 앱 제약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Wi-Fi+등록 단말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기존 인프라 활용, 실 장비 검증 필요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984767A-EE89-42DD-819A-639B76D88A56}"/>
              </a:ext>
            </a:extLst>
          </p:cNvPr>
          <p:cNvSpPr>
            <a:spLocks noGrp="1"/>
          </p:cNvSpPr>
          <p:nvPr/>
        </p:nvSpPr>
        <p:spPr>
          <a:xfrm>
            <a:off x="762000" y="5410200"/>
            <a:ext cx="5473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D1BD37-63D8-40F1-94D7-2F3B2C5AF91B}"/>
              </a:ext>
            </a:extLst>
          </p:cNvPr>
          <p:cNvSpPr>
            <a:spLocks noGrp="1"/>
          </p:cNvSpPr>
          <p:nvPr/>
        </p:nvSpPr>
        <p:spPr>
          <a:xfrm>
            <a:off x="952500" y="55626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1CA7CD-12F3-4F3D-B1D0-E7575E961B41}"/>
              </a:ext>
            </a:extLst>
          </p:cNvPr>
          <p:cNvSpPr>
            <a:spLocks noGrp="1"/>
          </p:cNvSpPr>
          <p:nvPr/>
        </p:nvSpPr>
        <p:spPr>
          <a:xfrm>
            <a:off x="952500" y="5676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연세대 Y-Attend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818847-DBB2-4B89-AE35-73DEF7161248}"/>
              </a:ext>
            </a:extLst>
          </p:cNvPr>
          <p:cNvSpPr>
            <a:spLocks noGrp="1"/>
          </p:cNvSpPr>
          <p:nvPr/>
        </p:nvSpPr>
        <p:spPr>
          <a:xfrm>
            <a:off x="952500" y="60198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앱과 비콘 기반으로 출결 관리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7059EA0-BCCD-4170-9DAF-45FB7304783D}"/>
              </a:ext>
            </a:extLst>
          </p:cNvPr>
          <p:cNvSpPr>
            <a:spLocks noGrp="1"/>
          </p:cNvSpPr>
          <p:nvPr/>
        </p:nvSpPr>
        <p:spPr>
          <a:xfrm>
            <a:off x="6407150" y="5410200"/>
            <a:ext cx="5473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9E9363-62A2-46C4-8331-BEF4758FD27B}"/>
              </a:ext>
            </a:extLst>
          </p:cNvPr>
          <p:cNvSpPr>
            <a:spLocks noGrp="1"/>
          </p:cNvSpPr>
          <p:nvPr/>
        </p:nvSpPr>
        <p:spPr>
          <a:xfrm>
            <a:off x="6591300" y="55626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7D0DF8-5445-46CE-957B-4EC2A8C70444}"/>
              </a:ext>
            </a:extLst>
          </p:cNvPr>
          <p:cNvSpPr>
            <a:spLocks noGrp="1"/>
          </p:cNvSpPr>
          <p:nvPr/>
        </p:nvSpPr>
        <p:spPr>
          <a:xfrm>
            <a:off x="6591300" y="5676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성균관대 SAM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77C109-E0EB-48E4-972A-8050E505372D}"/>
              </a:ext>
            </a:extLst>
          </p:cNvPr>
          <p:cNvSpPr>
            <a:spLocks noGrp="1"/>
          </p:cNvSpPr>
          <p:nvPr/>
        </p:nvSpPr>
        <p:spPr>
          <a:xfrm>
            <a:off x="6591300" y="60198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비콘, 학생증, 인증코드 등 대체수단 병행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132C4A5-0F2C-4454-B0E0-69F4450B3F9D}"/>
              </a:ext>
            </a:extLst>
          </p:cNvPr>
          <p:cNvSpPr>
            <a:spLocks noGrp="1"/>
          </p:cNvSpPr>
          <p:nvPr/>
        </p:nvSpPr>
        <p:spPr>
          <a:xfrm>
            <a:off x="12052300" y="5410200"/>
            <a:ext cx="5473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A84EE4-1113-4B5C-B1A3-6F442B3F5B07}"/>
              </a:ext>
            </a:extLst>
          </p:cNvPr>
          <p:cNvSpPr>
            <a:spLocks noGrp="1"/>
          </p:cNvSpPr>
          <p:nvPr/>
        </p:nvSpPr>
        <p:spPr>
          <a:xfrm>
            <a:off x="12249150" y="55626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32BE7E-D958-4CAE-9403-5EFCD46554F0}"/>
              </a:ext>
            </a:extLst>
          </p:cNvPr>
          <p:cNvSpPr>
            <a:spLocks noGrp="1"/>
          </p:cNvSpPr>
          <p:nvPr/>
        </p:nvSpPr>
        <p:spPr>
          <a:xfrm>
            <a:off x="12249150" y="5676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중앙대 전자출결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B02812-E6D5-446B-AB33-7615D3C6262C}"/>
              </a:ext>
            </a:extLst>
          </p:cNvPr>
          <p:cNvSpPr>
            <a:spLocks noGrp="1"/>
          </p:cNvSpPr>
          <p:nvPr/>
        </p:nvSpPr>
        <p:spPr>
          <a:xfrm>
            <a:off x="12249150" y="60198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비콘, 학생증, NFC, QR 등 복수 수단 제공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008C89F-ACCD-4146-B729-A4A0D6731874}"/>
              </a:ext>
            </a:extLst>
          </p:cNvPr>
          <p:cNvSpPr>
            <a:spLocks noGrp="1"/>
          </p:cNvSpPr>
          <p:nvPr/>
        </p:nvSpPr>
        <p:spPr>
          <a:xfrm>
            <a:off x="762000" y="81534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695850-953E-4C01-A7B2-D4FBECC44BE7}"/>
              </a:ext>
            </a:extLst>
          </p:cNvPr>
          <p:cNvSpPr>
            <a:spLocks noGrp="1"/>
          </p:cNvSpPr>
          <p:nvPr/>
        </p:nvSpPr>
        <p:spPr>
          <a:xfrm>
            <a:off x="971550" y="84010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도입 방향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6D02BA-5A5B-42D0-A42D-F7E8E2AA9EC5}"/>
              </a:ext>
            </a:extLst>
          </p:cNvPr>
          <p:cNvSpPr>
            <a:spLocks noGrp="1"/>
          </p:cNvSpPr>
          <p:nvPr/>
        </p:nvSpPr>
        <p:spPr>
          <a:xfrm>
            <a:off x="2571750" y="84010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Smart Class는 비콘을 새로 깔기보다 기존 Wi-Fi와 OpenWrt 관측값을 활용해 비용을 낮추는 방향을 취합니다.</a:t>
            </a:r>
          </a:p>
        </p:txBody>
      </p:sp>
    </p:spTree>
    <p:extLst>
      <p:ext uri="{BB962C8B-B14F-4D97-AF65-F5344CB8AC3E}">
        <p14:creationId xmlns:p14="http://schemas.microsoft.com/office/powerpoint/2010/main" val="81037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653EAE7-E9E9-47D3-8489-A876AC9F10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A3C691-5088-470E-B57A-C96DCC1A484C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76200" cy="7543800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" y="685800"/>
            <a:ext cx="476250" cy="476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A8A456-183F-4D69-98CB-C0CD1C2890A6}"/>
              </a:ext>
            </a:extLst>
          </p:cNvPr>
          <p:cNvSpPr>
            <a:spLocks noGrp="1"/>
          </p:cNvSpPr>
          <p:nvPr/>
        </p:nvSpPr>
        <p:spPr>
          <a:xfrm>
            <a:off x="1714500" y="81915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08C87-E044-4BFC-971A-A0D7562B9A31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1049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395088-15ED-4B2C-A5C8-7F56A7640CF7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110490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프로젝트 목표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45ABA5-1D3A-4D83-9901-E135ABBC4B62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1104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1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Wi-Fi 기반 출석과 단말 인증을 포함한 Smart Class 구현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16C5B2-7C29-4238-A0E6-94ED18A33A86}"/>
              </a:ext>
            </a:extLst>
          </p:cNvPr>
          <p:cNvSpPr>
            <a:spLocks noGrp="1"/>
          </p:cNvSpPr>
          <p:nvPr/>
        </p:nvSpPr>
        <p:spPr>
          <a:xfrm>
            <a:off x="11049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123A63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CF854B-3716-45EF-8FDE-993F8EC55453}"/>
              </a:ext>
            </a:extLst>
          </p:cNvPr>
          <p:cNvSpPr>
            <a:spLocks noGrp="1"/>
          </p:cNvSpPr>
          <p:nvPr/>
        </p:nvSpPr>
        <p:spPr>
          <a:xfrm>
            <a:off x="129540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E34BE-5874-481D-95FE-D9E87186FDB3}"/>
              </a:ext>
            </a:extLst>
          </p:cNvPr>
          <p:cNvSpPr>
            <a:spLocks noGrp="1"/>
          </p:cNvSpPr>
          <p:nvPr/>
        </p:nvSpPr>
        <p:spPr>
          <a:xfrm>
            <a:off x="129540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강의실 인접성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279CC1-3DDF-4660-807C-0C3190C63C55}"/>
              </a:ext>
            </a:extLst>
          </p:cNvPr>
          <p:cNvSpPr>
            <a:spLocks noGrp="1"/>
          </p:cNvSpPr>
          <p:nvPr/>
        </p:nvSpPr>
        <p:spPr>
          <a:xfrm>
            <a:off x="129540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기존 Wi-Fi 인프라 활용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EF0857-9EF5-4CA7-932A-D5919D97A2EB}"/>
              </a:ext>
            </a:extLst>
          </p:cNvPr>
          <p:cNvSpPr>
            <a:spLocks noGrp="1"/>
          </p:cNvSpPr>
          <p:nvPr/>
        </p:nvSpPr>
        <p:spPr>
          <a:xfrm>
            <a:off x="49022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E3154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0D4981-34D6-40D2-B0C1-387DE25162AA}"/>
              </a:ext>
            </a:extLst>
          </p:cNvPr>
          <p:cNvSpPr>
            <a:spLocks noGrp="1"/>
          </p:cNvSpPr>
          <p:nvPr/>
        </p:nvSpPr>
        <p:spPr>
          <a:xfrm>
            <a:off x="508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2DE988-4053-4F4B-B21B-C8A9E139C6BC}"/>
              </a:ext>
            </a:extLst>
          </p:cNvPr>
          <p:cNvSpPr>
            <a:spLocks noGrp="1"/>
          </p:cNvSpPr>
          <p:nvPr/>
        </p:nvSpPr>
        <p:spPr>
          <a:xfrm>
            <a:off x="508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디바이스 인증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C65F7F-8833-4FC7-A8F1-2B3B0FD1D7DE}"/>
              </a:ext>
            </a:extLst>
          </p:cNvPr>
          <p:cNvSpPr>
            <a:spLocks noGrp="1"/>
          </p:cNvSpPr>
          <p:nvPr/>
        </p:nvSpPr>
        <p:spPr>
          <a:xfrm>
            <a:off x="508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등록 단말 기준 확인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C6FBE78-570D-48AE-A895-6E4DFD301AE6}"/>
              </a:ext>
            </a:extLst>
          </p:cNvPr>
          <p:cNvSpPr>
            <a:spLocks noGrp="1"/>
          </p:cNvSpPr>
          <p:nvPr/>
        </p:nvSpPr>
        <p:spPr>
          <a:xfrm>
            <a:off x="86995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A2947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09B53B-0A23-4DF8-8B18-506017BB360F}"/>
              </a:ext>
            </a:extLst>
          </p:cNvPr>
          <p:cNvSpPr>
            <a:spLocks noGrp="1"/>
          </p:cNvSpPr>
          <p:nvPr/>
        </p:nvSpPr>
        <p:spPr>
          <a:xfrm>
            <a:off x="889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FC4129-DB31-4BD9-8E40-44AD2D71DE8A}"/>
              </a:ext>
            </a:extLst>
          </p:cNvPr>
          <p:cNvSpPr>
            <a:spLocks noGrp="1"/>
          </p:cNvSpPr>
          <p:nvPr/>
        </p:nvSpPr>
        <p:spPr>
          <a:xfrm>
            <a:off x="889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공정성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A6A5B3-D867-4545-A029-56FD4EC24113}"/>
              </a:ext>
            </a:extLst>
          </p:cNvPr>
          <p:cNvSpPr>
            <a:spLocks noGrp="1"/>
          </p:cNvSpPr>
          <p:nvPr/>
        </p:nvSpPr>
        <p:spPr>
          <a:xfrm>
            <a:off x="889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근거와 로그가 남는 판단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10C823-B7A8-4488-9102-43C0C2FF229C}"/>
              </a:ext>
            </a:extLst>
          </p:cNvPr>
          <p:cNvSpPr>
            <a:spLocks noGrp="1"/>
          </p:cNvSpPr>
          <p:nvPr/>
        </p:nvSpPr>
        <p:spPr>
          <a:xfrm>
            <a:off x="16383000" y="9772650"/>
            <a:ext cx="857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9 / 42</a:t>
            </a:r>
          </a:p>
        </p:txBody>
      </p:sp>
    </p:spTree>
    <p:extLst>
      <p:ext uri="{BB962C8B-B14F-4D97-AF65-F5344CB8AC3E}">
        <p14:creationId xmlns:p14="http://schemas.microsoft.com/office/powerpoint/2010/main" val="92994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39DFE12-CAFD-465F-9C88-2DFC33291B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4EAF4E-4B5F-4F55-880C-AC8F49FB4576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AE74E4-8C15-4E56-BD63-D84EBB9531AC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프로젝트 목표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53E86F-5F52-43A6-BA35-535278F7C857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강의실 인접성과 등록 디바이스 인증을 결합해 공정한 스마트 클래스 구축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66D73C-E920-46E9-9C2F-40A52D730D5E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F3AB1EE-CAA9-4809-B985-ECE6D676AC0B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64C836-3E87-468C-9802-0A7A299776E6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10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E6DE41F-FC89-4A8C-AC85-C46D2FFC5A6B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4864100" cy="3429000"/>
          </a:xfrm>
          <a:prstGeom prst="roundRect">
            <a:avLst>
              <a:gd name="adj" fmla="val 2222"/>
            </a:avLst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2722CD-7CFD-4F3D-A62B-C730AE1B3DD1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EFDFDA-596F-4EB6-B323-1307127A769D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4476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강의실 인접성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F36E8-EDEB-40B1-B43F-136FFF732246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4767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강의실 AP에서 관측되는 station snapshot과 신호 기준을 확인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26965F-7A5F-4117-8276-5664234BF425}"/>
              </a:ext>
            </a:extLst>
          </p:cNvPr>
          <p:cNvSpPr>
            <a:spLocks noGrp="1"/>
          </p:cNvSpPr>
          <p:nvPr/>
        </p:nvSpPr>
        <p:spPr>
          <a:xfrm>
            <a:off x="5734050" y="3486150"/>
            <a:ext cx="9144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F2F9D8-D65A-4938-A0D0-300B82225789}"/>
              </a:ext>
            </a:extLst>
          </p:cNvPr>
          <p:cNvSpPr>
            <a:spLocks noGrp="1"/>
          </p:cNvSpPr>
          <p:nvPr/>
        </p:nvSpPr>
        <p:spPr>
          <a:xfrm>
            <a:off x="5734050" y="39243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관측값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E498C74-191C-4FF2-BA2F-F6A6DA9D7B05}"/>
              </a:ext>
            </a:extLst>
          </p:cNvPr>
          <p:cNvSpPr>
            <a:spLocks noGrp="1"/>
          </p:cNvSpPr>
          <p:nvPr/>
        </p:nvSpPr>
        <p:spPr>
          <a:xfrm>
            <a:off x="6711950" y="2095500"/>
            <a:ext cx="4864100" cy="3429000"/>
          </a:xfrm>
          <a:prstGeom prst="roundRect">
            <a:avLst>
              <a:gd name="adj" fmla="val 2222"/>
            </a:avLst>
          </a:prstGeom>
          <a:solidFill>
            <a:srgbClr val="ECF8F1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5B10A7-4357-4AD7-A211-C39E34F5E6DB}"/>
              </a:ext>
            </a:extLst>
          </p:cNvPr>
          <p:cNvSpPr>
            <a:spLocks noGrp="1"/>
          </p:cNvSpPr>
          <p:nvPr/>
        </p:nvSpPr>
        <p:spPr>
          <a:xfrm>
            <a:off x="6896100" y="224790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4A52F5-CEAA-4C80-9421-4C369BFE4B56}"/>
              </a:ext>
            </a:extLst>
          </p:cNvPr>
          <p:cNvSpPr>
            <a:spLocks noGrp="1"/>
          </p:cNvSpPr>
          <p:nvPr/>
        </p:nvSpPr>
        <p:spPr>
          <a:xfrm>
            <a:off x="6896100" y="2362200"/>
            <a:ext cx="4476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등록 단말 인증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BF90CB-9CE2-4E1A-8957-6764933B8094}"/>
              </a:ext>
            </a:extLst>
          </p:cNvPr>
          <p:cNvSpPr>
            <a:spLocks noGrp="1"/>
          </p:cNvSpPr>
          <p:nvPr/>
        </p:nvSpPr>
        <p:spPr>
          <a:xfrm>
            <a:off x="6896100" y="2705100"/>
            <a:ext cx="4476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학생 계정에 등록된 MAC 주소와 관측 단말을 비교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B2A21D-80E1-4D32-BA38-7258674CF54B}"/>
              </a:ext>
            </a:extLst>
          </p:cNvPr>
          <p:cNvSpPr>
            <a:spLocks noGrp="1"/>
          </p:cNvSpPr>
          <p:nvPr/>
        </p:nvSpPr>
        <p:spPr>
          <a:xfrm>
            <a:off x="11696700" y="3486150"/>
            <a:ext cx="9144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D7300B-B636-499C-A4C1-FD9C55DA0793}"/>
              </a:ext>
            </a:extLst>
          </p:cNvPr>
          <p:cNvSpPr>
            <a:spLocks noGrp="1"/>
          </p:cNvSpPr>
          <p:nvPr/>
        </p:nvSpPr>
        <p:spPr>
          <a:xfrm>
            <a:off x="11696700" y="39243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결합 판단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95CD6F8-F844-4B88-A1E2-1605827A5D5D}"/>
              </a:ext>
            </a:extLst>
          </p:cNvPr>
          <p:cNvSpPr>
            <a:spLocks noGrp="1"/>
          </p:cNvSpPr>
          <p:nvPr/>
        </p:nvSpPr>
        <p:spPr>
          <a:xfrm>
            <a:off x="12661900" y="2095500"/>
            <a:ext cx="4864100" cy="3429000"/>
          </a:xfrm>
          <a:prstGeom prst="roundRect">
            <a:avLst>
              <a:gd name="adj" fmla="val 2222"/>
            </a:avLst>
          </a:prstGeom>
          <a:solidFill>
            <a:srgbClr val="FFF7E8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6D2313-3CFE-496E-BD1E-D93422DE7E8E}"/>
              </a:ext>
            </a:extLst>
          </p:cNvPr>
          <p:cNvSpPr>
            <a:spLocks noGrp="1"/>
          </p:cNvSpPr>
          <p:nvPr/>
        </p:nvSpPr>
        <p:spPr>
          <a:xfrm>
            <a:off x="12858750" y="224790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ADF3AC-BE89-4165-BB56-6E1D287EFA65}"/>
              </a:ext>
            </a:extLst>
          </p:cNvPr>
          <p:cNvSpPr>
            <a:spLocks noGrp="1"/>
          </p:cNvSpPr>
          <p:nvPr/>
        </p:nvSpPr>
        <p:spPr>
          <a:xfrm>
            <a:off x="12858750" y="2362200"/>
            <a:ext cx="4476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출석·시험 신뢰성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EEF7FA-372D-40DF-B5FE-C94CFA0940B1}"/>
              </a:ext>
            </a:extLst>
          </p:cNvPr>
          <p:cNvSpPr>
            <a:spLocks noGrp="1"/>
          </p:cNvSpPr>
          <p:nvPr/>
        </p:nvSpPr>
        <p:spPr>
          <a:xfrm>
            <a:off x="12858750" y="2705100"/>
            <a:ext cx="44767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eligible, reasonCode, evidence를 기반으로 허용/거부와 로그를 남김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4C43AD7-3516-45DB-AB4A-E6BA7213DD99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54737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A66E26-EB8A-4758-9F36-B212569FA6EC}"/>
              </a:ext>
            </a:extLst>
          </p:cNvPr>
          <p:cNvSpPr>
            <a:spLocks noGrp="1"/>
          </p:cNvSpPr>
          <p:nvPr/>
        </p:nvSpPr>
        <p:spPr>
          <a:xfrm>
            <a:off x="952500" y="5848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기존 Wi-Fi 인프라 활용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563615-AF18-499E-AA98-D8A231B3476D}"/>
              </a:ext>
            </a:extLst>
          </p:cNvPr>
          <p:cNvSpPr>
            <a:spLocks noGrp="1"/>
          </p:cNvSpPr>
          <p:nvPr/>
        </p:nvSpPr>
        <p:spPr>
          <a:xfrm>
            <a:off x="952500" y="6229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CF344F-760A-46DD-AE29-13D034D05265}"/>
              </a:ext>
            </a:extLst>
          </p:cNvPr>
          <p:cNvSpPr>
            <a:spLocks noGrp="1"/>
          </p:cNvSpPr>
          <p:nvPr/>
        </p:nvSpPr>
        <p:spPr>
          <a:xfrm>
            <a:off x="1200150" y="62293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별도 비콘 설치 부담 감소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21D252-8D8F-4639-A869-832A5D09F2A4}"/>
              </a:ext>
            </a:extLst>
          </p:cNvPr>
          <p:cNvSpPr>
            <a:spLocks noGrp="1"/>
          </p:cNvSpPr>
          <p:nvPr/>
        </p:nvSpPr>
        <p:spPr>
          <a:xfrm>
            <a:off x="952500" y="6553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9BC9FA-5CFA-44D8-B154-A9F34AD1FD4C}"/>
              </a:ext>
            </a:extLst>
          </p:cNvPr>
          <p:cNvSpPr>
            <a:spLocks noGrp="1"/>
          </p:cNvSpPr>
          <p:nvPr/>
        </p:nvSpPr>
        <p:spPr>
          <a:xfrm>
            <a:off x="1200150" y="65532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강의실 AP/게이트웨이 기준 관리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08C91FE-8AB6-4E47-BC7A-8CA9661D70FA}"/>
              </a:ext>
            </a:extLst>
          </p:cNvPr>
          <p:cNvSpPr>
            <a:spLocks noGrp="1"/>
          </p:cNvSpPr>
          <p:nvPr/>
        </p:nvSpPr>
        <p:spPr>
          <a:xfrm>
            <a:off x="6407150" y="5695950"/>
            <a:ext cx="54737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F2D597-B085-4003-9528-7567A07F123C}"/>
              </a:ext>
            </a:extLst>
          </p:cNvPr>
          <p:cNvSpPr>
            <a:spLocks noGrp="1"/>
          </p:cNvSpPr>
          <p:nvPr/>
        </p:nvSpPr>
        <p:spPr>
          <a:xfrm>
            <a:off x="6591300" y="5848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지속적 확인 가능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7F09A0-36B1-419D-ACB3-60EA7B0F7404}"/>
              </a:ext>
            </a:extLst>
          </p:cNvPr>
          <p:cNvSpPr>
            <a:spLocks noGrp="1"/>
          </p:cNvSpPr>
          <p:nvPr/>
        </p:nvSpPr>
        <p:spPr>
          <a:xfrm>
            <a:off x="6591300" y="6229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804C30-0502-4EBE-8F11-F0B87FD3B21D}"/>
              </a:ext>
            </a:extLst>
          </p:cNvPr>
          <p:cNvSpPr>
            <a:spLocks noGrp="1"/>
          </p:cNvSpPr>
          <p:nvPr/>
        </p:nvSpPr>
        <p:spPr>
          <a:xfrm>
            <a:off x="6838950" y="62293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출석 이후에도 snapshot 갱신 가능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C12F23-DEDC-402E-A02D-F136C35F6FB4}"/>
              </a:ext>
            </a:extLst>
          </p:cNvPr>
          <p:cNvSpPr>
            <a:spLocks noGrp="1"/>
          </p:cNvSpPr>
          <p:nvPr/>
        </p:nvSpPr>
        <p:spPr>
          <a:xfrm>
            <a:off x="6591300" y="6553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115F4B-3282-4442-BFD2-79200BFF46DF}"/>
              </a:ext>
            </a:extLst>
          </p:cNvPr>
          <p:cNvSpPr>
            <a:spLocks noGrp="1"/>
          </p:cNvSpPr>
          <p:nvPr/>
        </p:nvSpPr>
        <p:spPr>
          <a:xfrm>
            <a:off x="6838950" y="65532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AP threshold로 품질 기준 적용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AC758FE-0655-4E75-B573-44E281269DDE}"/>
              </a:ext>
            </a:extLst>
          </p:cNvPr>
          <p:cNvSpPr>
            <a:spLocks noGrp="1"/>
          </p:cNvSpPr>
          <p:nvPr/>
        </p:nvSpPr>
        <p:spPr>
          <a:xfrm>
            <a:off x="12052300" y="5695950"/>
            <a:ext cx="54737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8F043E-6767-4D37-835B-7DEA7E7EAABC}"/>
              </a:ext>
            </a:extLst>
          </p:cNvPr>
          <p:cNvSpPr>
            <a:spLocks noGrp="1"/>
          </p:cNvSpPr>
          <p:nvPr/>
        </p:nvSpPr>
        <p:spPr>
          <a:xfrm>
            <a:off x="12249150" y="5848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설명 가능한 판단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D82EC8-4EAE-4EFF-97F4-402FE2E8A8EA}"/>
              </a:ext>
            </a:extLst>
          </p:cNvPr>
          <p:cNvSpPr>
            <a:spLocks noGrp="1"/>
          </p:cNvSpPr>
          <p:nvPr/>
        </p:nvSpPr>
        <p:spPr>
          <a:xfrm>
            <a:off x="12249150" y="6229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B88FD4-3B9E-4AAA-91B3-E278AAC78EA6}"/>
              </a:ext>
            </a:extLst>
          </p:cNvPr>
          <p:cNvSpPr>
            <a:spLocks noGrp="1"/>
          </p:cNvSpPr>
          <p:nvPr/>
        </p:nvSpPr>
        <p:spPr>
          <a:xfrm>
            <a:off x="12496800" y="62293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사유 코드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7C7E48-67AA-470A-9D75-BC87950721C6}"/>
              </a:ext>
            </a:extLst>
          </p:cNvPr>
          <p:cNvSpPr>
            <a:spLocks noGrp="1"/>
          </p:cNvSpPr>
          <p:nvPr/>
        </p:nvSpPr>
        <p:spPr>
          <a:xfrm>
            <a:off x="12249150" y="6553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CE33D5D-1365-4FA1-BDCD-69D8652C6161}"/>
              </a:ext>
            </a:extLst>
          </p:cNvPr>
          <p:cNvSpPr>
            <a:spLocks noGrp="1"/>
          </p:cNvSpPr>
          <p:nvPr/>
        </p:nvSpPr>
        <p:spPr>
          <a:xfrm>
            <a:off x="12496800" y="65532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판정 근거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550B4A4-312B-4FF8-9EF0-24C8B6883BFD}"/>
              </a:ext>
            </a:extLst>
          </p:cNvPr>
          <p:cNvSpPr>
            <a:spLocks noGrp="1"/>
          </p:cNvSpPr>
          <p:nvPr/>
        </p:nvSpPr>
        <p:spPr>
          <a:xfrm>
            <a:off x="12249150" y="6877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94112A-A383-4E59-9A14-8A9F8B8A9A5C}"/>
              </a:ext>
            </a:extLst>
          </p:cNvPr>
          <p:cNvSpPr>
            <a:spLocks noGrp="1"/>
          </p:cNvSpPr>
          <p:nvPr/>
        </p:nvSpPr>
        <p:spPr>
          <a:xfrm>
            <a:off x="12496800" y="68770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감사 로그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F268281-804F-4032-8A3D-1FB413F38145}"/>
              </a:ext>
            </a:extLst>
          </p:cNvPr>
          <p:cNvSpPr>
            <a:spLocks noGrp="1"/>
          </p:cNvSpPr>
          <p:nvPr/>
        </p:nvSpPr>
        <p:spPr>
          <a:xfrm>
            <a:off x="762000" y="82486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5ADE55-A010-478E-BC47-9005410B5C7F}"/>
              </a:ext>
            </a:extLst>
          </p:cNvPr>
          <p:cNvSpPr>
            <a:spLocks noGrp="1"/>
          </p:cNvSpPr>
          <p:nvPr/>
        </p:nvSpPr>
        <p:spPr>
          <a:xfrm>
            <a:off x="971550" y="84963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목표 상태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68FD48-85F9-4FA2-9B26-51372CDCC83B}"/>
              </a:ext>
            </a:extLst>
          </p:cNvPr>
          <p:cNvSpPr>
            <a:spLocks noGrp="1"/>
          </p:cNvSpPr>
          <p:nvPr/>
        </p:nvSpPr>
        <p:spPr>
          <a:xfrm>
            <a:off x="2571750" y="84963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강의실 Wi-Fi 기반 재실 판단과 등록 디바이스 인증을 LMS 흐름 안에 자연스럽게 결합합니다.</a:t>
            </a:r>
          </a:p>
        </p:txBody>
      </p:sp>
    </p:spTree>
    <p:extLst>
      <p:ext uri="{BB962C8B-B14F-4D97-AF65-F5344CB8AC3E}">
        <p14:creationId xmlns:p14="http://schemas.microsoft.com/office/powerpoint/2010/main" val="20001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3DAAEC12-0C03-47D3-9537-EEBD44A245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3C9EEFD-DB04-4E18-ACD7-E692F5BE5A63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110EB5-6678-4428-8BBF-C16A98A9A053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Wi-Fi를 통한 인접성 파악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4FD9F3-3FD2-4974-A471-7C8DCB863665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Backend 요청에서 Redis 캐시와 OpenWrt station 수집으로 이어지는 현재 연결 구조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487C69-283E-492E-BE1A-45D58139A316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A56FFF-D987-4D26-A137-1E2CB029006F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C8F806-945F-47D3-ABE8-1B2E46E1DEF3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11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1B11280-F6B6-49E6-A1BA-601538122196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3623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3D5B33-31B6-4580-822A-A84D2F30F0BA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Front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E0E660-6F0E-4A22-85D0-C894635547BA}"/>
              </a:ext>
            </a:extLst>
          </p:cNvPr>
          <p:cNvSpPr>
            <a:spLocks noGrp="1"/>
          </p:cNvSpPr>
          <p:nvPr/>
        </p:nvSpPr>
        <p:spPr>
          <a:xfrm>
            <a:off x="895350" y="2609850"/>
            <a:ext cx="31051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출석·시험 접근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상태 피드백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C706EB-9C9D-43FA-ABBE-62F7D3AF33C7}"/>
              </a:ext>
            </a:extLst>
          </p:cNvPr>
          <p:cNvSpPr>
            <a:spLocks noGrp="1"/>
          </p:cNvSpPr>
          <p:nvPr/>
        </p:nvSpPr>
        <p:spPr>
          <a:xfrm>
            <a:off x="4229100" y="2381250"/>
            <a:ext cx="9144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C5C70B-90AC-4974-887E-E68AB8796BD6}"/>
              </a:ext>
            </a:extLst>
          </p:cNvPr>
          <p:cNvSpPr>
            <a:spLocks noGrp="1"/>
          </p:cNvSpPr>
          <p:nvPr/>
        </p:nvSpPr>
        <p:spPr>
          <a:xfrm>
            <a:off x="4229100" y="28194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9CF1FDF-52A3-4FD8-BFE2-A7E9B090989F}"/>
              </a:ext>
            </a:extLst>
          </p:cNvPr>
          <p:cNvSpPr>
            <a:spLocks noGrp="1"/>
          </p:cNvSpPr>
          <p:nvPr/>
        </p:nvSpPr>
        <p:spPr>
          <a:xfrm>
            <a:off x="5229225" y="2095500"/>
            <a:ext cx="3362325" cy="1219200"/>
          </a:xfrm>
          <a:prstGeom prst="roundRect">
            <a:avLst>
              <a:gd name="adj" fmla="val 6250"/>
            </a:avLst>
          </a:prstGeom>
          <a:solidFill>
            <a:srgbClr val="EEF5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8B6A90-3D24-4EB0-8D05-E9A30C1E9854}"/>
              </a:ext>
            </a:extLst>
          </p:cNvPr>
          <p:cNvSpPr>
            <a:spLocks noGrp="1"/>
          </p:cNvSpPr>
          <p:nvPr/>
        </p:nvSpPr>
        <p:spPr>
          <a:xfrm>
            <a:off x="5372100" y="247650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Backend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7367CE-2D42-4C8B-A698-89BE784AEDD9}"/>
              </a:ext>
            </a:extLst>
          </p:cNvPr>
          <p:cNvSpPr>
            <a:spLocks noGrp="1"/>
          </p:cNvSpPr>
          <p:nvPr/>
        </p:nvSpPr>
        <p:spPr>
          <a:xfrm>
            <a:off x="5372100" y="2724150"/>
            <a:ext cx="3105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수강·시간표·등록 단말 확인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BE309E-CB3F-4812-B1E5-71340256478A}"/>
              </a:ext>
            </a:extLst>
          </p:cNvPr>
          <p:cNvSpPr>
            <a:spLocks noGrp="1"/>
          </p:cNvSpPr>
          <p:nvPr/>
        </p:nvSpPr>
        <p:spPr>
          <a:xfrm>
            <a:off x="8686800" y="2381250"/>
            <a:ext cx="9144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22FEB6-EFB8-4362-B88E-28170C7336A8}"/>
              </a:ext>
            </a:extLst>
          </p:cNvPr>
          <p:cNvSpPr>
            <a:spLocks noGrp="1"/>
          </p:cNvSpPr>
          <p:nvPr/>
        </p:nvSpPr>
        <p:spPr>
          <a:xfrm>
            <a:off x="8686800" y="28194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eligibility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D22333F-E401-4091-AB9F-7AE1BCC7F195}"/>
              </a:ext>
            </a:extLst>
          </p:cNvPr>
          <p:cNvSpPr>
            <a:spLocks noGrp="1"/>
          </p:cNvSpPr>
          <p:nvPr/>
        </p:nvSpPr>
        <p:spPr>
          <a:xfrm>
            <a:off x="9696450" y="2095500"/>
            <a:ext cx="3362325" cy="1219200"/>
          </a:xfrm>
          <a:prstGeom prst="roundRect">
            <a:avLst>
              <a:gd name="adj" fmla="val 6250"/>
            </a:avLst>
          </a:prstGeom>
          <a:solidFill>
            <a:srgbClr val="EEF5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DFC8B2-319C-4DAE-9656-99E98A14FE9C}"/>
              </a:ext>
            </a:extLst>
          </p:cNvPr>
          <p:cNvSpPr>
            <a:spLocks noGrp="1"/>
          </p:cNvSpPr>
          <p:nvPr/>
        </p:nvSpPr>
        <p:spPr>
          <a:xfrm>
            <a:off x="9829800" y="238125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PresenceService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0DFBF4-C6DB-400C-8B8C-23E9B216C117}"/>
              </a:ext>
            </a:extLst>
          </p:cNvPr>
          <p:cNvSpPr>
            <a:spLocks noGrp="1"/>
          </p:cNvSpPr>
          <p:nvPr/>
        </p:nvSpPr>
        <p:spPr>
          <a:xfrm>
            <a:off x="9829800" y="2609850"/>
            <a:ext cx="31051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강의실 네트워크 매핑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threshold 판단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D35655-EEDA-4212-AA2B-60069DE96218}"/>
              </a:ext>
            </a:extLst>
          </p:cNvPr>
          <p:cNvSpPr>
            <a:spLocks noGrp="1"/>
          </p:cNvSpPr>
          <p:nvPr/>
        </p:nvSpPr>
        <p:spPr>
          <a:xfrm>
            <a:off x="13163550" y="2381250"/>
            <a:ext cx="9144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5D14D4-FE53-45F8-A706-B18E0BE98745}"/>
              </a:ext>
            </a:extLst>
          </p:cNvPr>
          <p:cNvSpPr>
            <a:spLocks noGrp="1"/>
          </p:cNvSpPr>
          <p:nvPr/>
        </p:nvSpPr>
        <p:spPr>
          <a:xfrm>
            <a:off x="13163550" y="28194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cache first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3809D3D-3A79-4839-9049-758203F8A849}"/>
              </a:ext>
            </a:extLst>
          </p:cNvPr>
          <p:cNvSpPr>
            <a:spLocks noGrp="1"/>
          </p:cNvSpPr>
          <p:nvPr/>
        </p:nvSpPr>
        <p:spPr>
          <a:xfrm>
            <a:off x="14163675" y="2095500"/>
            <a:ext cx="33623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A791D9-83B9-4016-94CE-141CB4052F22}"/>
              </a:ext>
            </a:extLst>
          </p:cNvPr>
          <p:cNvSpPr>
            <a:spLocks noGrp="1"/>
          </p:cNvSpPr>
          <p:nvPr/>
        </p:nvSpPr>
        <p:spPr>
          <a:xfrm>
            <a:off x="14306550" y="247650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AC26EC-CFD5-47AF-A0D5-6C1C14F7E186}"/>
              </a:ext>
            </a:extLst>
          </p:cNvPr>
          <p:cNvSpPr>
            <a:spLocks noGrp="1"/>
          </p:cNvSpPr>
          <p:nvPr/>
        </p:nvSpPr>
        <p:spPr>
          <a:xfrm>
            <a:off x="14306550" y="2724150"/>
            <a:ext cx="3105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60초 snapshot TTL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BF2BFE1-D78B-4B71-AD60-86F5AB460270}"/>
              </a:ext>
            </a:extLst>
          </p:cNvPr>
          <p:cNvSpPr>
            <a:spLocks noGrp="1"/>
          </p:cNvSpPr>
          <p:nvPr/>
        </p:nvSpPr>
        <p:spPr>
          <a:xfrm>
            <a:off x="762000" y="3409950"/>
            <a:ext cx="3257550" cy="1219200"/>
          </a:xfrm>
          <a:prstGeom prst="roundRect">
            <a:avLst>
              <a:gd name="adj" fmla="val 6250"/>
            </a:avLst>
          </a:prstGeom>
          <a:solidFill>
            <a:srgbClr val="EEF5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7E60B8-8FE7-4AB7-A520-846238D73579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2990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PresenceService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F94B5F-9622-44F1-8B18-FE44B50686B7}"/>
              </a:ext>
            </a:extLst>
          </p:cNvPr>
          <p:cNvSpPr>
            <a:spLocks noGrp="1"/>
          </p:cNvSpPr>
          <p:nvPr/>
        </p:nvSpPr>
        <p:spPr>
          <a:xfrm>
            <a:off x="895350" y="3924300"/>
            <a:ext cx="2990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cache miss/stale 시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장비별 명령 실행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B58C94-8642-4066-9182-2BDD7A4970E9}"/>
              </a:ext>
            </a:extLst>
          </p:cNvPr>
          <p:cNvSpPr>
            <a:spLocks noGrp="1"/>
          </p:cNvSpPr>
          <p:nvPr/>
        </p:nvSpPr>
        <p:spPr>
          <a:xfrm>
            <a:off x="4114800" y="3695700"/>
            <a:ext cx="1143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0403B3-F976-46EC-8911-52B7000ABDCC}"/>
              </a:ext>
            </a:extLst>
          </p:cNvPr>
          <p:cNvSpPr>
            <a:spLocks noGrp="1"/>
          </p:cNvSpPr>
          <p:nvPr/>
        </p:nvSpPr>
        <p:spPr>
          <a:xfrm>
            <a:off x="4114800" y="4133850"/>
            <a:ext cx="1143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SSH query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BB61590-D89D-47E1-B221-A9A0635B6D83}"/>
              </a:ext>
            </a:extLst>
          </p:cNvPr>
          <p:cNvSpPr>
            <a:spLocks noGrp="1"/>
          </p:cNvSpPr>
          <p:nvPr/>
        </p:nvSpPr>
        <p:spPr>
          <a:xfrm>
            <a:off x="5334000" y="3409950"/>
            <a:ext cx="3257550" cy="1219200"/>
          </a:xfrm>
          <a:prstGeom prst="roundRect">
            <a:avLst>
              <a:gd name="adj" fmla="val 6250"/>
            </a:avLst>
          </a:prstGeom>
          <a:solidFill>
            <a:srgbClr val="ECF8F1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319446-77A4-47BF-8254-28126C9435B7}"/>
              </a:ext>
            </a:extLst>
          </p:cNvPr>
          <p:cNvSpPr>
            <a:spLocks noGrp="1"/>
          </p:cNvSpPr>
          <p:nvPr/>
        </p:nvSpPr>
        <p:spPr>
          <a:xfrm>
            <a:off x="5467350" y="3790950"/>
            <a:ext cx="2990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OpenWrt 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632F43-AFC8-4099-91F8-1032688E554D}"/>
              </a:ext>
            </a:extLst>
          </p:cNvPr>
          <p:cNvSpPr>
            <a:spLocks noGrp="1"/>
          </p:cNvSpPr>
          <p:nvPr/>
        </p:nvSpPr>
        <p:spPr>
          <a:xfrm>
            <a:off x="5467350" y="4038600"/>
            <a:ext cx="2990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iwinfo / ubus / station dump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E3B9CE-5021-47A0-8422-544FB9876A7B}"/>
              </a:ext>
            </a:extLst>
          </p:cNvPr>
          <p:cNvSpPr>
            <a:spLocks noGrp="1"/>
          </p:cNvSpPr>
          <p:nvPr/>
        </p:nvSpPr>
        <p:spPr>
          <a:xfrm>
            <a:off x="8686800" y="3695700"/>
            <a:ext cx="1143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A110C7-57D5-4C6D-B774-676B21E8C9E3}"/>
              </a:ext>
            </a:extLst>
          </p:cNvPr>
          <p:cNvSpPr>
            <a:spLocks noGrp="1"/>
          </p:cNvSpPr>
          <p:nvPr/>
        </p:nvSpPr>
        <p:spPr>
          <a:xfrm>
            <a:off x="8686800" y="4133850"/>
            <a:ext cx="1143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station list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AE56E04-859F-4452-869C-E84B7522954F}"/>
              </a:ext>
            </a:extLst>
          </p:cNvPr>
          <p:cNvSpPr>
            <a:spLocks noGrp="1"/>
          </p:cNvSpPr>
          <p:nvPr/>
        </p:nvSpPr>
        <p:spPr>
          <a:xfrm>
            <a:off x="9906000" y="3409950"/>
            <a:ext cx="3257550" cy="1219200"/>
          </a:xfrm>
          <a:prstGeom prst="roundRect">
            <a:avLst>
              <a:gd name="adj" fmla="val 6250"/>
            </a:avLst>
          </a:prstGeom>
          <a:solidFill>
            <a:srgbClr val="ECF8F1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F55FFC-3D53-4AD9-A244-C4E592D644E7}"/>
              </a:ext>
            </a:extLst>
          </p:cNvPr>
          <p:cNvSpPr>
            <a:spLocks noGrp="1"/>
          </p:cNvSpPr>
          <p:nvPr/>
        </p:nvSpPr>
        <p:spPr>
          <a:xfrm>
            <a:off x="10039350" y="3695700"/>
            <a:ext cx="2990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PresenceService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3D352E-C05F-4388-8499-0F461050A2B0}"/>
              </a:ext>
            </a:extLst>
          </p:cNvPr>
          <p:cNvSpPr>
            <a:spLocks noGrp="1"/>
          </p:cNvSpPr>
          <p:nvPr/>
        </p:nvSpPr>
        <p:spPr>
          <a:xfrm>
            <a:off x="10039350" y="3924300"/>
            <a:ext cx="2990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MAC · signal · last seen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정규화 evidence 생성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BA483A-24F2-44ED-BC70-E6193E3D95C7}"/>
              </a:ext>
            </a:extLst>
          </p:cNvPr>
          <p:cNvSpPr>
            <a:spLocks noGrp="1"/>
          </p:cNvSpPr>
          <p:nvPr/>
        </p:nvSpPr>
        <p:spPr>
          <a:xfrm>
            <a:off x="13258800" y="3695700"/>
            <a:ext cx="9144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0014191-63D5-44B0-B541-764EE83EF766}"/>
              </a:ext>
            </a:extLst>
          </p:cNvPr>
          <p:cNvSpPr>
            <a:spLocks noGrp="1"/>
          </p:cNvSpPr>
          <p:nvPr/>
        </p:nvSpPr>
        <p:spPr>
          <a:xfrm>
            <a:off x="13258800" y="413385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write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51220A0-0369-4D22-B2DE-176EE7293F23}"/>
              </a:ext>
            </a:extLst>
          </p:cNvPr>
          <p:cNvSpPr>
            <a:spLocks noGrp="1"/>
          </p:cNvSpPr>
          <p:nvPr/>
        </p:nvSpPr>
        <p:spPr>
          <a:xfrm>
            <a:off x="14268450" y="3409950"/>
            <a:ext cx="32575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9FDB549-1D88-4892-9120-5A6535EDF848}"/>
              </a:ext>
            </a:extLst>
          </p:cNvPr>
          <p:cNvSpPr>
            <a:spLocks noGrp="1"/>
          </p:cNvSpPr>
          <p:nvPr/>
        </p:nvSpPr>
        <p:spPr>
          <a:xfrm>
            <a:off x="14401800" y="3695700"/>
            <a:ext cx="2990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73F096-38A7-478D-8C3A-9AD886B9BA18}"/>
              </a:ext>
            </a:extLst>
          </p:cNvPr>
          <p:cNvSpPr>
            <a:spLocks noGrp="1"/>
          </p:cNvSpPr>
          <p:nvPr/>
        </p:nvSpPr>
        <p:spPr>
          <a:xfrm>
            <a:off x="14401800" y="3924300"/>
            <a:ext cx="2990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snapshot 저장 후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동시 요청 재사용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A482371-4766-466B-8326-D0B220210347}"/>
              </a:ext>
            </a:extLst>
          </p:cNvPr>
          <p:cNvSpPr>
            <a:spLocks noGrp="1"/>
          </p:cNvSpPr>
          <p:nvPr/>
        </p:nvSpPr>
        <p:spPr>
          <a:xfrm>
            <a:off x="762000" y="4724400"/>
            <a:ext cx="54737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C33E867-2ECA-4C44-98EF-34CD31D69AF0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강의실 A 매핑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879BBAA-E11D-4735-B78B-BFCBF953EACE}"/>
              </a:ext>
            </a:extLst>
          </p:cNvPr>
          <p:cNvSpPr>
            <a:spLocks noGrp="1"/>
          </p:cNvSpPr>
          <p:nvPr/>
        </p:nvSpPr>
        <p:spPr>
          <a:xfrm>
            <a:off x="952500" y="5257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23165F3-AF1F-46C3-8EAE-729945DD6B4C}"/>
              </a:ext>
            </a:extLst>
          </p:cNvPr>
          <p:cNvSpPr>
            <a:spLocks noGrp="1"/>
          </p:cNvSpPr>
          <p:nvPr/>
        </p:nvSpPr>
        <p:spPr>
          <a:xfrm>
            <a:off x="1200150" y="52578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AP A1에서 학생 단말 association 관측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AE1C236-126E-4AE4-907A-804183C85A28}"/>
              </a:ext>
            </a:extLst>
          </p:cNvPr>
          <p:cNvSpPr>
            <a:spLocks noGrp="1"/>
          </p:cNvSpPr>
          <p:nvPr/>
        </p:nvSpPr>
        <p:spPr>
          <a:xfrm>
            <a:off x="952500" y="55816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2703A9-EFB7-4113-BB90-2093E9EC8E5B}"/>
              </a:ext>
            </a:extLst>
          </p:cNvPr>
          <p:cNvSpPr>
            <a:spLocks noGrp="1"/>
          </p:cNvSpPr>
          <p:nvPr/>
        </p:nvSpPr>
        <p:spPr>
          <a:xfrm>
            <a:off x="1200150" y="55816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classroom_networks 기준으로 강의실과 연결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1ABDFFE-9349-4064-B504-0A2084E506B3}"/>
              </a:ext>
            </a:extLst>
          </p:cNvPr>
          <p:cNvSpPr>
            <a:spLocks noGrp="1"/>
          </p:cNvSpPr>
          <p:nvPr/>
        </p:nvSpPr>
        <p:spPr>
          <a:xfrm>
            <a:off x="6407150" y="4724400"/>
            <a:ext cx="54737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34D098-6C29-410F-A9DD-41C35F463317}"/>
              </a:ext>
            </a:extLst>
          </p:cNvPr>
          <p:cNvSpPr>
            <a:spLocks noGrp="1"/>
          </p:cNvSpPr>
          <p:nvPr/>
        </p:nvSpPr>
        <p:spPr>
          <a:xfrm>
            <a:off x="6591300" y="48768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강의실 B 매핑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8CBD974-49A3-4EC4-8BC6-EB6C9BB3155E}"/>
              </a:ext>
            </a:extLst>
          </p:cNvPr>
          <p:cNvSpPr>
            <a:spLocks noGrp="1"/>
          </p:cNvSpPr>
          <p:nvPr/>
        </p:nvSpPr>
        <p:spPr>
          <a:xfrm>
            <a:off x="6591300" y="5257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5AF298A-CC00-4F6F-B7F4-48AFB24C4E96}"/>
              </a:ext>
            </a:extLst>
          </p:cNvPr>
          <p:cNvSpPr>
            <a:spLocks noGrp="1"/>
          </p:cNvSpPr>
          <p:nvPr/>
        </p:nvSpPr>
        <p:spPr>
          <a:xfrm>
            <a:off x="6838950" y="52578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여러 AP가 같은 강의실에 매핑될 수 있음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5F188E9-4A90-480B-9927-9EDB2DCC11AA}"/>
              </a:ext>
            </a:extLst>
          </p:cNvPr>
          <p:cNvSpPr>
            <a:spLocks noGrp="1"/>
          </p:cNvSpPr>
          <p:nvPr/>
        </p:nvSpPr>
        <p:spPr>
          <a:xfrm>
            <a:off x="6591300" y="55816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499CC1-DB49-4C55-81BC-9CD56C824784}"/>
              </a:ext>
            </a:extLst>
          </p:cNvPr>
          <p:cNvSpPr>
            <a:spLocks noGrp="1"/>
          </p:cNvSpPr>
          <p:nvPr/>
        </p:nvSpPr>
        <p:spPr>
          <a:xfrm>
            <a:off x="6838950" y="55816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snapshot은 강의실 단위 evidence로 정규화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9AA5649-D81D-45E5-89B7-DD98EDE9F9C1}"/>
              </a:ext>
            </a:extLst>
          </p:cNvPr>
          <p:cNvSpPr>
            <a:spLocks noGrp="1"/>
          </p:cNvSpPr>
          <p:nvPr/>
        </p:nvSpPr>
        <p:spPr>
          <a:xfrm>
            <a:off x="12052300" y="4724400"/>
            <a:ext cx="54737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47338E2-B017-4091-A61D-6660BDB96470}"/>
              </a:ext>
            </a:extLst>
          </p:cNvPr>
          <p:cNvSpPr>
            <a:spLocks noGrp="1"/>
          </p:cNvSpPr>
          <p:nvPr/>
        </p:nvSpPr>
        <p:spPr>
          <a:xfrm>
            <a:off x="12249150" y="48768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강의실 C 매핑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296F52E-FE7B-412D-ACDD-242461DA74FA}"/>
              </a:ext>
            </a:extLst>
          </p:cNvPr>
          <p:cNvSpPr>
            <a:spLocks noGrp="1"/>
          </p:cNvSpPr>
          <p:nvPr/>
        </p:nvSpPr>
        <p:spPr>
          <a:xfrm>
            <a:off x="12249150" y="5257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5301C5B-B312-4013-A1B3-47455FB75024}"/>
              </a:ext>
            </a:extLst>
          </p:cNvPr>
          <p:cNvSpPr>
            <a:spLocks noGrp="1"/>
          </p:cNvSpPr>
          <p:nvPr/>
        </p:nvSpPr>
        <p:spPr>
          <a:xfrm>
            <a:off x="12496800" y="52578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MAC, signal, last seen을 기준으로 판단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8885789-6D5E-4F0C-928E-678EF6C68FC4}"/>
              </a:ext>
            </a:extLst>
          </p:cNvPr>
          <p:cNvSpPr>
            <a:spLocks noGrp="1"/>
          </p:cNvSpPr>
          <p:nvPr/>
        </p:nvSpPr>
        <p:spPr>
          <a:xfrm>
            <a:off x="12249150" y="55816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53117D-73B6-4B53-9897-054F1FA309F4}"/>
              </a:ext>
            </a:extLst>
          </p:cNvPr>
          <p:cNvSpPr>
            <a:spLocks noGrp="1"/>
          </p:cNvSpPr>
          <p:nvPr/>
        </p:nvSpPr>
        <p:spPr>
          <a:xfrm>
            <a:off x="12496800" y="55816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랜덤 MAC과 출력 차이는 현장 검증 대상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080B777-B338-40AF-9F57-95DF36B7B554}"/>
              </a:ext>
            </a:extLst>
          </p:cNvPr>
          <p:cNvSpPr>
            <a:spLocks noGrp="1"/>
          </p:cNvSpPr>
          <p:nvPr/>
        </p:nvSpPr>
        <p:spPr>
          <a:xfrm>
            <a:off x="762000" y="66484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102A4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142389A-8F09-4542-ABDE-E9E0B790602A}"/>
              </a:ext>
            </a:extLst>
          </p:cNvPr>
          <p:cNvSpPr>
            <a:spLocks noGrp="1"/>
          </p:cNvSpPr>
          <p:nvPr/>
        </p:nvSpPr>
        <p:spPr>
          <a:xfrm>
            <a:off x="895350" y="6838950"/>
            <a:ext cx="2590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DB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83A8421-B918-4B1F-A041-7E3EAD0A4F3E}"/>
              </a:ext>
            </a:extLst>
          </p:cNvPr>
          <p:cNvSpPr>
            <a:spLocks noGrp="1"/>
          </p:cNvSpPr>
          <p:nvPr/>
        </p:nvSpPr>
        <p:spPr>
          <a:xfrm>
            <a:off x="895350" y="7067550"/>
            <a:ext cx="25908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registered_devices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classroom_networks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attendance_sessions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33B121C-EF77-4DEE-9951-6E5DD88C8031}"/>
              </a:ext>
            </a:extLst>
          </p:cNvPr>
          <p:cNvSpPr>
            <a:spLocks noGrp="1"/>
          </p:cNvSpPr>
          <p:nvPr/>
        </p:nvSpPr>
        <p:spPr>
          <a:xfrm>
            <a:off x="3714750" y="6934200"/>
            <a:ext cx="6858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9C2E19D-890B-4C8C-9F6B-BC218415F940}"/>
              </a:ext>
            </a:extLst>
          </p:cNvPr>
          <p:cNvSpPr>
            <a:spLocks noGrp="1"/>
          </p:cNvSpPr>
          <p:nvPr/>
        </p:nvSpPr>
        <p:spPr>
          <a:xfrm>
            <a:off x="3714750" y="7372350"/>
            <a:ext cx="685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join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4EDBD2B-CFEB-4DBD-AD34-BCDE2D963ED6}"/>
              </a:ext>
            </a:extLst>
          </p:cNvPr>
          <p:cNvSpPr>
            <a:spLocks noGrp="1"/>
          </p:cNvSpPr>
          <p:nvPr/>
        </p:nvSpPr>
        <p:spPr>
          <a:xfrm>
            <a:off x="4495800" y="6648450"/>
            <a:ext cx="3714750" cy="1219200"/>
          </a:xfrm>
          <a:prstGeom prst="roundRect">
            <a:avLst>
              <a:gd name="adj" fmla="val 6250"/>
            </a:avLst>
          </a:prstGeom>
          <a:solidFill>
            <a:srgbClr val="EEF5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5CCC18E-0F6B-4807-92B4-CCB2AE99F235}"/>
              </a:ext>
            </a:extLst>
          </p:cNvPr>
          <p:cNvSpPr>
            <a:spLocks noGrp="1"/>
          </p:cNvSpPr>
          <p:nvPr/>
        </p:nvSpPr>
        <p:spPr>
          <a:xfrm>
            <a:off x="4629150" y="693420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Backend 최종 판단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12765AA-72FB-418B-86C1-1914926948E3}"/>
              </a:ext>
            </a:extLst>
          </p:cNvPr>
          <p:cNvSpPr>
            <a:spLocks noGrp="1"/>
          </p:cNvSpPr>
          <p:nvPr/>
        </p:nvSpPr>
        <p:spPr>
          <a:xfrm>
            <a:off x="4629150" y="7162800"/>
            <a:ext cx="3448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eligible / reasonCode / evidence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record·audit 저장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0B980B6-E5E4-45DB-BB08-B68849946A28}"/>
              </a:ext>
            </a:extLst>
          </p:cNvPr>
          <p:cNvSpPr>
            <a:spLocks noGrp="1"/>
          </p:cNvSpPr>
          <p:nvPr/>
        </p:nvSpPr>
        <p:spPr>
          <a:xfrm>
            <a:off x="8305800" y="6934200"/>
            <a:ext cx="6858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4C7C34B-1331-4CC3-B35F-9CE551B8574C}"/>
              </a:ext>
            </a:extLst>
          </p:cNvPr>
          <p:cNvSpPr>
            <a:spLocks noGrp="1"/>
          </p:cNvSpPr>
          <p:nvPr/>
        </p:nvSpPr>
        <p:spPr>
          <a:xfrm>
            <a:off x="8305800" y="7372350"/>
            <a:ext cx="685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status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6EFE71B9-48B5-4B90-B573-FAD4C99A9D8D}"/>
              </a:ext>
            </a:extLst>
          </p:cNvPr>
          <p:cNvSpPr>
            <a:spLocks noGrp="1"/>
          </p:cNvSpPr>
          <p:nvPr/>
        </p:nvSpPr>
        <p:spPr>
          <a:xfrm>
            <a:off x="9086850" y="66484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9F68BAB-B63D-45BB-ABCE-09A369525983}"/>
              </a:ext>
            </a:extLst>
          </p:cNvPr>
          <p:cNvSpPr>
            <a:spLocks noGrp="1"/>
          </p:cNvSpPr>
          <p:nvPr/>
        </p:nvSpPr>
        <p:spPr>
          <a:xfrm>
            <a:off x="9220200" y="6934200"/>
            <a:ext cx="2590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Front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E2B566B-42AA-436A-B44E-D5EDBF753707}"/>
              </a:ext>
            </a:extLst>
          </p:cNvPr>
          <p:cNvSpPr>
            <a:spLocks noGrp="1"/>
          </p:cNvSpPr>
          <p:nvPr/>
        </p:nvSpPr>
        <p:spPr>
          <a:xfrm>
            <a:off x="9220200" y="7162800"/>
            <a:ext cx="25908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학생·교수 화면에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허용/거부 사유 표시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A70BC8A2-2110-479A-ACC7-0D532B0E3519}"/>
              </a:ext>
            </a:extLst>
          </p:cNvPr>
          <p:cNvSpPr>
            <a:spLocks noGrp="1"/>
          </p:cNvSpPr>
          <p:nvPr/>
        </p:nvSpPr>
        <p:spPr>
          <a:xfrm>
            <a:off x="12039600" y="66484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53C6806-EA7F-49BA-AEC4-806D10BE0EA9}"/>
              </a:ext>
            </a:extLst>
          </p:cNvPr>
          <p:cNvSpPr>
            <a:spLocks noGrp="1"/>
          </p:cNvSpPr>
          <p:nvPr/>
        </p:nvSpPr>
        <p:spPr>
          <a:xfrm>
            <a:off x="12192000" y="6762750"/>
            <a:ext cx="2552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후속 계획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F44F5EF-4E98-4A63-B944-9FCF4CDA8880}"/>
              </a:ext>
            </a:extLst>
          </p:cNvPr>
          <p:cNvSpPr>
            <a:spLocks noGrp="1"/>
          </p:cNvSpPr>
          <p:nvPr/>
        </p:nvSpPr>
        <p:spPr>
          <a:xfrm>
            <a:off x="12192000" y="7048500"/>
            <a:ext cx="25527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push collector/adapter는 실 장비 검증 후 확정할 확장 경로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7D4A1EF1-54C3-4C0D-B7F6-2701FBE7DE3F}"/>
              </a:ext>
            </a:extLst>
          </p:cNvPr>
          <p:cNvSpPr>
            <a:spLocks noGrp="1"/>
          </p:cNvSpPr>
          <p:nvPr/>
        </p:nvSpPr>
        <p:spPr>
          <a:xfrm>
            <a:off x="762000" y="79629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D556AB6-7F92-4CB1-BF4D-A725D48CC7CA}"/>
              </a:ext>
            </a:extLst>
          </p:cNvPr>
          <p:cNvSpPr>
            <a:spLocks noGrp="1"/>
          </p:cNvSpPr>
          <p:nvPr/>
        </p:nvSpPr>
        <p:spPr>
          <a:xfrm>
            <a:off x="971550" y="82105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연결 의미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27931C6-3AAA-4FC0-A129-1B5C10EA4509}"/>
              </a:ext>
            </a:extLst>
          </p:cNvPr>
          <p:cNvSpPr>
            <a:spLocks noGrp="1"/>
          </p:cNvSpPr>
          <p:nvPr/>
        </p:nvSpPr>
        <p:spPr>
          <a:xfrm>
            <a:off x="2571750" y="82105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현재 구조는 Backend가 PresenceService에 확인을 요청하고, PresenceService가 캐시 우선 조회 후 필요할 때 OpenWrt station list를 직접 수집하는 흐름입니다.</a:t>
            </a:r>
          </a:p>
        </p:txBody>
      </p:sp>
    </p:spTree>
    <p:extLst>
      <p:ext uri="{BB962C8B-B14F-4D97-AF65-F5344CB8AC3E}">
        <p14:creationId xmlns:p14="http://schemas.microsoft.com/office/powerpoint/2010/main" val="282773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CFDEE5A-F630-4451-8781-EDC5EFB7F5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8F61C6-A6AB-4F3E-B2A4-2FBD05C625FE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76200" cy="7543800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" y="685800"/>
            <a:ext cx="476250" cy="476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F1B02C-9E9C-45C1-B8C9-8477DB7A0588}"/>
              </a:ext>
            </a:extLst>
          </p:cNvPr>
          <p:cNvSpPr>
            <a:spLocks noGrp="1"/>
          </p:cNvSpPr>
          <p:nvPr/>
        </p:nvSpPr>
        <p:spPr>
          <a:xfrm>
            <a:off x="1714500" y="81915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FAD81-ADCC-4786-981F-E914F1340267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1049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2D20D-53CD-430D-8D0D-933FE16ABEC2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110490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사용자의 요구사항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4A0FF7-316A-474A-A826-2D97F87286E7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1104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1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학생·교수·서비스관리자 기능을 구현 상태와 함께 정리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CD18B6-112A-4F78-9584-A8ED8E07F3F8}"/>
              </a:ext>
            </a:extLst>
          </p:cNvPr>
          <p:cNvSpPr>
            <a:spLocks noGrp="1"/>
          </p:cNvSpPr>
          <p:nvPr/>
        </p:nvSpPr>
        <p:spPr>
          <a:xfrm>
            <a:off x="11049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123A63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6B40D3-8166-4D49-9167-A69831022514}"/>
              </a:ext>
            </a:extLst>
          </p:cNvPr>
          <p:cNvSpPr>
            <a:spLocks noGrp="1"/>
          </p:cNvSpPr>
          <p:nvPr/>
        </p:nvSpPr>
        <p:spPr>
          <a:xfrm>
            <a:off x="129540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1DEE6-F55B-44E2-A1D8-E10F160746CC}"/>
              </a:ext>
            </a:extLst>
          </p:cNvPr>
          <p:cNvSpPr>
            <a:spLocks noGrp="1"/>
          </p:cNvSpPr>
          <p:nvPr/>
        </p:nvSpPr>
        <p:spPr>
          <a:xfrm>
            <a:off x="129540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675DB1-C2D0-491F-AAAD-BA62DFF62710}"/>
              </a:ext>
            </a:extLst>
          </p:cNvPr>
          <p:cNvSpPr>
            <a:spLocks noGrp="1"/>
          </p:cNvSpPr>
          <p:nvPr/>
        </p:nvSpPr>
        <p:spPr>
          <a:xfrm>
            <a:off x="129540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강의·공지·단말·출석·시험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EFECA25-16CB-464C-9B27-CE693C9383D3}"/>
              </a:ext>
            </a:extLst>
          </p:cNvPr>
          <p:cNvSpPr>
            <a:spLocks noGrp="1"/>
          </p:cNvSpPr>
          <p:nvPr/>
        </p:nvSpPr>
        <p:spPr>
          <a:xfrm>
            <a:off x="49022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E3154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9C4319-CD45-4F3B-B4D0-46A4EC7D4391}"/>
              </a:ext>
            </a:extLst>
          </p:cNvPr>
          <p:cNvSpPr>
            <a:spLocks noGrp="1"/>
          </p:cNvSpPr>
          <p:nvPr/>
        </p:nvSpPr>
        <p:spPr>
          <a:xfrm>
            <a:off x="508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67B7A5-8B95-4056-8A7E-FCC2176235B7}"/>
              </a:ext>
            </a:extLst>
          </p:cNvPr>
          <p:cNvSpPr>
            <a:spLocks noGrp="1"/>
          </p:cNvSpPr>
          <p:nvPr/>
        </p:nvSpPr>
        <p:spPr>
          <a:xfrm>
            <a:off x="508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교수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E47254-EEDB-4293-8C4B-0841A7361FB3}"/>
              </a:ext>
            </a:extLst>
          </p:cNvPr>
          <p:cNvSpPr>
            <a:spLocks noGrp="1"/>
          </p:cNvSpPr>
          <p:nvPr/>
        </p:nvSpPr>
        <p:spPr>
          <a:xfrm>
            <a:off x="508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공지·시험·출석 운영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7097CD2-B4F4-4880-95E1-0E9F41BF89D8}"/>
              </a:ext>
            </a:extLst>
          </p:cNvPr>
          <p:cNvSpPr>
            <a:spLocks noGrp="1"/>
          </p:cNvSpPr>
          <p:nvPr/>
        </p:nvSpPr>
        <p:spPr>
          <a:xfrm>
            <a:off x="86995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A2947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39DB3C-4177-4284-B6C1-D6BCDC68A61D}"/>
              </a:ext>
            </a:extLst>
          </p:cNvPr>
          <p:cNvSpPr>
            <a:spLocks noGrp="1"/>
          </p:cNvSpPr>
          <p:nvPr/>
        </p:nvSpPr>
        <p:spPr>
          <a:xfrm>
            <a:off x="889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65AAA6-02D1-4412-A0CE-28345F418D2F}"/>
              </a:ext>
            </a:extLst>
          </p:cNvPr>
          <p:cNvSpPr>
            <a:spLocks noGrp="1"/>
          </p:cNvSpPr>
          <p:nvPr/>
        </p:nvSpPr>
        <p:spPr>
          <a:xfrm>
            <a:off x="889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관리자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6892CA-4891-49D3-94E1-0EE5D2810EB5}"/>
              </a:ext>
            </a:extLst>
          </p:cNvPr>
          <p:cNvSpPr>
            <a:spLocks noGrp="1"/>
          </p:cNvSpPr>
          <p:nvPr/>
        </p:nvSpPr>
        <p:spPr>
          <a:xfrm>
            <a:off x="889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사용자·강의실·AP mapping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F56EB0-80D9-4498-99F7-2CE52AE6E2CC}"/>
              </a:ext>
            </a:extLst>
          </p:cNvPr>
          <p:cNvSpPr>
            <a:spLocks noGrp="1"/>
          </p:cNvSpPr>
          <p:nvPr/>
        </p:nvSpPr>
        <p:spPr>
          <a:xfrm>
            <a:off x="16383000" y="9772650"/>
            <a:ext cx="857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12 / 42</a:t>
            </a:r>
          </a:p>
        </p:txBody>
      </p:sp>
    </p:spTree>
    <p:extLst>
      <p:ext uri="{BB962C8B-B14F-4D97-AF65-F5344CB8AC3E}">
        <p14:creationId xmlns:p14="http://schemas.microsoft.com/office/powerpoint/2010/main" val="201830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41DDF8D5-D2CE-4C3D-8388-54482FEF68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A20A86-A604-4259-8E59-F18166F97CD6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CBCB07-81E0-4DC9-A942-539490F19BDC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기존 기능 조사 - 학생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53312D-23BA-4B78-9C2A-A04E623239E5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학생은 학습 준비, 학습·평가, 학사 정보 확인 흐름을 한 화면 체계로 필요로 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2E6B3-CDA5-4352-BC7F-366A7FDCC96F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0555E47-E4ED-4649-8A6A-32C42E91DA85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E6236A-9C14-4E60-BD2E-9FDF82C3B103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13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C28D7AE-5E63-4818-8730-D89251FF9A78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54737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14D2B3-C9C9-4637-801E-ED76C79D05B1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학습 준비 및 수강관리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148B0F-5FEB-4D90-B81D-03F5797F0033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832CBC-3705-41E9-AC3A-301029F1291B}"/>
              </a:ext>
            </a:extLst>
          </p:cNvPr>
          <p:cNvSpPr>
            <a:spLocks noGrp="1"/>
          </p:cNvSpPr>
          <p:nvPr/>
        </p:nvSpPr>
        <p:spPr>
          <a:xfrm>
            <a:off x="1200150" y="26289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회원가입 / 로그인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EA8701-50F5-462F-906C-85AC9108813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F5117F-E1FE-4F39-A722-31CF56416481}"/>
              </a:ext>
            </a:extLst>
          </p:cNvPr>
          <p:cNvSpPr>
            <a:spLocks noGrp="1"/>
          </p:cNvSpPr>
          <p:nvPr/>
        </p:nvSpPr>
        <p:spPr>
          <a:xfrm>
            <a:off x="1200150" y="29527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강의 목록 보기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53CE3B-ECA9-41E0-BA48-2720471027CE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064E1C-AC1B-491B-B0CA-6F463D48FB08}"/>
              </a:ext>
            </a:extLst>
          </p:cNvPr>
          <p:cNvSpPr>
            <a:spLocks noGrp="1"/>
          </p:cNvSpPr>
          <p:nvPr/>
        </p:nvSpPr>
        <p:spPr>
          <a:xfrm>
            <a:off x="1200150" y="32766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수강신청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5C37A70-17AD-4FE5-95CC-74B0FDE37E3C}"/>
              </a:ext>
            </a:extLst>
          </p:cNvPr>
          <p:cNvSpPr>
            <a:spLocks noGrp="1"/>
          </p:cNvSpPr>
          <p:nvPr/>
        </p:nvSpPr>
        <p:spPr>
          <a:xfrm>
            <a:off x="6407150" y="2095500"/>
            <a:ext cx="54737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F6BD4B-F2E0-4674-84AE-079A19213CD3}"/>
              </a:ext>
            </a:extLst>
          </p:cNvPr>
          <p:cNvSpPr>
            <a:spLocks noGrp="1"/>
          </p:cNvSpPr>
          <p:nvPr/>
        </p:nvSpPr>
        <p:spPr>
          <a:xfrm>
            <a:off x="6591300" y="2247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학습 및 평가 활동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30F4F7-CC98-463C-89EC-95E64E1D57A7}"/>
              </a:ext>
            </a:extLst>
          </p:cNvPr>
          <p:cNvSpPr>
            <a:spLocks noGrp="1"/>
          </p:cNvSpPr>
          <p:nvPr/>
        </p:nvSpPr>
        <p:spPr>
          <a:xfrm>
            <a:off x="6591300" y="2628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7B256A-18E0-4B69-B409-E5B1CA128323}"/>
              </a:ext>
            </a:extLst>
          </p:cNvPr>
          <p:cNvSpPr>
            <a:spLocks noGrp="1"/>
          </p:cNvSpPr>
          <p:nvPr/>
        </p:nvSpPr>
        <p:spPr>
          <a:xfrm>
            <a:off x="6838950" y="26289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강의 영상 시청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C0254C-9D20-4CD5-B8A4-F794F6D2524E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7EB086-663B-4204-803C-96DA8957EAF7}"/>
              </a:ext>
            </a:extLst>
          </p:cNvPr>
          <p:cNvSpPr>
            <a:spLocks noGrp="1"/>
          </p:cNvSpPr>
          <p:nvPr/>
        </p:nvSpPr>
        <p:spPr>
          <a:xfrm>
            <a:off x="6838950" y="29527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강의 자료 다운로드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058979-815F-4440-BC51-5903C24D014F}"/>
              </a:ext>
            </a:extLst>
          </p:cNvPr>
          <p:cNvSpPr>
            <a:spLocks noGrp="1"/>
          </p:cNvSpPr>
          <p:nvPr/>
        </p:nvSpPr>
        <p:spPr>
          <a:xfrm>
            <a:off x="6591300" y="3276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102D86-8D10-4B2E-9E02-763756BC28B7}"/>
              </a:ext>
            </a:extLst>
          </p:cNvPr>
          <p:cNvSpPr>
            <a:spLocks noGrp="1"/>
          </p:cNvSpPr>
          <p:nvPr/>
        </p:nvSpPr>
        <p:spPr>
          <a:xfrm>
            <a:off x="6838950" y="32766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과제 제출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28F338-BFFE-4045-A094-77A6468B16F5}"/>
              </a:ext>
            </a:extLst>
          </p:cNvPr>
          <p:cNvSpPr>
            <a:spLocks noGrp="1"/>
          </p:cNvSpPr>
          <p:nvPr/>
        </p:nvSpPr>
        <p:spPr>
          <a:xfrm>
            <a:off x="6591300" y="36004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FDA97D-0319-47D1-B84F-F37CBA162432}"/>
              </a:ext>
            </a:extLst>
          </p:cNvPr>
          <p:cNvSpPr>
            <a:spLocks noGrp="1"/>
          </p:cNvSpPr>
          <p:nvPr/>
        </p:nvSpPr>
        <p:spPr>
          <a:xfrm>
            <a:off x="6838950" y="36004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퀴즈 / 시험 응시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501E98-22B7-40EC-9FA6-309BDB5BE5C2}"/>
              </a:ext>
            </a:extLst>
          </p:cNvPr>
          <p:cNvSpPr>
            <a:spLocks noGrp="1"/>
          </p:cNvSpPr>
          <p:nvPr/>
        </p:nvSpPr>
        <p:spPr>
          <a:xfrm>
            <a:off x="6591300" y="39243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4D8D7F-7C3E-4213-BF43-2DF839F9456C}"/>
              </a:ext>
            </a:extLst>
          </p:cNvPr>
          <p:cNvSpPr>
            <a:spLocks noGrp="1"/>
          </p:cNvSpPr>
          <p:nvPr/>
        </p:nvSpPr>
        <p:spPr>
          <a:xfrm>
            <a:off x="6838950" y="39243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출석 확인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563CFAD-80DB-4E14-AAF6-F5261EE9C4A5}"/>
              </a:ext>
            </a:extLst>
          </p:cNvPr>
          <p:cNvSpPr>
            <a:spLocks noGrp="1"/>
          </p:cNvSpPr>
          <p:nvPr/>
        </p:nvSpPr>
        <p:spPr>
          <a:xfrm>
            <a:off x="12052300" y="2095500"/>
            <a:ext cx="54737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8936D9-AD59-454A-99F0-DEDCBCE5B1C8}"/>
              </a:ext>
            </a:extLst>
          </p:cNvPr>
          <p:cNvSpPr>
            <a:spLocks noGrp="1"/>
          </p:cNvSpPr>
          <p:nvPr/>
        </p:nvSpPr>
        <p:spPr>
          <a:xfrm>
            <a:off x="12249150" y="2247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학사 정보 및 소통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79D118-FBCE-4F28-8676-980575FBFE14}"/>
              </a:ext>
            </a:extLst>
          </p:cNvPr>
          <p:cNvSpPr>
            <a:spLocks noGrp="1"/>
          </p:cNvSpPr>
          <p:nvPr/>
        </p:nvSpPr>
        <p:spPr>
          <a:xfrm>
            <a:off x="12249150" y="2628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EB1198-CE45-4075-B3E5-F965DFA5DBE5}"/>
              </a:ext>
            </a:extLst>
          </p:cNvPr>
          <p:cNvSpPr>
            <a:spLocks noGrp="1"/>
          </p:cNvSpPr>
          <p:nvPr/>
        </p:nvSpPr>
        <p:spPr>
          <a:xfrm>
            <a:off x="12496800" y="26289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공지사항 확인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3A717F-900D-42F4-A677-5BDF5EA1725F}"/>
              </a:ext>
            </a:extLst>
          </p:cNvPr>
          <p:cNvSpPr>
            <a:spLocks noGrp="1"/>
          </p:cNvSpPr>
          <p:nvPr/>
        </p:nvSpPr>
        <p:spPr>
          <a:xfrm>
            <a:off x="12249150" y="2952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82B78A-AEAF-40AA-90FF-0B7E102902EC}"/>
              </a:ext>
            </a:extLst>
          </p:cNvPr>
          <p:cNvSpPr>
            <a:spLocks noGrp="1"/>
          </p:cNvSpPr>
          <p:nvPr/>
        </p:nvSpPr>
        <p:spPr>
          <a:xfrm>
            <a:off x="12496800" y="29527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질문 게시판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51E9B5-96A1-4EBF-9AC8-43E2B0ACFF78}"/>
              </a:ext>
            </a:extLst>
          </p:cNvPr>
          <p:cNvSpPr>
            <a:spLocks noGrp="1"/>
          </p:cNvSpPr>
          <p:nvPr/>
        </p:nvSpPr>
        <p:spPr>
          <a:xfrm>
            <a:off x="12249150" y="3276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5450A9-9040-470C-8562-6DA0C2B7159E}"/>
              </a:ext>
            </a:extLst>
          </p:cNvPr>
          <p:cNvSpPr>
            <a:spLocks noGrp="1"/>
          </p:cNvSpPr>
          <p:nvPr/>
        </p:nvSpPr>
        <p:spPr>
          <a:xfrm>
            <a:off x="12496800" y="32766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문의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C950F0-495F-4129-B5DC-A449F0D5CB4C}"/>
              </a:ext>
            </a:extLst>
          </p:cNvPr>
          <p:cNvSpPr>
            <a:spLocks noGrp="1"/>
          </p:cNvSpPr>
          <p:nvPr/>
        </p:nvSpPr>
        <p:spPr>
          <a:xfrm>
            <a:off x="12249150" y="36004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4AD140-AACD-479A-96E8-0FA331252236}"/>
              </a:ext>
            </a:extLst>
          </p:cNvPr>
          <p:cNvSpPr>
            <a:spLocks noGrp="1"/>
          </p:cNvSpPr>
          <p:nvPr/>
        </p:nvSpPr>
        <p:spPr>
          <a:xfrm>
            <a:off x="12496800" y="36004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성적 확인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5A0CF2C-875B-4286-9A3B-B48C157C1201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10370344" cy="2571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8536" y="5791200"/>
            <a:ext cx="3117273" cy="2381250"/>
          </a:xfrm>
          <a:prstGeom prst="roundRect">
            <a:avLst>
              <a:gd name="adj" fmla="val 1600"/>
            </a:avLst>
          </a:prstGeom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027160D-515F-41CB-8503-DA922D4DA028}"/>
              </a:ext>
            </a:extLst>
          </p:cNvPr>
          <p:cNvSpPr>
            <a:spLocks noGrp="1"/>
          </p:cNvSpPr>
          <p:nvPr/>
        </p:nvSpPr>
        <p:spPr>
          <a:xfrm>
            <a:off x="11303794" y="5695950"/>
            <a:ext cx="6222206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FB4D76-F515-4434-86AD-EFCBAB9E1582}"/>
              </a:ext>
            </a:extLst>
          </p:cNvPr>
          <p:cNvSpPr>
            <a:spLocks noGrp="1"/>
          </p:cNvSpPr>
          <p:nvPr/>
        </p:nvSpPr>
        <p:spPr>
          <a:xfrm>
            <a:off x="11487150" y="5848350"/>
            <a:ext cx="5848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현재 구현 상태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3A123A-539B-47AF-8057-DB7F251796EB}"/>
              </a:ext>
            </a:extLst>
          </p:cNvPr>
          <p:cNvSpPr>
            <a:spLocks noGrp="1"/>
          </p:cNvSpPr>
          <p:nvPr/>
        </p:nvSpPr>
        <p:spPr>
          <a:xfrm>
            <a:off x="11487150" y="6229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4AD1359-7C0B-4FE6-AB22-0A0E83A804F4}"/>
              </a:ext>
            </a:extLst>
          </p:cNvPr>
          <p:cNvSpPr>
            <a:spLocks noGrp="1"/>
          </p:cNvSpPr>
          <p:nvPr/>
        </p:nvSpPr>
        <p:spPr>
          <a:xfrm>
            <a:off x="11734800" y="6229350"/>
            <a:ext cx="5600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로그인, 강의 목록, 공지, 단말 관리, 재실성 eligibility 구현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68BF73-5541-4271-BE12-E7B15BBE03D4}"/>
              </a:ext>
            </a:extLst>
          </p:cNvPr>
          <p:cNvSpPr>
            <a:spLocks noGrp="1"/>
          </p:cNvSpPr>
          <p:nvPr/>
        </p:nvSpPr>
        <p:spPr>
          <a:xfrm>
            <a:off x="11487150" y="6553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CE0D2C-BBB8-4E61-9D05-3549C2838355}"/>
              </a:ext>
            </a:extLst>
          </p:cNvPr>
          <p:cNvSpPr>
            <a:spLocks noGrp="1"/>
          </p:cNvSpPr>
          <p:nvPr/>
        </p:nvSpPr>
        <p:spPr>
          <a:xfrm>
            <a:off x="11734800" y="6553200"/>
            <a:ext cx="5600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시험 목록/응시/제출은 로컬 MVP 완료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B32D00-EA98-4DC4-A5BE-D0512F30ED63}"/>
              </a:ext>
            </a:extLst>
          </p:cNvPr>
          <p:cNvSpPr>
            <a:spLocks noGrp="1"/>
          </p:cNvSpPr>
          <p:nvPr/>
        </p:nvSpPr>
        <p:spPr>
          <a:xfrm>
            <a:off x="11487150" y="6877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429E78-EA23-474B-9953-58E4100E0A9A}"/>
              </a:ext>
            </a:extLst>
          </p:cNvPr>
          <p:cNvSpPr>
            <a:spLocks noGrp="1"/>
          </p:cNvSpPr>
          <p:nvPr/>
        </p:nvSpPr>
        <p:spPr>
          <a:xfrm>
            <a:off x="11734800" y="6877050"/>
            <a:ext cx="5600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과제/성적/질문은 후속 계획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D36CC95-9E83-4CB0-A19D-A9ADEEBCE08F}"/>
              </a:ext>
            </a:extLst>
          </p:cNvPr>
          <p:cNvSpPr>
            <a:spLocks noGrp="1"/>
          </p:cNvSpPr>
          <p:nvPr/>
        </p:nvSpPr>
        <p:spPr>
          <a:xfrm>
            <a:off x="762000" y="84391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5A4668E-DBE0-489B-9AA7-55BF99F4F994}"/>
              </a:ext>
            </a:extLst>
          </p:cNvPr>
          <p:cNvSpPr>
            <a:spLocks noGrp="1"/>
          </p:cNvSpPr>
          <p:nvPr/>
        </p:nvSpPr>
        <p:spPr>
          <a:xfrm>
            <a:off x="971550" y="86868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요구사항 해석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CBECA2E-E7EB-41FC-A1A4-7F927EC88405}"/>
              </a:ext>
            </a:extLst>
          </p:cNvPr>
          <p:cNvSpPr>
            <a:spLocks noGrp="1"/>
          </p:cNvSpPr>
          <p:nvPr/>
        </p:nvSpPr>
        <p:spPr>
          <a:xfrm>
            <a:off x="2571750" y="86868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기존 LMS 기능을 모두 다시 만드는 것이 아니라, 출석·시험 신뢰성 강화에 필요한 학생 흐름부터 우선 완성합니다.</a:t>
            </a:r>
          </a:p>
        </p:txBody>
      </p:sp>
    </p:spTree>
    <p:extLst>
      <p:ext uri="{BB962C8B-B14F-4D97-AF65-F5344CB8AC3E}">
        <p14:creationId xmlns:p14="http://schemas.microsoft.com/office/powerpoint/2010/main" val="2055381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6669679-D03F-4B02-BE2D-EA5D1EC4AD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37B0E2-CAF1-4FF8-9CB0-3D5C4C5A912D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EB692-B78D-4FBA-820B-03C1CCAA971A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기존 기능 조사 - 교수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C20D0C-8130-4C3D-9F8C-D8D803A08C80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교수자는 콘텐츠 운영, 평가 관리, 수업 운영 상태 확인 기능이 필요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49992F-8193-4BB6-811E-3FAEA29F61E2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9AAEF6E-4F61-48D3-8702-3ABF34262068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6F2F47-7021-49F1-AF75-05FEA8590F10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14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C8648FB-6986-4839-A418-8399065D1C1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54737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D1DC2F-8F54-4136-B74A-C0B126B20A33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강의 운영 및 콘텐츠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64B97E-C126-427D-BACB-1592DD23BA1B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79F0A8-E25E-4738-8D92-9CBB86FB0F91}"/>
              </a:ext>
            </a:extLst>
          </p:cNvPr>
          <p:cNvSpPr>
            <a:spLocks noGrp="1"/>
          </p:cNvSpPr>
          <p:nvPr/>
        </p:nvSpPr>
        <p:spPr>
          <a:xfrm>
            <a:off x="1200150" y="26289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강의자료 업로드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A2FB3-9E8C-49E7-83D7-6375D85DF685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A168AD-DF12-4376-A7C3-FA8923C99B60}"/>
              </a:ext>
            </a:extLst>
          </p:cNvPr>
          <p:cNvSpPr>
            <a:spLocks noGrp="1"/>
          </p:cNvSpPr>
          <p:nvPr/>
        </p:nvSpPr>
        <p:spPr>
          <a:xfrm>
            <a:off x="1200150" y="29527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동영상 업로드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A7D525-5CC3-4374-9E94-3D8DA5284718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818A51-588D-4488-8C43-4F3C81A1CFD6}"/>
              </a:ext>
            </a:extLst>
          </p:cNvPr>
          <p:cNvSpPr>
            <a:spLocks noGrp="1"/>
          </p:cNvSpPr>
          <p:nvPr/>
        </p:nvSpPr>
        <p:spPr>
          <a:xfrm>
            <a:off x="1200150" y="32766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공지 작성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0F70926-6313-4C4D-A823-83326D8F8866}"/>
              </a:ext>
            </a:extLst>
          </p:cNvPr>
          <p:cNvSpPr>
            <a:spLocks noGrp="1"/>
          </p:cNvSpPr>
          <p:nvPr/>
        </p:nvSpPr>
        <p:spPr>
          <a:xfrm>
            <a:off x="6407150" y="2095500"/>
            <a:ext cx="54737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1D0C18-8609-42FB-AF2C-4629DD4FADB6}"/>
              </a:ext>
            </a:extLst>
          </p:cNvPr>
          <p:cNvSpPr>
            <a:spLocks noGrp="1"/>
          </p:cNvSpPr>
          <p:nvPr/>
        </p:nvSpPr>
        <p:spPr>
          <a:xfrm>
            <a:off x="6591300" y="2247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과제 및 평가 관리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793C66-DC41-486D-BD2B-1F2F0EC815DF}"/>
              </a:ext>
            </a:extLst>
          </p:cNvPr>
          <p:cNvSpPr>
            <a:spLocks noGrp="1"/>
          </p:cNvSpPr>
          <p:nvPr/>
        </p:nvSpPr>
        <p:spPr>
          <a:xfrm>
            <a:off x="6591300" y="2628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D404D9-515E-477C-8B41-AC77F910AD95}"/>
              </a:ext>
            </a:extLst>
          </p:cNvPr>
          <p:cNvSpPr>
            <a:spLocks noGrp="1"/>
          </p:cNvSpPr>
          <p:nvPr/>
        </p:nvSpPr>
        <p:spPr>
          <a:xfrm>
            <a:off x="6838950" y="26289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과제 생성 / 마감일 설정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C2A18D-A31B-4C2A-AC1F-81758667F0F2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2CBD7F-C768-4563-B87F-01CF3314F61C}"/>
              </a:ext>
            </a:extLst>
          </p:cNvPr>
          <p:cNvSpPr>
            <a:spLocks noGrp="1"/>
          </p:cNvSpPr>
          <p:nvPr/>
        </p:nvSpPr>
        <p:spPr>
          <a:xfrm>
            <a:off x="6838950" y="29527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시험 / 퀴즈 출제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80B60-38F4-48A0-B397-AE23107EB331}"/>
              </a:ext>
            </a:extLst>
          </p:cNvPr>
          <p:cNvSpPr>
            <a:spLocks noGrp="1"/>
          </p:cNvSpPr>
          <p:nvPr/>
        </p:nvSpPr>
        <p:spPr>
          <a:xfrm>
            <a:off x="6591300" y="3276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1ABE0D-8D6C-4CE5-B32E-E7869BB87997}"/>
              </a:ext>
            </a:extLst>
          </p:cNvPr>
          <p:cNvSpPr>
            <a:spLocks noGrp="1"/>
          </p:cNvSpPr>
          <p:nvPr/>
        </p:nvSpPr>
        <p:spPr>
          <a:xfrm>
            <a:off x="6838950" y="32766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학생 제출물 확인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5A56CA-B7AF-417D-8820-E682D50DC060}"/>
              </a:ext>
            </a:extLst>
          </p:cNvPr>
          <p:cNvSpPr>
            <a:spLocks noGrp="1"/>
          </p:cNvSpPr>
          <p:nvPr/>
        </p:nvSpPr>
        <p:spPr>
          <a:xfrm>
            <a:off x="6591300" y="36004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D03917-B7DD-4EC5-AD57-85ED51FD7F50}"/>
              </a:ext>
            </a:extLst>
          </p:cNvPr>
          <p:cNvSpPr>
            <a:spLocks noGrp="1"/>
          </p:cNvSpPr>
          <p:nvPr/>
        </p:nvSpPr>
        <p:spPr>
          <a:xfrm>
            <a:off x="6838950" y="36004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채점 / 피드백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BAE71C-1DC1-40A6-B9A7-7846F3ECAC59}"/>
              </a:ext>
            </a:extLst>
          </p:cNvPr>
          <p:cNvSpPr>
            <a:spLocks noGrp="1"/>
          </p:cNvSpPr>
          <p:nvPr/>
        </p:nvSpPr>
        <p:spPr>
          <a:xfrm>
            <a:off x="12052300" y="2095500"/>
            <a:ext cx="54737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ADD6D5-1A6B-4B61-9871-479CF84FD032}"/>
              </a:ext>
            </a:extLst>
          </p:cNvPr>
          <p:cNvSpPr>
            <a:spLocks noGrp="1"/>
          </p:cNvSpPr>
          <p:nvPr/>
        </p:nvSpPr>
        <p:spPr>
          <a:xfrm>
            <a:off x="12249150" y="2247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수업 운영 관리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0B5CE4-196A-40C1-97F9-9D10AFB51F0B}"/>
              </a:ext>
            </a:extLst>
          </p:cNvPr>
          <p:cNvSpPr>
            <a:spLocks noGrp="1"/>
          </p:cNvSpPr>
          <p:nvPr/>
        </p:nvSpPr>
        <p:spPr>
          <a:xfrm>
            <a:off x="12249150" y="2628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EC005F-6E0B-4951-819F-33BC4D97A387}"/>
              </a:ext>
            </a:extLst>
          </p:cNvPr>
          <p:cNvSpPr>
            <a:spLocks noGrp="1"/>
          </p:cNvSpPr>
          <p:nvPr/>
        </p:nvSpPr>
        <p:spPr>
          <a:xfrm>
            <a:off x="12496800" y="26289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출석 / 진도율 확인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BE76B3-9971-4B8A-B624-680B16125660}"/>
              </a:ext>
            </a:extLst>
          </p:cNvPr>
          <p:cNvSpPr>
            <a:spLocks noGrp="1"/>
          </p:cNvSpPr>
          <p:nvPr/>
        </p:nvSpPr>
        <p:spPr>
          <a:xfrm>
            <a:off x="12249150" y="2952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D19078-4556-4697-893B-71B8A13B3071}"/>
              </a:ext>
            </a:extLst>
          </p:cNvPr>
          <p:cNvSpPr>
            <a:spLocks noGrp="1"/>
          </p:cNvSpPr>
          <p:nvPr/>
        </p:nvSpPr>
        <p:spPr>
          <a:xfrm>
            <a:off x="12496800" y="29527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성적 관리 기능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E22FDA-9AF6-4F1C-8F83-3D5D3CA89282}"/>
              </a:ext>
            </a:extLst>
          </p:cNvPr>
          <p:cNvSpPr>
            <a:spLocks noGrp="1"/>
          </p:cNvSpPr>
          <p:nvPr/>
        </p:nvSpPr>
        <p:spPr>
          <a:xfrm>
            <a:off x="12249150" y="3276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FF428B-68CA-49E1-B4E0-2BCB582E8A69}"/>
              </a:ext>
            </a:extLst>
          </p:cNvPr>
          <p:cNvSpPr>
            <a:spLocks noGrp="1"/>
          </p:cNvSpPr>
          <p:nvPr/>
        </p:nvSpPr>
        <p:spPr>
          <a:xfrm>
            <a:off x="12496800" y="32766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학생별 현황 확인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3794300-F667-4164-8704-22AD8B03CC63}"/>
              </a:ext>
            </a:extLst>
          </p:cNvPr>
          <p:cNvSpPr>
            <a:spLocks noGrp="1"/>
          </p:cNvSpPr>
          <p:nvPr/>
        </p:nvSpPr>
        <p:spPr>
          <a:xfrm>
            <a:off x="762000" y="5410200"/>
            <a:ext cx="5864679" cy="2857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48667" y="5505450"/>
            <a:ext cx="3491345" cy="2667000"/>
          </a:xfrm>
          <a:prstGeom prst="roundRect">
            <a:avLst>
              <a:gd name="adj" fmla="val 1429"/>
            </a:avLst>
          </a:prstGeom>
        </p:spPr>
      </p:pic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C23399E-A16E-4A6F-BAE3-8507CD0C0604}"/>
              </a:ext>
            </a:extLst>
          </p:cNvPr>
          <p:cNvSpPr>
            <a:spLocks noGrp="1"/>
          </p:cNvSpPr>
          <p:nvPr/>
        </p:nvSpPr>
        <p:spPr>
          <a:xfrm>
            <a:off x="6798129" y="5410200"/>
            <a:ext cx="5864679" cy="2857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84795" y="5505450"/>
            <a:ext cx="3491345" cy="2667000"/>
          </a:xfrm>
          <a:prstGeom prst="roundRect">
            <a:avLst>
              <a:gd name="adj" fmla="val 1429"/>
            </a:avLst>
          </a:prstGeom>
        </p:spPr>
      </p:pic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4FB3EAD-8178-4AA3-AAEE-3202CF2B689C}"/>
              </a:ext>
            </a:extLst>
          </p:cNvPr>
          <p:cNvSpPr>
            <a:spLocks noGrp="1"/>
          </p:cNvSpPr>
          <p:nvPr/>
        </p:nvSpPr>
        <p:spPr>
          <a:xfrm>
            <a:off x="12834257" y="5410200"/>
            <a:ext cx="4691743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23E4981-87DC-40C9-9CD0-E8436B76057F}"/>
              </a:ext>
            </a:extLst>
          </p:cNvPr>
          <p:cNvSpPr>
            <a:spLocks noGrp="1"/>
          </p:cNvSpPr>
          <p:nvPr/>
        </p:nvSpPr>
        <p:spPr>
          <a:xfrm>
            <a:off x="13030200" y="5562600"/>
            <a:ext cx="4305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구현 상태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541CB61-C0F7-4837-9C29-5FC740FF9E1F}"/>
              </a:ext>
            </a:extLst>
          </p:cNvPr>
          <p:cNvSpPr>
            <a:spLocks noGrp="1"/>
          </p:cNvSpPr>
          <p:nvPr/>
        </p:nvSpPr>
        <p:spPr>
          <a:xfrm>
            <a:off x="13030200" y="5943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29378AF-007E-452D-9898-623069405F2C}"/>
              </a:ext>
            </a:extLst>
          </p:cNvPr>
          <p:cNvSpPr>
            <a:spLocks noGrp="1"/>
          </p:cNvSpPr>
          <p:nvPr/>
        </p:nvSpPr>
        <p:spPr>
          <a:xfrm>
            <a:off x="13277850" y="5943600"/>
            <a:ext cx="405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공지 작성/조회 구현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441B0D6-1C63-44C6-881C-9B8EEFC3E36B}"/>
              </a:ext>
            </a:extLst>
          </p:cNvPr>
          <p:cNvSpPr>
            <a:spLocks noGrp="1"/>
          </p:cNvSpPr>
          <p:nvPr/>
        </p:nvSpPr>
        <p:spPr>
          <a:xfrm>
            <a:off x="13030200" y="62674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C21B21-065E-4210-8A11-FA4F7067FAA3}"/>
              </a:ext>
            </a:extLst>
          </p:cNvPr>
          <p:cNvSpPr>
            <a:spLocks noGrp="1"/>
          </p:cNvSpPr>
          <p:nvPr/>
        </p:nvSpPr>
        <p:spPr>
          <a:xfrm>
            <a:off x="13277850" y="6267450"/>
            <a:ext cx="405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시험 생성·게시·종료 일부 구현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D276E4-9211-45E8-A575-1D81E39CD650}"/>
              </a:ext>
            </a:extLst>
          </p:cNvPr>
          <p:cNvSpPr>
            <a:spLocks noGrp="1"/>
          </p:cNvSpPr>
          <p:nvPr/>
        </p:nvSpPr>
        <p:spPr>
          <a:xfrm>
            <a:off x="13030200" y="65913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D4650AC-5DD5-466D-8A66-C76EDE8666E2}"/>
              </a:ext>
            </a:extLst>
          </p:cNvPr>
          <p:cNvSpPr>
            <a:spLocks noGrp="1"/>
          </p:cNvSpPr>
          <p:nvPr/>
        </p:nvSpPr>
        <p:spPr>
          <a:xfrm>
            <a:off x="13277850" y="6591300"/>
            <a:ext cx="405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bundle 출석 세션 운영 로컬 MVP 완료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C89B36D-8099-4D0C-8EE5-1585482C9CF7}"/>
              </a:ext>
            </a:extLst>
          </p:cNvPr>
          <p:cNvSpPr>
            <a:spLocks noGrp="1"/>
          </p:cNvSpPr>
          <p:nvPr/>
        </p:nvSpPr>
        <p:spPr>
          <a:xfrm>
            <a:off x="762000" y="84391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AFB8E3A-5386-495D-AF1A-29C21DF4EFD2}"/>
              </a:ext>
            </a:extLst>
          </p:cNvPr>
          <p:cNvSpPr>
            <a:spLocks noGrp="1"/>
          </p:cNvSpPr>
          <p:nvPr/>
        </p:nvSpPr>
        <p:spPr>
          <a:xfrm>
            <a:off x="971550" y="86868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교수자 가치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F117EC9-905E-44AB-8CCD-0057A91D34CF}"/>
              </a:ext>
            </a:extLst>
          </p:cNvPr>
          <p:cNvSpPr>
            <a:spLocks noGrp="1"/>
          </p:cNvSpPr>
          <p:nvPr/>
        </p:nvSpPr>
        <p:spPr>
          <a:xfrm>
            <a:off x="2571750" y="86868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출석 세션을 열고, 학생별 상태를 확인하며, 시험 운영까지 하나의 강의 흐름에서 관리할 수 있게 합니다.</a:t>
            </a:r>
          </a:p>
        </p:txBody>
      </p:sp>
    </p:spTree>
    <p:extLst>
      <p:ext uri="{BB962C8B-B14F-4D97-AF65-F5344CB8AC3E}">
        <p14:creationId xmlns:p14="http://schemas.microsoft.com/office/powerpoint/2010/main" val="2077812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9E3503-57B2-4BBA-BC2D-8FC2546D09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A856BF-3FF0-4E68-8B7C-41474C814F6F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6912F-D794-4F08-BA69-0B1801C55206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추가 요구사항 분석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650CF7-492F-48BB-BEEA-34BE2AD2081E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기존 LMS 밖에서 추가되는 프로젝트 핵심 기능은 네트워크 근거와 운영 권한 관리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1E6662-5F0E-4FB7-998F-EEC1214C81DF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CA2AFF-0705-48A6-BED9-7FF2E6B16F9A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49BA27-FACA-46ED-BC37-5BDAF7F000FB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15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D1ADF44-1B71-47D7-9ED1-3E72DF3C065B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6764000" cy="485775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aphicFrame>
        <p:nvGraphicFramePr>
          <p:cNvPr id="11" name="Table 10"/>
          <p:cNvGraphicFramePr/>
          <p:nvPr/>
        </p:nvGraphicFramePr>
        <p:xfrm>
          <a:off x="762000" y="2095500"/>
          <a:ext cx="16764000" cy="4857750"/>
        </p:xfrm>
        <a:graphic>
          <a:graphicData uri="http://schemas.openxmlformats.org/drawingml/2006/table">
            <a:tbl>
              <a:tblPr firstRow="1" firstCol="1" bandRow="1"/>
              <a:tblGrid>
                <a:gridCol w="55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219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기능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구현 설명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강의실별 Wi-Fi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classroom_networks로 AP/SSID/gateway/threshold 관리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교수·학생·수업·강의실 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users, courses, enrollments, schedules 관계 유지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출석 및 시험 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세션 또는 시험 상태를 열어 학생 행동을 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현재 학생 목록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roster, history, stats로 상태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디바이스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등록 MAC을 출석·시험 판단에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출석/지각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Wi-Fi evidence와 시간/세션 조건 결합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시험 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start guard와 submission workflow로 응시 흐름 제어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0385FC6-6123-4F90-A904-8511BA38DF50}"/>
              </a:ext>
            </a:extLst>
          </p:cNvPr>
          <p:cNvSpPr>
            <a:spLocks noGrp="1"/>
          </p:cNvSpPr>
          <p:nvPr/>
        </p:nvSpPr>
        <p:spPr>
          <a:xfrm>
            <a:off x="762000" y="7124700"/>
            <a:ext cx="5473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DC2E12-433A-471B-9D53-F53C26FE4019}"/>
              </a:ext>
            </a:extLst>
          </p:cNvPr>
          <p:cNvSpPr>
            <a:spLocks noGrp="1"/>
          </p:cNvSpPr>
          <p:nvPr/>
        </p:nvSpPr>
        <p:spPr>
          <a:xfrm>
            <a:off x="952500" y="72771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8020AA-0FE1-4E54-9DE0-8494102BA9E6}"/>
              </a:ext>
            </a:extLst>
          </p:cNvPr>
          <p:cNvSpPr>
            <a:spLocks noGrp="1"/>
          </p:cNvSpPr>
          <p:nvPr/>
        </p:nvSpPr>
        <p:spPr>
          <a:xfrm>
            <a:off x="952500" y="73914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정책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97CEC1-02A1-4647-ABE4-AD590615C8D5}"/>
              </a:ext>
            </a:extLst>
          </p:cNvPr>
          <p:cNvSpPr>
            <a:spLocks noGrp="1"/>
          </p:cNvSpPr>
          <p:nvPr/>
        </p:nvSpPr>
        <p:spPr>
          <a:xfrm>
            <a:off x="952500" y="77343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최종 판단은 Backend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6A61BC2-71A7-467B-A961-670473CC3FD1}"/>
              </a:ext>
            </a:extLst>
          </p:cNvPr>
          <p:cNvSpPr>
            <a:spLocks noGrp="1"/>
          </p:cNvSpPr>
          <p:nvPr/>
        </p:nvSpPr>
        <p:spPr>
          <a:xfrm>
            <a:off x="6407150" y="7124700"/>
            <a:ext cx="5473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3AE3A3-07C1-46C8-B083-D1D7EE2189C7}"/>
              </a:ext>
            </a:extLst>
          </p:cNvPr>
          <p:cNvSpPr>
            <a:spLocks noGrp="1"/>
          </p:cNvSpPr>
          <p:nvPr/>
        </p:nvSpPr>
        <p:spPr>
          <a:xfrm>
            <a:off x="6591300" y="727710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E5DF45-688B-44C7-92AF-D3912B907AF0}"/>
              </a:ext>
            </a:extLst>
          </p:cNvPr>
          <p:cNvSpPr>
            <a:spLocks noGrp="1"/>
          </p:cNvSpPr>
          <p:nvPr/>
        </p:nvSpPr>
        <p:spPr>
          <a:xfrm>
            <a:off x="6591300" y="73914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근거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EFE427-4CF8-49B7-BA59-AA702185E25A}"/>
              </a:ext>
            </a:extLst>
          </p:cNvPr>
          <p:cNvSpPr>
            <a:spLocks noGrp="1"/>
          </p:cNvSpPr>
          <p:nvPr/>
        </p:nvSpPr>
        <p:spPr>
          <a:xfrm>
            <a:off x="6591300" y="77343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PresenceService는 evidence 제공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E82D2B8-22DC-4010-ACAE-7955DE5A271E}"/>
              </a:ext>
            </a:extLst>
          </p:cNvPr>
          <p:cNvSpPr>
            <a:spLocks noGrp="1"/>
          </p:cNvSpPr>
          <p:nvPr/>
        </p:nvSpPr>
        <p:spPr>
          <a:xfrm>
            <a:off x="12052300" y="7124700"/>
            <a:ext cx="5473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A48F21-D8B8-4380-A5DA-36DBDC75E8BB}"/>
              </a:ext>
            </a:extLst>
          </p:cNvPr>
          <p:cNvSpPr>
            <a:spLocks noGrp="1"/>
          </p:cNvSpPr>
          <p:nvPr/>
        </p:nvSpPr>
        <p:spPr>
          <a:xfrm>
            <a:off x="12249150" y="727710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08A3E1-AD75-4D02-A3DC-027CC4C754C3}"/>
              </a:ext>
            </a:extLst>
          </p:cNvPr>
          <p:cNvSpPr>
            <a:spLocks noGrp="1"/>
          </p:cNvSpPr>
          <p:nvPr/>
        </p:nvSpPr>
        <p:spPr>
          <a:xfrm>
            <a:off x="12249150" y="73914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D6AB9D-B6EB-47B1-94F1-BFDE49801445}"/>
              </a:ext>
            </a:extLst>
          </p:cNvPr>
          <p:cNvSpPr>
            <a:spLocks noGrp="1"/>
          </p:cNvSpPr>
          <p:nvPr/>
        </p:nvSpPr>
        <p:spPr>
          <a:xfrm>
            <a:off x="12249150" y="77343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eligibility log와 audit log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0B5FE7A-73BE-44B5-8491-42B5A419EFEC}"/>
              </a:ext>
            </a:extLst>
          </p:cNvPr>
          <p:cNvSpPr>
            <a:spLocks noGrp="1"/>
          </p:cNvSpPr>
          <p:nvPr/>
        </p:nvSpPr>
        <p:spPr>
          <a:xfrm>
            <a:off x="762000" y="87249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55261B-FCE4-4BB8-8244-14808FD5A0F7}"/>
              </a:ext>
            </a:extLst>
          </p:cNvPr>
          <p:cNvSpPr>
            <a:spLocks noGrp="1"/>
          </p:cNvSpPr>
          <p:nvPr/>
        </p:nvSpPr>
        <p:spPr>
          <a:xfrm>
            <a:off x="971550" y="89725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핵심 추가 요구사항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A94010-1A3A-433D-BBE3-8328D6376C2C}"/>
              </a:ext>
            </a:extLst>
          </p:cNvPr>
          <p:cNvSpPr>
            <a:spLocks noGrp="1"/>
          </p:cNvSpPr>
          <p:nvPr/>
        </p:nvSpPr>
        <p:spPr>
          <a:xfrm>
            <a:off x="2571750" y="89725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강의실별 허용 Wi-Fi와 학생 등록 단말을 연결해 출석·시험 판단의 근거를 남기는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37417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74EBE23-3861-4861-8626-EE2A8E4C7D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987C88-9C37-4EF6-A56F-BEC9EA1BD015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76200" cy="7543800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" y="685800"/>
            <a:ext cx="476250" cy="476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CE818A3-7C3A-46CD-BB02-35EAF8D583F7}"/>
              </a:ext>
            </a:extLst>
          </p:cNvPr>
          <p:cNvSpPr>
            <a:spLocks noGrp="1"/>
          </p:cNvSpPr>
          <p:nvPr/>
        </p:nvSpPr>
        <p:spPr>
          <a:xfrm>
            <a:off x="1714500" y="81915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889A14-4929-4AF4-B28A-1B116533A54D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1049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8DD44-69ED-4252-9521-9C30CEB2141A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110490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설계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53F6D-BC97-42A4-89F6-2119CAC181F3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1104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1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서비스 경계, 데이터 흐름, 우선순위, ERD를 관계 중심으로 설명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E3EF56-76D5-4701-A962-9C497ACDEE91}"/>
              </a:ext>
            </a:extLst>
          </p:cNvPr>
          <p:cNvSpPr>
            <a:spLocks noGrp="1"/>
          </p:cNvSpPr>
          <p:nvPr/>
        </p:nvSpPr>
        <p:spPr>
          <a:xfrm>
            <a:off x="11049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123A63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F4604-09F4-469A-95DF-DFA7B28B6F3D}"/>
              </a:ext>
            </a:extLst>
          </p:cNvPr>
          <p:cNvSpPr>
            <a:spLocks noGrp="1"/>
          </p:cNvSpPr>
          <p:nvPr/>
        </p:nvSpPr>
        <p:spPr>
          <a:xfrm>
            <a:off x="129540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ABF557-45C8-45E7-93DA-2B19195A6757}"/>
              </a:ext>
            </a:extLst>
          </p:cNvPr>
          <p:cNvSpPr>
            <a:spLocks noGrp="1"/>
          </p:cNvSpPr>
          <p:nvPr/>
        </p:nvSpPr>
        <p:spPr>
          <a:xfrm>
            <a:off x="129540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Architecture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074158-3E93-44E4-859F-264A09B62F25}"/>
              </a:ext>
            </a:extLst>
          </p:cNvPr>
          <p:cNvSpPr>
            <a:spLocks noGrp="1"/>
          </p:cNvSpPr>
          <p:nvPr/>
        </p:nvSpPr>
        <p:spPr>
          <a:xfrm>
            <a:off x="129540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Nginx→Front→Backend→Presence/DB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BAD731-4568-403D-93E3-58D4884C5C8C}"/>
              </a:ext>
            </a:extLst>
          </p:cNvPr>
          <p:cNvSpPr>
            <a:spLocks noGrp="1"/>
          </p:cNvSpPr>
          <p:nvPr/>
        </p:nvSpPr>
        <p:spPr>
          <a:xfrm>
            <a:off x="49022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E3154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52B0F-3BEC-40A6-8458-E6EE1F9B8405}"/>
              </a:ext>
            </a:extLst>
          </p:cNvPr>
          <p:cNvSpPr>
            <a:spLocks noGrp="1"/>
          </p:cNvSpPr>
          <p:nvPr/>
        </p:nvSpPr>
        <p:spPr>
          <a:xfrm>
            <a:off x="508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0E5722-43EA-4970-A853-C75F60CB6554}"/>
              </a:ext>
            </a:extLst>
          </p:cNvPr>
          <p:cNvSpPr>
            <a:spLocks noGrp="1"/>
          </p:cNvSpPr>
          <p:nvPr/>
        </p:nvSpPr>
        <p:spPr>
          <a:xfrm>
            <a:off x="508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Sequence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B11BFD-1875-43B5-91ED-E730E6F20382}"/>
              </a:ext>
            </a:extLst>
          </p:cNvPr>
          <p:cNvSpPr>
            <a:spLocks noGrp="1"/>
          </p:cNvSpPr>
          <p:nvPr/>
        </p:nvSpPr>
        <p:spPr>
          <a:xfrm>
            <a:off x="508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auth, eligibility, attendance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BA0A49D-2300-41D0-8F0D-5386295BC535}"/>
              </a:ext>
            </a:extLst>
          </p:cNvPr>
          <p:cNvSpPr>
            <a:spLocks noGrp="1"/>
          </p:cNvSpPr>
          <p:nvPr/>
        </p:nvSpPr>
        <p:spPr>
          <a:xfrm>
            <a:off x="86995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A2947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5A0037-F434-4885-AD0D-21DCDBD8E538}"/>
              </a:ext>
            </a:extLst>
          </p:cNvPr>
          <p:cNvSpPr>
            <a:spLocks noGrp="1"/>
          </p:cNvSpPr>
          <p:nvPr/>
        </p:nvSpPr>
        <p:spPr>
          <a:xfrm>
            <a:off x="889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FFA4FB-96D5-4895-AAE7-D5387E2D214D}"/>
              </a:ext>
            </a:extLst>
          </p:cNvPr>
          <p:cNvSpPr>
            <a:spLocks noGrp="1"/>
          </p:cNvSpPr>
          <p:nvPr/>
        </p:nvSpPr>
        <p:spPr>
          <a:xfrm>
            <a:off x="889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A9D089-C09B-452C-A806-1841CF066438}"/>
              </a:ext>
            </a:extLst>
          </p:cNvPr>
          <p:cNvSpPr>
            <a:spLocks noGrp="1"/>
          </p:cNvSpPr>
          <p:nvPr/>
        </p:nvSpPr>
        <p:spPr>
          <a:xfrm>
            <a:off x="889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관계와 cardinality 중심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A3795A-3E3B-4983-B87B-0DD6513F8F72}"/>
              </a:ext>
            </a:extLst>
          </p:cNvPr>
          <p:cNvSpPr>
            <a:spLocks noGrp="1"/>
          </p:cNvSpPr>
          <p:nvPr/>
        </p:nvSpPr>
        <p:spPr>
          <a:xfrm>
            <a:off x="16383000" y="9772650"/>
            <a:ext cx="857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16 / 42</a:t>
            </a:r>
          </a:p>
        </p:txBody>
      </p:sp>
    </p:spTree>
    <p:extLst>
      <p:ext uri="{BB962C8B-B14F-4D97-AF65-F5344CB8AC3E}">
        <p14:creationId xmlns:p14="http://schemas.microsoft.com/office/powerpoint/2010/main" val="1270266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56B12C1-0080-4DBF-820B-CC6D8F15EB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239380-851C-488D-87DF-531E6D7ADC8B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ABB1A4-4AFD-4E00-86FD-E75D512C441A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주요 기술 스택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6BD7E-7489-4E08-9896-5A0D77E92227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각 기술은 LMS 구현, 재실성 판단, 실행/배포 경계에 직접 연결됨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EA41B-8B28-4724-B246-6AB68EF3E951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9E9222-CE54-42B8-A470-D652515C9EDD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233340-948F-47E9-A655-D95E2C650DCC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17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A00E2F-9D27-4520-84B7-19E7C8E98887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4062413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8ACA9-4E41-4FAE-8F0D-CC55C7216414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8C6064-2DF0-42F4-BAB9-A4037F987A27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Python / FastAPI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F7CAB-9B93-4E2D-8D6E-46A808ABA4B1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Backend와 PresenceService API 구현. 인증, LMS, 출석·시험 판단 흐름 담당.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4DFE75D-23F9-487E-A781-3AD0FCABA8EB}"/>
              </a:ext>
            </a:extLst>
          </p:cNvPr>
          <p:cNvSpPr>
            <a:spLocks noGrp="1"/>
          </p:cNvSpPr>
          <p:nvPr/>
        </p:nvSpPr>
        <p:spPr>
          <a:xfrm>
            <a:off x="4995863" y="2095500"/>
            <a:ext cx="4062413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7CDA32-3464-4E1D-A824-D321CC79B495}"/>
              </a:ext>
            </a:extLst>
          </p:cNvPr>
          <p:cNvSpPr>
            <a:spLocks noGrp="1"/>
          </p:cNvSpPr>
          <p:nvPr/>
        </p:nvSpPr>
        <p:spPr>
          <a:xfrm>
            <a:off x="5181600" y="22479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7DAF3F-E0E1-4934-87E8-4D1FDDB8568D}"/>
              </a:ext>
            </a:extLst>
          </p:cNvPr>
          <p:cNvSpPr>
            <a:spLocks noGrp="1"/>
          </p:cNvSpPr>
          <p:nvPr/>
        </p:nvSpPr>
        <p:spPr>
          <a:xfrm>
            <a:off x="518160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React / Vite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7C6FB9-E9E6-43B8-BE9F-C26E9923F309}"/>
              </a:ext>
            </a:extLst>
          </p:cNvPr>
          <p:cNvSpPr>
            <a:spLocks noGrp="1"/>
          </p:cNvSpPr>
          <p:nvPr/>
        </p:nvSpPr>
        <p:spPr>
          <a:xfrm>
            <a:off x="518160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학생·교수·서비스관리자 역할별 화면과 시연 가능한 UI 구성.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17901C3-BB08-465A-941A-534A9115B92E}"/>
              </a:ext>
            </a:extLst>
          </p:cNvPr>
          <p:cNvSpPr>
            <a:spLocks noGrp="1"/>
          </p:cNvSpPr>
          <p:nvPr/>
        </p:nvSpPr>
        <p:spPr>
          <a:xfrm>
            <a:off x="9229725" y="2095500"/>
            <a:ext cx="4062413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36DFD6-FDED-4E5E-85FF-3636DE930385}"/>
              </a:ext>
            </a:extLst>
          </p:cNvPr>
          <p:cNvSpPr>
            <a:spLocks noGrp="1"/>
          </p:cNvSpPr>
          <p:nvPr/>
        </p:nvSpPr>
        <p:spPr>
          <a:xfrm>
            <a:off x="9429750" y="224790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321CD8-F718-4918-955B-5F945325EF08}"/>
              </a:ext>
            </a:extLst>
          </p:cNvPr>
          <p:cNvSpPr>
            <a:spLocks noGrp="1"/>
          </p:cNvSpPr>
          <p:nvPr/>
        </p:nvSpPr>
        <p:spPr>
          <a:xfrm>
            <a:off x="942975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Docker / Nginx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0B6C97-E7EF-4224-81E2-44439AE0106A}"/>
              </a:ext>
            </a:extLst>
          </p:cNvPr>
          <p:cNvSpPr>
            <a:spLocks noGrp="1"/>
          </p:cNvSpPr>
          <p:nvPr/>
        </p:nvSpPr>
        <p:spPr>
          <a:xfrm>
            <a:off x="942975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단일 origin reverse proxy와 로컬 실행 환경 구성.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D86533E-D3DE-4F5D-A3B2-D511D838E93F}"/>
              </a:ext>
            </a:extLst>
          </p:cNvPr>
          <p:cNvSpPr>
            <a:spLocks noGrp="1"/>
          </p:cNvSpPr>
          <p:nvPr/>
        </p:nvSpPr>
        <p:spPr>
          <a:xfrm>
            <a:off x="13463588" y="2095500"/>
            <a:ext cx="4062413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AE8B37-34EF-48E8-9BBA-D64535D76601}"/>
              </a:ext>
            </a:extLst>
          </p:cNvPr>
          <p:cNvSpPr>
            <a:spLocks noGrp="1"/>
          </p:cNvSpPr>
          <p:nvPr/>
        </p:nvSpPr>
        <p:spPr>
          <a:xfrm>
            <a:off x="13658850" y="224790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C52680-B0FD-482E-A3F0-0C5A4A12448B}"/>
              </a:ext>
            </a:extLst>
          </p:cNvPr>
          <p:cNvSpPr>
            <a:spLocks noGrp="1"/>
          </p:cNvSpPr>
          <p:nvPr/>
        </p:nvSpPr>
        <p:spPr>
          <a:xfrm>
            <a:off x="1365885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OpenWrt / Redis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5FC57C-2CE2-48C5-B8B3-643D0C921E98}"/>
              </a:ext>
            </a:extLst>
          </p:cNvPr>
          <p:cNvSpPr>
            <a:spLocks noGrp="1"/>
          </p:cNvSpPr>
          <p:nvPr/>
        </p:nvSpPr>
        <p:spPr>
          <a:xfrm>
            <a:off x="1365885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station snapshot 수집·캐시·threshold 기반 재실성 근거 제공.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1785D92-500D-4B24-BC2E-4643D44E7F48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5473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DEAA74-E46F-47AF-810D-4E58FA608622}"/>
              </a:ext>
            </a:extLst>
          </p:cNvPr>
          <p:cNvSpPr>
            <a:spLocks noGrp="1"/>
          </p:cNvSpPr>
          <p:nvPr/>
        </p:nvSpPr>
        <p:spPr>
          <a:xfrm>
            <a:off x="952500" y="5848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0E1937-3961-4254-9E38-F4E44D6F0C55}"/>
              </a:ext>
            </a:extLst>
          </p:cNvPr>
          <p:cNvSpPr>
            <a:spLocks noGrp="1"/>
          </p:cNvSpPr>
          <p:nvPr/>
        </p:nvSpPr>
        <p:spPr>
          <a:xfrm>
            <a:off x="952500" y="6229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F9C7B7-14FD-4AE3-B0B2-E6196307EF3D}"/>
              </a:ext>
            </a:extLst>
          </p:cNvPr>
          <p:cNvSpPr>
            <a:spLocks noGrp="1"/>
          </p:cNvSpPr>
          <p:nvPr/>
        </p:nvSpPr>
        <p:spPr>
          <a:xfrm>
            <a:off x="1200150" y="62293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사용자/강의/단말/출석/시험 영속 데이터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5D6C90-9AF5-461B-8DD0-144FBC3F491E}"/>
              </a:ext>
            </a:extLst>
          </p:cNvPr>
          <p:cNvSpPr>
            <a:spLocks noGrp="1"/>
          </p:cNvSpPr>
          <p:nvPr/>
        </p:nvSpPr>
        <p:spPr>
          <a:xfrm>
            <a:off x="952500" y="6553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8CF20B-8CEA-46DC-881C-BEAE84D5DF88}"/>
              </a:ext>
            </a:extLst>
          </p:cNvPr>
          <p:cNvSpPr>
            <a:spLocks noGrp="1"/>
          </p:cNvSpPr>
          <p:nvPr/>
        </p:nvSpPr>
        <p:spPr>
          <a:xfrm>
            <a:off x="1200150" y="65532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audit와 eligibility log 저장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C37A34E-30F1-49A1-A6C8-B53FF799FEB3}"/>
              </a:ext>
            </a:extLst>
          </p:cNvPr>
          <p:cNvSpPr>
            <a:spLocks noGrp="1"/>
          </p:cNvSpPr>
          <p:nvPr/>
        </p:nvSpPr>
        <p:spPr>
          <a:xfrm>
            <a:off x="6407150" y="5695950"/>
            <a:ext cx="5473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641FD4-058A-45EC-890F-2FCDAD925361}"/>
              </a:ext>
            </a:extLst>
          </p:cNvPr>
          <p:cNvSpPr>
            <a:spLocks noGrp="1"/>
          </p:cNvSpPr>
          <p:nvPr/>
        </p:nvSpPr>
        <p:spPr>
          <a:xfrm>
            <a:off x="6591300" y="5848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GHCR / Service runtime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AF7A57-F06F-4522-9083-18B47CCFE6D1}"/>
              </a:ext>
            </a:extLst>
          </p:cNvPr>
          <p:cNvSpPr>
            <a:spLocks noGrp="1"/>
          </p:cNvSpPr>
          <p:nvPr/>
        </p:nvSpPr>
        <p:spPr>
          <a:xfrm>
            <a:off x="6591300" y="6229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86AFE0-A7E6-4E60-9335-B870CB121707}"/>
              </a:ext>
            </a:extLst>
          </p:cNvPr>
          <p:cNvSpPr>
            <a:spLocks noGrp="1"/>
          </p:cNvSpPr>
          <p:nvPr/>
        </p:nvSpPr>
        <p:spPr>
          <a:xfrm>
            <a:off x="6838950" y="62293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release manifest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BD9630-2289-4344-BDAF-97649C9CB0D9}"/>
              </a:ext>
            </a:extLst>
          </p:cNvPr>
          <p:cNvSpPr>
            <a:spLocks noGrp="1"/>
          </p:cNvSpPr>
          <p:nvPr/>
        </p:nvSpPr>
        <p:spPr>
          <a:xfrm>
            <a:off x="6591300" y="6553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8C4F47-6DC5-4506-894F-03ECD584D260}"/>
              </a:ext>
            </a:extLst>
          </p:cNvPr>
          <p:cNvSpPr>
            <a:spLocks noGrp="1"/>
          </p:cNvSpPr>
          <p:nvPr/>
        </p:nvSpPr>
        <p:spPr>
          <a:xfrm>
            <a:off x="6838950" y="65532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local source mode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34ED0F-85CF-4519-8C59-6680EAB187D6}"/>
              </a:ext>
            </a:extLst>
          </p:cNvPr>
          <p:cNvSpPr>
            <a:spLocks noGrp="1"/>
          </p:cNvSpPr>
          <p:nvPr/>
        </p:nvSpPr>
        <p:spPr>
          <a:xfrm>
            <a:off x="6591300" y="6877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DD7EA8-7133-426E-A01F-CFF517B54E9B}"/>
              </a:ext>
            </a:extLst>
          </p:cNvPr>
          <p:cNvSpPr>
            <a:spLocks noGrp="1"/>
          </p:cNvSpPr>
          <p:nvPr/>
        </p:nvSpPr>
        <p:spPr>
          <a:xfrm>
            <a:off x="6838950" y="68770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image mode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A9B8A2-A2B0-4568-952A-BFBA5B29B475}"/>
              </a:ext>
            </a:extLst>
          </p:cNvPr>
          <p:cNvSpPr>
            <a:spLocks noGrp="1"/>
          </p:cNvSpPr>
          <p:nvPr/>
        </p:nvSpPr>
        <p:spPr>
          <a:xfrm>
            <a:off x="6591300" y="7200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BBD3DD-1E85-46D8-8AA1-691A18B20311}"/>
              </a:ext>
            </a:extLst>
          </p:cNvPr>
          <p:cNvSpPr>
            <a:spLocks noGrp="1"/>
          </p:cNvSpPr>
          <p:nvPr/>
        </p:nvSpPr>
        <p:spPr>
          <a:xfrm>
            <a:off x="6838950" y="72009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demo deploy script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AAC81EA-A77D-44E1-A891-4C89A8A7C78D}"/>
              </a:ext>
            </a:extLst>
          </p:cNvPr>
          <p:cNvSpPr>
            <a:spLocks noGrp="1"/>
          </p:cNvSpPr>
          <p:nvPr/>
        </p:nvSpPr>
        <p:spPr>
          <a:xfrm>
            <a:off x="12052300" y="5695950"/>
            <a:ext cx="5473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8CF15B-F29B-4FFC-8563-BD79FB00237A}"/>
              </a:ext>
            </a:extLst>
          </p:cNvPr>
          <p:cNvSpPr>
            <a:spLocks noGrp="1"/>
          </p:cNvSpPr>
          <p:nvPr/>
        </p:nvSpPr>
        <p:spPr>
          <a:xfrm>
            <a:off x="12249150" y="5848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검증 자료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4CC86F-342B-40A6-B8CB-359941687DC4}"/>
              </a:ext>
            </a:extLst>
          </p:cNvPr>
          <p:cNvSpPr>
            <a:spLocks noGrp="1"/>
          </p:cNvSpPr>
          <p:nvPr/>
        </p:nvSpPr>
        <p:spPr>
          <a:xfrm>
            <a:off x="12249150" y="6229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A2D8E7-23FB-43C2-8DA2-27F1441B64A1}"/>
              </a:ext>
            </a:extLst>
          </p:cNvPr>
          <p:cNvSpPr>
            <a:spLocks noGrp="1"/>
          </p:cNvSpPr>
          <p:nvPr/>
        </p:nvSpPr>
        <p:spPr>
          <a:xfrm>
            <a:off x="12496800" y="62293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요구사항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C8B769-8A39-4AB3-87D2-C5DEE28FDCF8}"/>
              </a:ext>
            </a:extLst>
          </p:cNvPr>
          <p:cNvSpPr>
            <a:spLocks noGrp="1"/>
          </p:cNvSpPr>
          <p:nvPr/>
        </p:nvSpPr>
        <p:spPr>
          <a:xfrm>
            <a:off x="12249150" y="6553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9FA512-16C8-409A-8615-31CA3EF7ED65}"/>
              </a:ext>
            </a:extLst>
          </p:cNvPr>
          <p:cNvSpPr>
            <a:spLocks noGrp="1"/>
          </p:cNvSpPr>
          <p:nvPr/>
        </p:nvSpPr>
        <p:spPr>
          <a:xfrm>
            <a:off x="12496800" y="65532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ADR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41CA5ED-FA8D-486B-92B7-D6324568A577}"/>
              </a:ext>
            </a:extLst>
          </p:cNvPr>
          <p:cNvSpPr>
            <a:spLocks noGrp="1"/>
          </p:cNvSpPr>
          <p:nvPr/>
        </p:nvSpPr>
        <p:spPr>
          <a:xfrm>
            <a:off x="12249150" y="6877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63C324-E529-4D5A-8D78-FC1E51ED5234}"/>
              </a:ext>
            </a:extLst>
          </p:cNvPr>
          <p:cNvSpPr>
            <a:spLocks noGrp="1"/>
          </p:cNvSpPr>
          <p:nvPr/>
        </p:nvSpPr>
        <p:spPr>
          <a:xfrm>
            <a:off x="12496800" y="68770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아키텍처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7833FD-47D0-4D2A-B6DA-1492F15F787F}"/>
              </a:ext>
            </a:extLst>
          </p:cNvPr>
          <p:cNvSpPr>
            <a:spLocks noGrp="1"/>
          </p:cNvSpPr>
          <p:nvPr/>
        </p:nvSpPr>
        <p:spPr>
          <a:xfrm>
            <a:off x="12249150" y="7200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4A212F3-BA0A-4D13-A56E-1923626EB108}"/>
              </a:ext>
            </a:extLst>
          </p:cNvPr>
          <p:cNvSpPr>
            <a:spLocks noGrp="1"/>
          </p:cNvSpPr>
          <p:nvPr/>
        </p:nvSpPr>
        <p:spPr>
          <a:xfrm>
            <a:off x="12496800" y="72009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보고서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EC7C1C2-6418-4081-B0AF-07059FF9D802}"/>
              </a:ext>
            </a:extLst>
          </p:cNvPr>
          <p:cNvSpPr>
            <a:spLocks noGrp="1"/>
          </p:cNvSpPr>
          <p:nvPr/>
        </p:nvSpPr>
        <p:spPr>
          <a:xfrm>
            <a:off x="12249150" y="7524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5D1549A-8273-40EB-B90B-162A5E37B773}"/>
              </a:ext>
            </a:extLst>
          </p:cNvPr>
          <p:cNvSpPr>
            <a:spLocks noGrp="1"/>
          </p:cNvSpPr>
          <p:nvPr/>
        </p:nvSpPr>
        <p:spPr>
          <a:xfrm>
            <a:off x="12496800" y="75247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테스트 근거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FE7D5C31-4E43-4D3F-8855-FC1824E61648}"/>
              </a:ext>
            </a:extLst>
          </p:cNvPr>
          <p:cNvSpPr>
            <a:spLocks noGrp="1"/>
          </p:cNvSpPr>
          <p:nvPr/>
        </p:nvSpPr>
        <p:spPr>
          <a:xfrm>
            <a:off x="762000" y="84391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D99C2D6-CDEC-429D-8ADC-BB551A8B4623}"/>
              </a:ext>
            </a:extLst>
          </p:cNvPr>
          <p:cNvSpPr>
            <a:spLocks noGrp="1"/>
          </p:cNvSpPr>
          <p:nvPr/>
        </p:nvSpPr>
        <p:spPr>
          <a:xfrm>
            <a:off x="971550" y="86868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스택 선택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DD44259-07CF-43AA-8D8E-8EF8E3CE78EB}"/>
              </a:ext>
            </a:extLst>
          </p:cNvPr>
          <p:cNvSpPr>
            <a:spLocks noGrp="1"/>
          </p:cNvSpPr>
          <p:nvPr/>
        </p:nvSpPr>
        <p:spPr>
          <a:xfrm>
            <a:off x="2571750" y="86868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기술 스택은 단순 구현 도구가 아니라 서비스 경계, 판단 근거, 실행 가능성을 분리하기 위한 구조입니다.</a:t>
            </a:r>
          </a:p>
        </p:txBody>
      </p:sp>
    </p:spTree>
    <p:extLst>
      <p:ext uri="{BB962C8B-B14F-4D97-AF65-F5344CB8AC3E}">
        <p14:creationId xmlns:p14="http://schemas.microsoft.com/office/powerpoint/2010/main" val="1319249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0B3B8CD3-CB12-4432-9E97-B132F6D9B4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9722B3-3C8D-402B-B5D3-CF4EA0562495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204B1A-766F-4087-8963-048DE3F6981D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시스템 설계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5815AA-C4F8-42EF-A959-B068025ECDF1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사용자 요청은 Nginx 단일 진입점을 거쳐 Backend 판단과 재실성 근거로 분기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EFFAA-D3AA-4764-81AF-4035597DED43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609783-5C18-4A24-8642-B80179122735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2CA5BC-62A9-40E1-8E3E-3D0314DDAA2D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18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F642D92-7A12-4A83-BBAC-7DCA38EA0911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2000250" cy="1447800"/>
          </a:xfrm>
          <a:prstGeom prst="roundRect">
            <a:avLst>
              <a:gd name="adj" fmla="val 5263"/>
            </a:avLst>
          </a:prstGeom>
          <a:solidFill>
            <a:srgbClr val="F5F7FA"/>
          </a:solidFill>
          <a:ln w="9525">
            <a:solidFill>
              <a:srgbClr val="102A4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F182EC-51C5-4605-B82C-C3DC496B61AC}"/>
              </a:ext>
            </a:extLst>
          </p:cNvPr>
          <p:cNvSpPr>
            <a:spLocks noGrp="1"/>
          </p:cNvSpPr>
          <p:nvPr/>
        </p:nvSpPr>
        <p:spPr>
          <a:xfrm>
            <a:off x="895350" y="2590800"/>
            <a:ext cx="1733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사용자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9A621C-C2A8-44A0-A6AB-0448806EAD7A}"/>
              </a:ext>
            </a:extLst>
          </p:cNvPr>
          <p:cNvSpPr>
            <a:spLocks noGrp="1"/>
          </p:cNvSpPr>
          <p:nvPr/>
        </p:nvSpPr>
        <p:spPr>
          <a:xfrm>
            <a:off x="895350" y="2838450"/>
            <a:ext cx="1733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학생 / 교수 / 관리자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73D532-0571-4797-8795-629D79D697BB}"/>
              </a:ext>
            </a:extLst>
          </p:cNvPr>
          <p:cNvSpPr>
            <a:spLocks noGrp="1"/>
          </p:cNvSpPr>
          <p:nvPr/>
        </p:nvSpPr>
        <p:spPr>
          <a:xfrm>
            <a:off x="2876550" y="2495550"/>
            <a:ext cx="762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1A2658-D88C-461B-BA8B-4EA625EC3AAC}"/>
              </a:ext>
            </a:extLst>
          </p:cNvPr>
          <p:cNvSpPr>
            <a:spLocks noGrp="1"/>
          </p:cNvSpPr>
          <p:nvPr/>
        </p:nvSpPr>
        <p:spPr>
          <a:xfrm>
            <a:off x="2876550" y="293370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HTTPS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40D99D7-C641-4D0A-B0AB-19302A5CD0F1}"/>
              </a:ext>
            </a:extLst>
          </p:cNvPr>
          <p:cNvSpPr>
            <a:spLocks noGrp="1"/>
          </p:cNvSpPr>
          <p:nvPr/>
        </p:nvSpPr>
        <p:spPr>
          <a:xfrm>
            <a:off x="3733800" y="2095500"/>
            <a:ext cx="2190750" cy="1447800"/>
          </a:xfrm>
          <a:prstGeom prst="roundRect">
            <a:avLst>
              <a:gd name="adj" fmla="val 5263"/>
            </a:avLst>
          </a:prstGeom>
          <a:solidFill>
            <a:srgbClr val="ECF8F1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A6808-1375-45F6-A44D-31ED0131C6FA}"/>
              </a:ext>
            </a:extLst>
          </p:cNvPr>
          <p:cNvSpPr>
            <a:spLocks noGrp="1"/>
          </p:cNvSpPr>
          <p:nvPr/>
        </p:nvSpPr>
        <p:spPr>
          <a:xfrm>
            <a:off x="3867150" y="2495550"/>
            <a:ext cx="1924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E16F7E-39B3-4EF9-A30C-F546E171522B}"/>
              </a:ext>
            </a:extLst>
          </p:cNvPr>
          <p:cNvSpPr>
            <a:spLocks noGrp="1"/>
          </p:cNvSpPr>
          <p:nvPr/>
        </p:nvSpPr>
        <p:spPr>
          <a:xfrm>
            <a:off x="3867150" y="2724150"/>
            <a:ext cx="1924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single origin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/  /api  /ws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CEA4EE-E004-46AA-B651-E26CAB8EF3F5}"/>
              </a:ext>
            </a:extLst>
          </p:cNvPr>
          <p:cNvSpPr>
            <a:spLocks noGrp="1"/>
          </p:cNvSpPr>
          <p:nvPr/>
        </p:nvSpPr>
        <p:spPr>
          <a:xfrm>
            <a:off x="6038850" y="2495550"/>
            <a:ext cx="762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AFB463-97DD-44C3-8327-6AEBD748BF9B}"/>
              </a:ext>
            </a:extLst>
          </p:cNvPr>
          <p:cNvSpPr>
            <a:spLocks noGrp="1"/>
          </p:cNvSpPr>
          <p:nvPr/>
        </p:nvSpPr>
        <p:spPr>
          <a:xfrm>
            <a:off x="6038850" y="293370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route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05133E9-9CF0-42AC-9281-A4FA82B78821}"/>
              </a:ext>
            </a:extLst>
          </p:cNvPr>
          <p:cNvSpPr>
            <a:spLocks noGrp="1"/>
          </p:cNvSpPr>
          <p:nvPr/>
        </p:nvSpPr>
        <p:spPr>
          <a:xfrm>
            <a:off x="6896100" y="2095500"/>
            <a:ext cx="2190750" cy="1447800"/>
          </a:xfrm>
          <a:prstGeom prst="roundRect">
            <a:avLst>
              <a:gd name="adj" fmla="val 5263"/>
            </a:avLst>
          </a:prstGeom>
          <a:solidFill>
            <a:srgbClr val="EEF5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CB3AD3-99CB-4738-931B-78FD36FBC0B9}"/>
              </a:ext>
            </a:extLst>
          </p:cNvPr>
          <p:cNvSpPr>
            <a:spLocks noGrp="1"/>
          </p:cNvSpPr>
          <p:nvPr/>
        </p:nvSpPr>
        <p:spPr>
          <a:xfrm>
            <a:off x="7029450" y="2495550"/>
            <a:ext cx="1924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Front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916B10-8C6D-490F-BC61-11F00B10FC86}"/>
              </a:ext>
            </a:extLst>
          </p:cNvPr>
          <p:cNvSpPr>
            <a:spLocks noGrp="1"/>
          </p:cNvSpPr>
          <p:nvPr/>
        </p:nvSpPr>
        <p:spPr>
          <a:xfrm>
            <a:off x="7029450" y="2724150"/>
            <a:ext cx="1924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React 화면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role route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96B205-444F-4E04-A464-CB01C471E046}"/>
              </a:ext>
            </a:extLst>
          </p:cNvPr>
          <p:cNvSpPr>
            <a:spLocks noGrp="1"/>
          </p:cNvSpPr>
          <p:nvPr/>
        </p:nvSpPr>
        <p:spPr>
          <a:xfrm>
            <a:off x="9201150" y="2495550"/>
            <a:ext cx="762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F5458F-0972-4C5D-8332-C059374DFC2C}"/>
              </a:ext>
            </a:extLst>
          </p:cNvPr>
          <p:cNvSpPr>
            <a:spLocks noGrp="1"/>
          </p:cNvSpPr>
          <p:nvPr/>
        </p:nvSpPr>
        <p:spPr>
          <a:xfrm>
            <a:off x="9201150" y="293370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API / WS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4C1A2ED-C8B9-4EDF-90C6-95E667E25C5C}"/>
              </a:ext>
            </a:extLst>
          </p:cNvPr>
          <p:cNvSpPr>
            <a:spLocks noGrp="1"/>
          </p:cNvSpPr>
          <p:nvPr/>
        </p:nvSpPr>
        <p:spPr>
          <a:xfrm>
            <a:off x="10058400" y="2095500"/>
            <a:ext cx="2857500" cy="1447800"/>
          </a:xfrm>
          <a:prstGeom prst="roundRect">
            <a:avLst>
              <a:gd name="adj" fmla="val 5263"/>
            </a:avLst>
          </a:prstGeom>
          <a:solidFill>
            <a:srgbClr val="EEF5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0A2695-05B1-4D93-937F-004FD59E831F}"/>
              </a:ext>
            </a:extLst>
          </p:cNvPr>
          <p:cNvSpPr>
            <a:spLocks noGrp="1"/>
          </p:cNvSpPr>
          <p:nvPr/>
        </p:nvSpPr>
        <p:spPr>
          <a:xfrm>
            <a:off x="10191750" y="2495550"/>
            <a:ext cx="2590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Backend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BA60D5-F10A-40F1-A7E2-EB1B2ECD9B8A}"/>
              </a:ext>
            </a:extLst>
          </p:cNvPr>
          <p:cNvSpPr>
            <a:spLocks noGrp="1"/>
          </p:cNvSpPr>
          <p:nvPr/>
        </p:nvSpPr>
        <p:spPr>
          <a:xfrm>
            <a:off x="10191750" y="2724150"/>
            <a:ext cx="25908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인증·권한·LMS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출석/시험 최종 판단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B5372DA-1E15-4079-AF7A-295C263D1279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457700" cy="3619500"/>
          </a:xfrm>
          <a:prstGeom prst="roundRect">
            <a:avLst>
              <a:gd name="adj" fmla="val 2105"/>
            </a:avLst>
          </a:prstGeom>
          <a:solidFill>
            <a:srgbClr val="F5F7FA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F8675D-A101-48D6-A737-FD51190CC8C7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4076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Route split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DAC2643-203C-4691-8254-C5AC4EFC2097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33718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0590CE-2B78-4CC4-844B-31C7B4664FD3}"/>
              </a:ext>
            </a:extLst>
          </p:cNvPr>
          <p:cNvSpPr>
            <a:spLocks noGrp="1"/>
          </p:cNvSpPr>
          <p:nvPr/>
        </p:nvSpPr>
        <p:spPr>
          <a:xfrm>
            <a:off x="1085850" y="440055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/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E10DA1-013D-42BD-ABAB-4DE239409904}"/>
              </a:ext>
            </a:extLst>
          </p:cNvPr>
          <p:cNvSpPr>
            <a:spLocks noGrp="1"/>
          </p:cNvSpPr>
          <p:nvPr/>
        </p:nvSpPr>
        <p:spPr>
          <a:xfrm>
            <a:off x="1085850" y="4648200"/>
            <a:ext cx="3105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Front static UI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31F810-BEEB-4844-A281-6ACC3100EFFC}"/>
              </a:ext>
            </a:extLst>
          </p:cNvPr>
          <p:cNvSpPr>
            <a:spLocks noGrp="1"/>
          </p:cNvSpPr>
          <p:nvPr/>
        </p:nvSpPr>
        <p:spPr>
          <a:xfrm>
            <a:off x="4419600" y="4305300"/>
            <a:ext cx="6096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5C9FC9-89E4-49CC-B71E-0C38CFD2CA1D}"/>
              </a:ext>
            </a:extLst>
          </p:cNvPr>
          <p:cNvSpPr>
            <a:spLocks noGrp="1"/>
          </p:cNvSpPr>
          <p:nvPr/>
        </p:nvSpPr>
        <p:spPr>
          <a:xfrm>
            <a:off x="4419600" y="4743450"/>
            <a:ext cx="609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serves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7039406-5710-408C-A996-22D06E419EFE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3718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E53D68-B54F-4496-9A9E-A427DFCE83B7}"/>
              </a:ext>
            </a:extLst>
          </p:cNvPr>
          <p:cNvSpPr>
            <a:spLocks noGrp="1"/>
          </p:cNvSpPr>
          <p:nvPr/>
        </p:nvSpPr>
        <p:spPr>
          <a:xfrm>
            <a:off x="1085850" y="523875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/api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2E20F6-89FA-4947-BD5A-83F5D721B837}"/>
              </a:ext>
            </a:extLst>
          </p:cNvPr>
          <p:cNvSpPr>
            <a:spLocks noGrp="1"/>
          </p:cNvSpPr>
          <p:nvPr/>
        </p:nvSpPr>
        <p:spPr>
          <a:xfrm>
            <a:off x="1085850" y="5486400"/>
            <a:ext cx="3105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Backend REST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307D39-3D9F-4787-B52A-6289A50E58C4}"/>
              </a:ext>
            </a:extLst>
          </p:cNvPr>
          <p:cNvSpPr>
            <a:spLocks noGrp="1"/>
          </p:cNvSpPr>
          <p:nvPr/>
        </p:nvSpPr>
        <p:spPr>
          <a:xfrm>
            <a:off x="4419600" y="5143500"/>
            <a:ext cx="6096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BDAEF0-84DF-47C1-9C8F-2072DF37110B}"/>
              </a:ext>
            </a:extLst>
          </p:cNvPr>
          <p:cNvSpPr>
            <a:spLocks noGrp="1"/>
          </p:cNvSpPr>
          <p:nvPr/>
        </p:nvSpPr>
        <p:spPr>
          <a:xfrm>
            <a:off x="4419600" y="5581650"/>
            <a:ext cx="609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calls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69030CE-0624-4F9F-B549-45438805BCD3}"/>
              </a:ext>
            </a:extLst>
          </p:cNvPr>
          <p:cNvSpPr>
            <a:spLocks noGrp="1"/>
          </p:cNvSpPr>
          <p:nvPr/>
        </p:nvSpPr>
        <p:spPr>
          <a:xfrm>
            <a:off x="952500" y="5943600"/>
            <a:ext cx="33718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3B105A-DD54-49E3-9EF5-BEAD2A6FC431}"/>
              </a:ext>
            </a:extLst>
          </p:cNvPr>
          <p:cNvSpPr>
            <a:spLocks noGrp="1"/>
          </p:cNvSpPr>
          <p:nvPr/>
        </p:nvSpPr>
        <p:spPr>
          <a:xfrm>
            <a:off x="1085850" y="607695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/ws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F3EFEFF-903B-4C5F-847A-5AA91CC69F93}"/>
              </a:ext>
            </a:extLst>
          </p:cNvPr>
          <p:cNvSpPr>
            <a:spLocks noGrp="1"/>
          </p:cNvSpPr>
          <p:nvPr/>
        </p:nvSpPr>
        <p:spPr>
          <a:xfrm>
            <a:off x="1085850" y="6324600"/>
            <a:ext cx="3105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Attendance events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8797C2-D509-46F3-AE8B-F552A2B14B28}"/>
              </a:ext>
            </a:extLst>
          </p:cNvPr>
          <p:cNvSpPr>
            <a:spLocks noGrp="1"/>
          </p:cNvSpPr>
          <p:nvPr/>
        </p:nvSpPr>
        <p:spPr>
          <a:xfrm>
            <a:off x="4419600" y="5981700"/>
            <a:ext cx="6096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FD58D0-3696-41B7-96B3-930A078826D5}"/>
              </a:ext>
            </a:extLst>
          </p:cNvPr>
          <p:cNvSpPr>
            <a:spLocks noGrp="1"/>
          </p:cNvSpPr>
          <p:nvPr/>
        </p:nvSpPr>
        <p:spPr>
          <a:xfrm>
            <a:off x="4419600" y="6419850"/>
            <a:ext cx="609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push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F326E6B-04F1-4CCC-82AE-81345DB82580}"/>
              </a:ext>
            </a:extLst>
          </p:cNvPr>
          <p:cNvSpPr>
            <a:spLocks noGrp="1"/>
          </p:cNvSpPr>
          <p:nvPr/>
        </p:nvSpPr>
        <p:spPr>
          <a:xfrm>
            <a:off x="5429250" y="3695700"/>
            <a:ext cx="5943600" cy="3619500"/>
          </a:xfrm>
          <a:prstGeom prst="roundRect">
            <a:avLst>
              <a:gd name="adj" fmla="val 2105"/>
            </a:avLst>
          </a:prstGeom>
          <a:solidFill>
            <a:srgbClr val="EEF5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3648D4-255B-4EDC-A998-137FBBC5C342}"/>
              </a:ext>
            </a:extLst>
          </p:cNvPr>
          <p:cNvSpPr>
            <a:spLocks noGrp="1"/>
          </p:cNvSpPr>
          <p:nvPr/>
        </p:nvSpPr>
        <p:spPr>
          <a:xfrm>
            <a:off x="5619750" y="3848100"/>
            <a:ext cx="5562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Backend decision core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28691D-CAC4-4DFC-9FBF-743210C5711B}"/>
              </a:ext>
            </a:extLst>
          </p:cNvPr>
          <p:cNvSpPr>
            <a:spLocks noGrp="1"/>
          </p:cNvSpPr>
          <p:nvPr/>
        </p:nvSpPr>
        <p:spPr>
          <a:xfrm>
            <a:off x="5619750" y="4267200"/>
            <a:ext cx="5562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토큰 주체, 수강 정보, 시간표, 출석 세션, 시험 상태를 결합해 최종 허용 여부를 판단합니다.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F17E1BC-6D27-4086-8013-6CA8BE758289}"/>
              </a:ext>
            </a:extLst>
          </p:cNvPr>
          <p:cNvSpPr>
            <a:spLocks noGrp="1"/>
          </p:cNvSpPr>
          <p:nvPr/>
        </p:nvSpPr>
        <p:spPr>
          <a:xfrm>
            <a:off x="5619750" y="4857750"/>
            <a:ext cx="2286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102A4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AAB688-1783-40A3-BA89-48E37E83CDE0}"/>
              </a:ext>
            </a:extLst>
          </p:cNvPr>
          <p:cNvSpPr>
            <a:spLocks noGrp="1"/>
          </p:cNvSpPr>
          <p:nvPr/>
        </p:nvSpPr>
        <p:spPr>
          <a:xfrm>
            <a:off x="5753100" y="4991100"/>
            <a:ext cx="2019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0E11CE-DC99-4974-BB37-EBABAA6EA8CE}"/>
              </a:ext>
            </a:extLst>
          </p:cNvPr>
          <p:cNvSpPr>
            <a:spLocks noGrp="1"/>
          </p:cNvSpPr>
          <p:nvPr/>
        </p:nvSpPr>
        <p:spPr>
          <a:xfrm>
            <a:off x="5753100" y="5219700"/>
            <a:ext cx="20193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users / courses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attendance / exams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B410BB8-7224-41C4-85DB-587F8C8FACFF}"/>
              </a:ext>
            </a:extLst>
          </p:cNvPr>
          <p:cNvSpPr>
            <a:spLocks noGrp="1"/>
          </p:cNvSpPr>
          <p:nvPr/>
        </p:nvSpPr>
        <p:spPr>
          <a:xfrm>
            <a:off x="8020050" y="4895850"/>
            <a:ext cx="762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C16AE44-387B-409B-A3FB-1639392197DC}"/>
              </a:ext>
            </a:extLst>
          </p:cNvPr>
          <p:cNvSpPr>
            <a:spLocks noGrp="1"/>
          </p:cNvSpPr>
          <p:nvPr/>
        </p:nvSpPr>
        <p:spPr>
          <a:xfrm>
            <a:off x="8020050" y="5334000"/>
            <a:ext cx="762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read/write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4CA568F-81A2-4329-BC1C-AB0E70C5CFD0}"/>
              </a:ext>
            </a:extLst>
          </p:cNvPr>
          <p:cNvSpPr>
            <a:spLocks noGrp="1"/>
          </p:cNvSpPr>
          <p:nvPr/>
        </p:nvSpPr>
        <p:spPr>
          <a:xfrm>
            <a:off x="8896350" y="4857750"/>
            <a:ext cx="2286000" cy="914400"/>
          </a:xfrm>
          <a:prstGeom prst="roundRect">
            <a:avLst>
              <a:gd name="adj" fmla="val 8333"/>
            </a:avLst>
          </a:prstGeom>
          <a:solidFill>
            <a:srgbClr val="FFF7E8"/>
          </a:solidFill>
          <a:ln w="9525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658B75F-B4A9-4187-9118-2043C9664550}"/>
              </a:ext>
            </a:extLst>
          </p:cNvPr>
          <p:cNvSpPr>
            <a:spLocks noGrp="1"/>
          </p:cNvSpPr>
          <p:nvPr/>
        </p:nvSpPr>
        <p:spPr>
          <a:xfrm>
            <a:off x="9029700" y="4991100"/>
            <a:ext cx="2019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Audit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DE6D07E-BFF1-4DF4-90F8-8B3A82143440}"/>
              </a:ext>
            </a:extLst>
          </p:cNvPr>
          <p:cNvSpPr>
            <a:spLocks noGrp="1"/>
          </p:cNvSpPr>
          <p:nvPr/>
        </p:nvSpPr>
        <p:spPr>
          <a:xfrm>
            <a:off x="9029700" y="5219700"/>
            <a:ext cx="20193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eligibility log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status history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6FBB961-97CC-49B8-A2F8-220BD40313F2}"/>
              </a:ext>
            </a:extLst>
          </p:cNvPr>
          <p:cNvSpPr>
            <a:spLocks noGrp="1"/>
          </p:cNvSpPr>
          <p:nvPr/>
        </p:nvSpPr>
        <p:spPr>
          <a:xfrm>
            <a:off x="11582400" y="3695700"/>
            <a:ext cx="5943600" cy="3619500"/>
          </a:xfrm>
          <a:prstGeom prst="roundRect">
            <a:avLst>
              <a:gd name="adj" fmla="val 2105"/>
            </a:avLst>
          </a:prstGeom>
          <a:solidFill>
            <a:srgbClr val="ECF8F1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426B0DB-30FA-41D1-9AED-5ACAAC5D39E6}"/>
              </a:ext>
            </a:extLst>
          </p:cNvPr>
          <p:cNvSpPr>
            <a:spLocks noGrp="1"/>
          </p:cNvSpPr>
          <p:nvPr/>
        </p:nvSpPr>
        <p:spPr>
          <a:xfrm>
            <a:off x="11772900" y="3848100"/>
            <a:ext cx="5562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Presence evidence path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F030222-23C5-4F7E-8903-BF6D1BA5FEEC}"/>
              </a:ext>
            </a:extLst>
          </p:cNvPr>
          <p:cNvSpPr>
            <a:spLocks noGrp="1"/>
          </p:cNvSpPr>
          <p:nvPr/>
        </p:nvSpPr>
        <p:spPr>
          <a:xfrm>
            <a:off x="11772900" y="4267200"/>
            <a:ext cx="2381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D7C0D7D-919C-4DF6-B06F-E9B17E066C87}"/>
              </a:ext>
            </a:extLst>
          </p:cNvPr>
          <p:cNvSpPr>
            <a:spLocks noGrp="1"/>
          </p:cNvSpPr>
          <p:nvPr/>
        </p:nvSpPr>
        <p:spPr>
          <a:xfrm>
            <a:off x="11906250" y="4457700"/>
            <a:ext cx="2114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PresenceService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2625829-B329-4D83-B74A-461D20A8955A}"/>
              </a:ext>
            </a:extLst>
          </p:cNvPr>
          <p:cNvSpPr>
            <a:spLocks noGrp="1"/>
          </p:cNvSpPr>
          <p:nvPr/>
        </p:nvSpPr>
        <p:spPr>
          <a:xfrm>
            <a:off x="11906250" y="4705350"/>
            <a:ext cx="2114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eligibility/check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434FE04-A455-4830-8069-88CDCFBCC122}"/>
              </a:ext>
            </a:extLst>
          </p:cNvPr>
          <p:cNvSpPr>
            <a:spLocks noGrp="1"/>
          </p:cNvSpPr>
          <p:nvPr/>
        </p:nvSpPr>
        <p:spPr>
          <a:xfrm>
            <a:off x="14249400" y="4362450"/>
            <a:ext cx="6096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8FFB137-C740-4F4B-A182-062CC2C5586B}"/>
              </a:ext>
            </a:extLst>
          </p:cNvPr>
          <p:cNvSpPr>
            <a:spLocks noGrp="1"/>
          </p:cNvSpPr>
          <p:nvPr/>
        </p:nvSpPr>
        <p:spPr>
          <a:xfrm>
            <a:off x="14249400" y="4800600"/>
            <a:ext cx="609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cache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83779E42-0F67-4222-8AD2-41DA84E0423E}"/>
              </a:ext>
            </a:extLst>
          </p:cNvPr>
          <p:cNvSpPr>
            <a:spLocks noGrp="1"/>
          </p:cNvSpPr>
          <p:nvPr/>
        </p:nvSpPr>
        <p:spPr>
          <a:xfrm>
            <a:off x="14954250" y="4267200"/>
            <a:ext cx="2381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61F2289-B5D0-4602-B1E3-EBD17877DB01}"/>
              </a:ext>
            </a:extLst>
          </p:cNvPr>
          <p:cNvSpPr>
            <a:spLocks noGrp="1"/>
          </p:cNvSpPr>
          <p:nvPr/>
        </p:nvSpPr>
        <p:spPr>
          <a:xfrm>
            <a:off x="15087600" y="4362450"/>
            <a:ext cx="2114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B74E320-F911-4A18-9967-BEF115E515BC}"/>
              </a:ext>
            </a:extLst>
          </p:cNvPr>
          <p:cNvSpPr>
            <a:spLocks noGrp="1"/>
          </p:cNvSpPr>
          <p:nvPr/>
        </p:nvSpPr>
        <p:spPr>
          <a:xfrm>
            <a:off x="15087600" y="4591050"/>
            <a:ext cx="2114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snapshot TTL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refresh lock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CBF27AA6-4B1E-4600-95DB-D9470EB4EC69}"/>
              </a:ext>
            </a:extLst>
          </p:cNvPr>
          <p:cNvSpPr>
            <a:spLocks noGrp="1"/>
          </p:cNvSpPr>
          <p:nvPr/>
        </p:nvSpPr>
        <p:spPr>
          <a:xfrm>
            <a:off x="11772900" y="5238750"/>
            <a:ext cx="2381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158D04B-7C13-41E0-9560-0EF05B64069A}"/>
              </a:ext>
            </a:extLst>
          </p:cNvPr>
          <p:cNvSpPr>
            <a:spLocks noGrp="1"/>
          </p:cNvSpPr>
          <p:nvPr/>
        </p:nvSpPr>
        <p:spPr>
          <a:xfrm>
            <a:off x="11906250" y="5334000"/>
            <a:ext cx="2114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OpenWrt/AP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30EFA77-707D-41D8-AC0B-B5D4FB3EA48D}"/>
              </a:ext>
            </a:extLst>
          </p:cNvPr>
          <p:cNvSpPr>
            <a:spLocks noGrp="1"/>
          </p:cNvSpPr>
          <p:nvPr/>
        </p:nvSpPr>
        <p:spPr>
          <a:xfrm>
            <a:off x="11906250" y="5562600"/>
            <a:ext cx="2114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MAC · signal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last seen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30BBFD2-95FC-495D-8552-ABB41598DD01}"/>
              </a:ext>
            </a:extLst>
          </p:cNvPr>
          <p:cNvSpPr>
            <a:spLocks noGrp="1"/>
          </p:cNvSpPr>
          <p:nvPr/>
        </p:nvSpPr>
        <p:spPr>
          <a:xfrm>
            <a:off x="14249400" y="5334000"/>
            <a:ext cx="6096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5DF1E5D-DC59-4250-9962-115E7966F896}"/>
              </a:ext>
            </a:extLst>
          </p:cNvPr>
          <p:cNvSpPr>
            <a:spLocks noGrp="1"/>
          </p:cNvSpPr>
          <p:nvPr/>
        </p:nvSpPr>
        <p:spPr>
          <a:xfrm>
            <a:off x="14249400" y="5772150"/>
            <a:ext cx="609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station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817F3599-AD1F-4575-8EBB-11F811F18B2B}"/>
              </a:ext>
            </a:extLst>
          </p:cNvPr>
          <p:cNvSpPr>
            <a:spLocks noGrp="1"/>
          </p:cNvSpPr>
          <p:nvPr/>
        </p:nvSpPr>
        <p:spPr>
          <a:xfrm>
            <a:off x="14954250" y="5238750"/>
            <a:ext cx="2381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FCD44F-0FC2-4572-9D85-660C337A2278}"/>
              </a:ext>
            </a:extLst>
          </p:cNvPr>
          <p:cNvSpPr>
            <a:spLocks noGrp="1"/>
          </p:cNvSpPr>
          <p:nvPr/>
        </p:nvSpPr>
        <p:spPr>
          <a:xfrm>
            <a:off x="15087600" y="5334000"/>
            <a:ext cx="2114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F42817C-8B2C-457B-8301-9C81D6CA2395}"/>
              </a:ext>
            </a:extLst>
          </p:cNvPr>
          <p:cNvSpPr>
            <a:spLocks noGrp="1"/>
          </p:cNvSpPr>
          <p:nvPr/>
        </p:nvSpPr>
        <p:spPr>
          <a:xfrm>
            <a:off x="15087600" y="5562600"/>
            <a:ext cx="2114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eligible</a:t>
            </a:r>
          </a:p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reasonCode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10C7639-FCE5-4C0B-8443-E70BB4090E1E}"/>
              </a:ext>
            </a:extLst>
          </p:cNvPr>
          <p:cNvSpPr>
            <a:spLocks noGrp="1"/>
          </p:cNvSpPr>
          <p:nvPr/>
        </p:nvSpPr>
        <p:spPr>
          <a:xfrm>
            <a:off x="762000" y="74866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7B4BBBB-E3C4-4683-9CF0-6D60F46E973B}"/>
              </a:ext>
            </a:extLst>
          </p:cNvPr>
          <p:cNvSpPr>
            <a:spLocks noGrp="1"/>
          </p:cNvSpPr>
          <p:nvPr/>
        </p:nvSpPr>
        <p:spPr>
          <a:xfrm>
            <a:off x="952500" y="76390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857ADC6-BD1E-4BC5-98D2-CA1A4C8E9D95}"/>
              </a:ext>
            </a:extLst>
          </p:cNvPr>
          <p:cNvSpPr>
            <a:spLocks noGrp="1"/>
          </p:cNvSpPr>
          <p:nvPr/>
        </p:nvSpPr>
        <p:spPr>
          <a:xfrm>
            <a:off x="952500" y="7753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핵심 경계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33E07D0-3219-45ED-8B47-052C11C8BCC7}"/>
              </a:ext>
            </a:extLst>
          </p:cNvPr>
          <p:cNvSpPr>
            <a:spLocks noGrp="1"/>
          </p:cNvSpPr>
          <p:nvPr/>
        </p:nvSpPr>
        <p:spPr>
          <a:xfrm>
            <a:off x="952500" y="80962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PresenceService는 근거를 제공하고 Backend가 최종 판단을 소유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3702EBD7-6EAA-44E5-B7EB-C21837F10B1A}"/>
              </a:ext>
            </a:extLst>
          </p:cNvPr>
          <p:cNvSpPr>
            <a:spLocks noGrp="1"/>
          </p:cNvSpPr>
          <p:nvPr/>
        </p:nvSpPr>
        <p:spPr>
          <a:xfrm>
            <a:off x="6407150" y="74866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612C2A3-3F70-465E-AF02-53211BFA4C39}"/>
              </a:ext>
            </a:extLst>
          </p:cNvPr>
          <p:cNvSpPr>
            <a:spLocks noGrp="1"/>
          </p:cNvSpPr>
          <p:nvPr/>
        </p:nvSpPr>
        <p:spPr>
          <a:xfrm>
            <a:off x="6591300" y="76390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829A21E-441C-470D-8F5C-788E93E6842A}"/>
              </a:ext>
            </a:extLst>
          </p:cNvPr>
          <p:cNvSpPr>
            <a:spLocks noGrp="1"/>
          </p:cNvSpPr>
          <p:nvPr/>
        </p:nvSpPr>
        <p:spPr>
          <a:xfrm>
            <a:off x="6591300" y="7753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실시간 경로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18E38A6-75E9-4B27-A77C-E9DED82AABED}"/>
              </a:ext>
            </a:extLst>
          </p:cNvPr>
          <p:cNvSpPr>
            <a:spLocks noGrp="1"/>
          </p:cNvSpPr>
          <p:nvPr/>
        </p:nvSpPr>
        <p:spPr>
          <a:xfrm>
            <a:off x="6591300" y="80962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출석 세션과 roster 변화는 WebSocket으로 Front에 반영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19229E5A-1A9C-4C7A-8309-3092ADC93422}"/>
              </a:ext>
            </a:extLst>
          </p:cNvPr>
          <p:cNvSpPr>
            <a:spLocks noGrp="1"/>
          </p:cNvSpPr>
          <p:nvPr/>
        </p:nvSpPr>
        <p:spPr>
          <a:xfrm>
            <a:off x="12052300" y="74866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5A70EFC-4DCB-4164-AC22-5756602A5874}"/>
              </a:ext>
            </a:extLst>
          </p:cNvPr>
          <p:cNvSpPr>
            <a:spLocks noGrp="1"/>
          </p:cNvSpPr>
          <p:nvPr/>
        </p:nvSpPr>
        <p:spPr>
          <a:xfrm>
            <a:off x="12249150" y="76390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3B979DB-C94D-427C-B6ED-601985915BA0}"/>
              </a:ext>
            </a:extLst>
          </p:cNvPr>
          <p:cNvSpPr>
            <a:spLocks noGrp="1"/>
          </p:cNvSpPr>
          <p:nvPr/>
        </p:nvSpPr>
        <p:spPr>
          <a:xfrm>
            <a:off x="12249150" y="7753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운영 경계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8796653-0291-43D8-9C47-5E37F24B5F31}"/>
              </a:ext>
            </a:extLst>
          </p:cNvPr>
          <p:cNvSpPr>
            <a:spLocks noGrp="1"/>
          </p:cNvSpPr>
          <p:nvPr/>
        </p:nvSpPr>
        <p:spPr>
          <a:xfrm>
            <a:off x="12249150" y="80962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Nginx가 단일 origin을 만들고 내부 서비스 공개 범위를 제한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55D05B2D-284C-42AA-B006-5A2DCED12789}"/>
              </a:ext>
            </a:extLst>
          </p:cNvPr>
          <p:cNvSpPr>
            <a:spLocks noGrp="1"/>
          </p:cNvSpPr>
          <p:nvPr/>
        </p:nvSpPr>
        <p:spPr>
          <a:xfrm>
            <a:off x="762000" y="88011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AD1B9FD-347C-423C-A055-FDBEABA87AAD}"/>
              </a:ext>
            </a:extLst>
          </p:cNvPr>
          <p:cNvSpPr>
            <a:spLocks noGrp="1"/>
          </p:cNvSpPr>
          <p:nvPr/>
        </p:nvSpPr>
        <p:spPr>
          <a:xfrm>
            <a:off x="971550" y="90487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설계 의미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2291143-151C-4BFD-9E9C-1FEA857DBAB2}"/>
              </a:ext>
            </a:extLst>
          </p:cNvPr>
          <p:cNvSpPr>
            <a:spLocks noGrp="1"/>
          </p:cNvSpPr>
          <p:nvPr/>
        </p:nvSpPr>
        <p:spPr>
          <a:xfrm>
            <a:off x="2571750" y="90487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이 도표의 중심은 모듈 목록이 아니라 요청이 화면, 판단, 근거, 기록으로 이어지는 의존 방향입니다.</a:t>
            </a:r>
          </a:p>
        </p:txBody>
      </p:sp>
      <p:sp>
        <p:nvSpPr>
          <p:cNvPr id="90" name="4-Point Star 89">
            <a:extLst>
              <a:ext uri="{FF2B5EF4-FFF2-40B4-BE49-F238E27FC236}">
                <a16:creationId xmlns:a16="http://schemas.microsoft.com/office/drawing/2014/main" id="{70E3FD03-6A47-B4B6-6457-71E75BF2BCDB}"/>
              </a:ext>
            </a:extLst>
          </p:cNvPr>
          <p:cNvSpPr/>
          <p:nvPr/>
        </p:nvSpPr>
        <p:spPr>
          <a:xfrm>
            <a:off x="17666334" y="67095"/>
            <a:ext cx="520421" cy="520420"/>
          </a:xfrm>
          <a:prstGeom prst="star4">
            <a:avLst>
              <a:gd name="adj" fmla="val 2047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5706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4B2231-A297-42C7-9082-B595E64F20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EDFEEE-0D36-4CA4-880C-27DB4EC531B8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45B4D2-98B7-4EAF-8F6B-3101F72ED1A1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기능 우선순위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45565F-CF0E-457C-B643-F4D40233DAE7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인접성 파악 서비스부터 기존 LMS 확장까지 구현 순서를 명확히 정리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6EE673-3376-413A-BEFF-1141E018AAA7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CEE63E-526A-430B-903C-A287709232D8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B5685B-F23D-43DE-A0F9-61F9DF0A9F00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19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FE9080F-F310-4816-ABDC-306DDA324501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6764000" cy="581025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aphicFrame>
        <p:nvGraphicFramePr>
          <p:cNvPr id="11" name="Table 10"/>
          <p:cNvGraphicFramePr/>
          <p:nvPr/>
        </p:nvGraphicFramePr>
        <p:xfrm>
          <a:off x="762000" y="2095500"/>
          <a:ext cx="16764000" cy="5810250"/>
        </p:xfrm>
        <a:graphic>
          <a:graphicData uri="http://schemas.openxmlformats.org/drawingml/2006/table">
            <a:tbl>
              <a:tblPr firstRow="1" firstCol="1" bandRow="1"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기능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목적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로그인 / 회원가입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기본 인증과 역할 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강의실 / Wi-Fi 관계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강의실별 네트워크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수업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강의 목록과 공지 흐름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수업-강의실 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시간표와 classroom 연결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OpenWrt 접속 단말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station snapshot 근거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로컬 MVP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인접성 서비스 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PresenceService +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로컬 MVP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출석 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bundle session +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로컬 MVP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시험 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objective exam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로컬 MVP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09-13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공지·자료·과제·성적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LMS 확장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부분/계획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3D7C77-DD7E-46CA-9398-1D8870F24CCF}"/>
              </a:ext>
            </a:extLst>
          </p:cNvPr>
          <p:cNvSpPr>
            <a:spLocks noGrp="1"/>
          </p:cNvSpPr>
          <p:nvPr/>
        </p:nvSpPr>
        <p:spPr>
          <a:xfrm>
            <a:off x="762000" y="80772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26F1B8-019E-4B3C-B4E3-AB325E5129D4}"/>
              </a:ext>
            </a:extLst>
          </p:cNvPr>
          <p:cNvSpPr>
            <a:spLocks noGrp="1"/>
          </p:cNvSpPr>
          <p:nvPr/>
        </p:nvSpPr>
        <p:spPr>
          <a:xfrm>
            <a:off x="971550" y="83248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우선순위 해석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475514-1565-4EEC-835F-7FE5DD4781E7}"/>
              </a:ext>
            </a:extLst>
          </p:cNvPr>
          <p:cNvSpPr>
            <a:spLocks noGrp="1"/>
          </p:cNvSpPr>
          <p:nvPr/>
        </p:nvSpPr>
        <p:spPr>
          <a:xfrm>
            <a:off x="2571750" y="83248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Wi-Fi 인접성 서비스와 등록 단말 인증을 먼저 완성한 뒤 LMS 확장 기능을 단계적으로 넓힙니다.</a:t>
            </a:r>
          </a:p>
        </p:txBody>
      </p:sp>
    </p:spTree>
    <p:extLst>
      <p:ext uri="{BB962C8B-B14F-4D97-AF65-F5344CB8AC3E}">
        <p14:creationId xmlns:p14="http://schemas.microsoft.com/office/powerpoint/2010/main" val="502667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9C5632B-DBF6-4531-AF37-4BDD617D44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657757-BE43-414D-BFAE-E853421149C6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76200" cy="7543800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" y="685800"/>
            <a:ext cx="476250" cy="476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F630BD-BB13-45E2-AC39-08890F064853}"/>
              </a:ext>
            </a:extLst>
          </p:cNvPr>
          <p:cNvSpPr>
            <a:spLocks noGrp="1"/>
          </p:cNvSpPr>
          <p:nvPr/>
        </p:nvSpPr>
        <p:spPr>
          <a:xfrm>
            <a:off x="1714500" y="81915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4FD0A5-10A4-4AE7-8B08-49CFBEA54684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1049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94A9E-6A1B-4540-87E4-D8EE624BD102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110490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진행 상황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5CC1BF-8001-4D84-A03C-4C8F41CEF30D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1104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1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화면·API·DB·인프라 구현 상태를 시연 가능한 증거 중심으로 정리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C0A081-3DC6-416A-85F7-8E4547D60020}"/>
              </a:ext>
            </a:extLst>
          </p:cNvPr>
          <p:cNvSpPr>
            <a:spLocks noGrp="1"/>
          </p:cNvSpPr>
          <p:nvPr/>
        </p:nvSpPr>
        <p:spPr>
          <a:xfrm>
            <a:off x="11049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123A63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C0E306-F25A-41DC-8840-8DDAE5CCAE84}"/>
              </a:ext>
            </a:extLst>
          </p:cNvPr>
          <p:cNvSpPr>
            <a:spLocks noGrp="1"/>
          </p:cNvSpPr>
          <p:nvPr/>
        </p:nvSpPr>
        <p:spPr>
          <a:xfrm>
            <a:off x="129540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1136D0-EE81-4E1C-90DD-132789452E26}"/>
              </a:ext>
            </a:extLst>
          </p:cNvPr>
          <p:cNvSpPr>
            <a:spLocks noGrp="1"/>
          </p:cNvSpPr>
          <p:nvPr/>
        </p:nvSpPr>
        <p:spPr>
          <a:xfrm>
            <a:off x="129540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구현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3667AA-7CC6-4D27-BB9B-0D2E5E7F3533}"/>
              </a:ext>
            </a:extLst>
          </p:cNvPr>
          <p:cNvSpPr>
            <a:spLocks noGrp="1"/>
          </p:cNvSpPr>
          <p:nvPr/>
        </p:nvSpPr>
        <p:spPr>
          <a:xfrm>
            <a:off x="129540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Foundation/Read Model/local MVP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5B232D2-8268-4FE2-8873-1F19557E71CF}"/>
              </a:ext>
            </a:extLst>
          </p:cNvPr>
          <p:cNvSpPr>
            <a:spLocks noGrp="1"/>
          </p:cNvSpPr>
          <p:nvPr/>
        </p:nvSpPr>
        <p:spPr>
          <a:xfrm>
            <a:off x="49022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E3154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2DBA04-0708-4D41-867E-42433620A38E}"/>
              </a:ext>
            </a:extLst>
          </p:cNvPr>
          <p:cNvSpPr>
            <a:spLocks noGrp="1"/>
          </p:cNvSpPr>
          <p:nvPr/>
        </p:nvSpPr>
        <p:spPr>
          <a:xfrm>
            <a:off x="508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8E9DB3-58C4-4B0A-AD3A-5F2D63A086DC}"/>
              </a:ext>
            </a:extLst>
          </p:cNvPr>
          <p:cNvSpPr>
            <a:spLocks noGrp="1"/>
          </p:cNvSpPr>
          <p:nvPr/>
        </p:nvSpPr>
        <p:spPr>
          <a:xfrm>
            <a:off x="508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증거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2A8F8-D0CB-4FA9-A3DC-725183BEA10B}"/>
              </a:ext>
            </a:extLst>
          </p:cNvPr>
          <p:cNvSpPr>
            <a:spLocks noGrp="1"/>
          </p:cNvSpPr>
          <p:nvPr/>
        </p:nvSpPr>
        <p:spPr>
          <a:xfrm>
            <a:off x="508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screenshots/tests/release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E86238A-A805-47CC-B2F4-3D66835973E7}"/>
              </a:ext>
            </a:extLst>
          </p:cNvPr>
          <p:cNvSpPr>
            <a:spLocks noGrp="1"/>
          </p:cNvSpPr>
          <p:nvPr/>
        </p:nvSpPr>
        <p:spPr>
          <a:xfrm>
            <a:off x="86995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A2947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E2AA52-0C81-4104-98C2-89775AAAED04}"/>
              </a:ext>
            </a:extLst>
          </p:cNvPr>
          <p:cNvSpPr>
            <a:spLocks noGrp="1"/>
          </p:cNvSpPr>
          <p:nvPr/>
        </p:nvSpPr>
        <p:spPr>
          <a:xfrm>
            <a:off x="889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FE031-E46A-4D87-B4BC-299B17801EA7}"/>
              </a:ext>
            </a:extLst>
          </p:cNvPr>
          <p:cNvSpPr>
            <a:spLocks noGrp="1"/>
          </p:cNvSpPr>
          <p:nvPr/>
        </p:nvSpPr>
        <p:spPr>
          <a:xfrm>
            <a:off x="889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경계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0BE9FF-214D-4EAC-BF57-D7E529CAB733}"/>
              </a:ext>
            </a:extLst>
          </p:cNvPr>
          <p:cNvSpPr>
            <a:spLocks noGrp="1"/>
          </p:cNvSpPr>
          <p:nvPr/>
        </p:nvSpPr>
        <p:spPr>
          <a:xfrm>
            <a:off x="889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현장 OpenWrt는 후속 검증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9D3D0B-F40F-416D-86CC-FDD0B8FE47C9}"/>
              </a:ext>
            </a:extLst>
          </p:cNvPr>
          <p:cNvSpPr>
            <a:spLocks noGrp="1"/>
          </p:cNvSpPr>
          <p:nvPr/>
        </p:nvSpPr>
        <p:spPr>
          <a:xfrm>
            <a:off x="16383000" y="9772650"/>
            <a:ext cx="857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20 / 42</a:t>
            </a:r>
          </a:p>
        </p:txBody>
      </p:sp>
    </p:spTree>
    <p:extLst>
      <p:ext uri="{BB962C8B-B14F-4D97-AF65-F5344CB8AC3E}">
        <p14:creationId xmlns:p14="http://schemas.microsoft.com/office/powerpoint/2010/main" val="1518429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CC990B8-5F90-45B7-B9CE-A32A89DA51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723872-7D2F-461D-921A-26D2B871B270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DCA2D1-2097-46ED-B455-6F545AD334AF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분류별 진행 상황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56FE8-43E3-4C11-B56B-6B9A971F720C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현재 상태는 기능 목록이 아니라 구현·증거·잔여 범위를 함께 보여줘야 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DA0F76-297A-4B2F-9277-A4F081299B66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B787D89-DA67-48AC-90D9-4675A2B54B58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34B599-6BEE-4B95-9743-F5CA76F90142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21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A8828B7-37D8-4D01-AE77-02D8EC8C92BE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6764000" cy="4572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aphicFrame>
        <p:nvGraphicFramePr>
          <p:cNvPr id="11" name="Table 10"/>
          <p:cNvGraphicFramePr/>
          <p:nvPr/>
        </p:nvGraphicFramePr>
        <p:xfrm>
          <a:off x="762000" y="2095500"/>
          <a:ext cx="16764000" cy="4572000"/>
        </p:xfrm>
        <a:graphic>
          <a:graphicData uri="http://schemas.openxmlformats.org/drawingml/2006/table">
            <a:tbl>
              <a:tblPr firstRow="1" firstCol="1" bandRow="1"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완료/구현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검증 증거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남은 범위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로그인, 역할별 UI, 단말, 출석, 시험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build/lint 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과제·성적 정식 범위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auth/session, course, notice, admin, device, attendance, exam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60 tests 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운영 정책 강화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PresenceService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health, snapshot, eligibility, dummy overlay/reset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8 tests 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실 OpenWrt 검증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schema/seed, attendance demo, exam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init asset 존재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운영 데이터 정책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Nginx, compose, GHCR image mode, release manifest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public pull proof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staging/prod 분리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F1A29A-3CE3-4FB9-8CCA-45016712B613}"/>
              </a:ext>
            </a:extLst>
          </p:cNvPr>
          <p:cNvSpPr>
            <a:spLocks noGrp="1"/>
          </p:cNvSpPr>
          <p:nvPr/>
        </p:nvSpPr>
        <p:spPr>
          <a:xfrm>
            <a:off x="762000" y="6838950"/>
            <a:ext cx="54737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6182BF-E746-4A3C-9AD4-E93EFC5497FC}"/>
              </a:ext>
            </a:extLst>
          </p:cNvPr>
          <p:cNvSpPr>
            <a:spLocks noGrp="1"/>
          </p:cNvSpPr>
          <p:nvPr/>
        </p:nvSpPr>
        <p:spPr>
          <a:xfrm>
            <a:off x="952500" y="69913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3E51E6-D70A-44F4-B61F-CE7FC91FF32C}"/>
              </a:ext>
            </a:extLst>
          </p:cNvPr>
          <p:cNvSpPr>
            <a:spLocks noGrp="1"/>
          </p:cNvSpPr>
          <p:nvPr/>
        </p:nvSpPr>
        <p:spPr>
          <a:xfrm>
            <a:off x="952500" y="71056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Foundation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989B31-D96A-4E4F-BCA9-EB2794C283CC}"/>
              </a:ext>
            </a:extLst>
          </p:cNvPr>
          <p:cNvSpPr>
            <a:spLocks noGrp="1"/>
          </p:cNvSpPr>
          <p:nvPr/>
        </p:nvSpPr>
        <p:spPr>
          <a:xfrm>
            <a:off x="952500" y="74485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로그인, 세션 복구, 단말 관리, eligibility, Docker 실행 자산 완료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6E82160-E53E-4705-AF0B-4646261A08A7}"/>
              </a:ext>
            </a:extLst>
          </p:cNvPr>
          <p:cNvSpPr>
            <a:spLocks noGrp="1"/>
          </p:cNvSpPr>
          <p:nvPr/>
        </p:nvSpPr>
        <p:spPr>
          <a:xfrm>
            <a:off x="6407150" y="6838950"/>
            <a:ext cx="54737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AC0BED-C3D1-44E3-AD82-FB5A1111FE14}"/>
              </a:ext>
            </a:extLst>
          </p:cNvPr>
          <p:cNvSpPr>
            <a:spLocks noGrp="1"/>
          </p:cNvSpPr>
          <p:nvPr/>
        </p:nvSpPr>
        <p:spPr>
          <a:xfrm>
            <a:off x="6591300" y="69913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084AFC-6E63-4112-84B2-7758FAAE386E}"/>
              </a:ext>
            </a:extLst>
          </p:cNvPr>
          <p:cNvSpPr>
            <a:spLocks noGrp="1"/>
          </p:cNvSpPr>
          <p:nvPr/>
        </p:nvSpPr>
        <p:spPr>
          <a:xfrm>
            <a:off x="6591300" y="71056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Academic Read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1E2752-7961-43C1-86DC-B87D4D676657}"/>
              </a:ext>
            </a:extLst>
          </p:cNvPr>
          <p:cNvSpPr>
            <a:spLocks noGrp="1"/>
          </p:cNvSpPr>
          <p:nvPr/>
        </p:nvSpPr>
        <p:spPr>
          <a:xfrm>
            <a:off x="6591300" y="74485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강의 목록, 공지, 관리자 조회 구현 완료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3157FAC-50F1-4C1F-983D-83E984CEFD0E}"/>
              </a:ext>
            </a:extLst>
          </p:cNvPr>
          <p:cNvSpPr>
            <a:spLocks noGrp="1"/>
          </p:cNvSpPr>
          <p:nvPr/>
        </p:nvSpPr>
        <p:spPr>
          <a:xfrm>
            <a:off x="12052300" y="6838950"/>
            <a:ext cx="54737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679583-679F-45BD-97B2-BB6D18904AAB}"/>
              </a:ext>
            </a:extLst>
          </p:cNvPr>
          <p:cNvSpPr>
            <a:spLocks noGrp="1"/>
          </p:cNvSpPr>
          <p:nvPr/>
        </p:nvSpPr>
        <p:spPr>
          <a:xfrm>
            <a:off x="12249150" y="69913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4AEC21-DCE8-420E-921F-90629D915E94}"/>
              </a:ext>
            </a:extLst>
          </p:cNvPr>
          <p:cNvSpPr>
            <a:spLocks noGrp="1"/>
          </p:cNvSpPr>
          <p:nvPr/>
        </p:nvSpPr>
        <p:spPr>
          <a:xfrm>
            <a:off x="12249150" y="71056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Local MVP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D9C2FC-5257-4285-A8FF-BC3D94B11BC3}"/>
              </a:ext>
            </a:extLst>
          </p:cNvPr>
          <p:cNvSpPr>
            <a:spLocks noGrp="1"/>
          </p:cNvSpPr>
          <p:nvPr/>
        </p:nvSpPr>
        <p:spPr>
          <a:xfrm>
            <a:off x="12249150" y="74485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attendance demo와 objective exam workflow 완료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9B1D4A6-C049-4EF5-B66C-2D3984064ECF}"/>
              </a:ext>
            </a:extLst>
          </p:cNvPr>
          <p:cNvSpPr>
            <a:spLocks noGrp="1"/>
          </p:cNvSpPr>
          <p:nvPr/>
        </p:nvSpPr>
        <p:spPr>
          <a:xfrm>
            <a:off x="762000" y="86868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9B1BE7-AE7A-4805-8692-F3C5082E2630}"/>
              </a:ext>
            </a:extLst>
          </p:cNvPr>
          <p:cNvSpPr>
            <a:spLocks noGrp="1"/>
          </p:cNvSpPr>
          <p:nvPr/>
        </p:nvSpPr>
        <p:spPr>
          <a:xfrm>
            <a:off x="971550" y="89344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F6491C-4BEF-47FD-85BC-7E53AA048442}"/>
              </a:ext>
            </a:extLst>
          </p:cNvPr>
          <p:cNvSpPr>
            <a:spLocks noGrp="1"/>
          </p:cNvSpPr>
          <p:nvPr/>
        </p:nvSpPr>
        <p:spPr>
          <a:xfrm>
            <a:off x="2571750" y="89344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실제 OpenWrt/교내 Wi-Fi 현장 수집 안정성은 로컬 dummy/Redis 검증과 별개의 후속 검증 항목입니다.</a:t>
            </a:r>
          </a:p>
        </p:txBody>
      </p:sp>
    </p:spTree>
    <p:extLst>
      <p:ext uri="{BB962C8B-B14F-4D97-AF65-F5344CB8AC3E}">
        <p14:creationId xmlns:p14="http://schemas.microsoft.com/office/powerpoint/2010/main" val="1368963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2CB6512-F74B-412A-A5D1-CB18A6E1FB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6F17CF-4EB9-487C-A596-CFF099BB5F87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42556-09EA-424C-9DCC-C4720F4FE225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진행 상황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88333-B1B1-4976-B0E8-F64E0FF26102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로그인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DFA16F-D9A3-483B-ADCC-CA86BEBFA581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5EE17A3-066C-48F3-9F66-259B0A58E2A7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43B5E5-1634-4374-B2AA-C5BEB22A151C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22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A6EA45-F14A-45D7-B88E-FE2DCBC0B726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8296275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84889" y="2190750"/>
            <a:ext cx="5850497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6576949-7796-4DC5-9BD5-DB727B6EE413}"/>
              </a:ext>
            </a:extLst>
          </p:cNvPr>
          <p:cNvSpPr>
            <a:spLocks noGrp="1"/>
          </p:cNvSpPr>
          <p:nvPr/>
        </p:nvSpPr>
        <p:spPr>
          <a:xfrm>
            <a:off x="762000" y="68389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공통 로그인 화면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40B6359-8475-41F2-A143-7419ED6E3842}"/>
              </a:ext>
            </a:extLst>
          </p:cNvPr>
          <p:cNvSpPr>
            <a:spLocks noGrp="1"/>
          </p:cNvSpPr>
          <p:nvPr/>
        </p:nvSpPr>
        <p:spPr>
          <a:xfrm>
            <a:off x="9229725" y="2095500"/>
            <a:ext cx="8296275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452614" y="2190750"/>
            <a:ext cx="5850497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4B8C2C5-DF70-4B71-9E5F-8D3A24B4160D}"/>
              </a:ext>
            </a:extLst>
          </p:cNvPr>
          <p:cNvSpPr>
            <a:spLocks noGrp="1"/>
          </p:cNvSpPr>
          <p:nvPr/>
        </p:nvSpPr>
        <p:spPr>
          <a:xfrm>
            <a:off x="9239250" y="68389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로그인 실패 피드백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218FC2D-5725-4361-B529-1E1836E447D5}"/>
              </a:ext>
            </a:extLst>
          </p:cNvPr>
          <p:cNvSpPr>
            <a:spLocks noGrp="1"/>
          </p:cNvSpPr>
          <p:nvPr/>
        </p:nvSpPr>
        <p:spPr>
          <a:xfrm>
            <a:off x="762000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796602-74A0-44B3-AC83-8A4297327FB3}"/>
              </a:ext>
            </a:extLst>
          </p:cNvPr>
          <p:cNvSpPr>
            <a:spLocks noGrp="1"/>
          </p:cNvSpPr>
          <p:nvPr/>
        </p:nvSpPr>
        <p:spPr>
          <a:xfrm>
            <a:off x="952500" y="73723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7E430-2B25-4343-A528-1537254588DE}"/>
              </a:ext>
            </a:extLst>
          </p:cNvPr>
          <p:cNvSpPr>
            <a:spLocks noGrp="1"/>
          </p:cNvSpPr>
          <p:nvPr/>
        </p:nvSpPr>
        <p:spPr>
          <a:xfrm>
            <a:off x="95250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Auth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8F582-5A3F-4481-BB22-84E1D51CFF56}"/>
              </a:ext>
            </a:extLst>
          </p:cNvPr>
          <p:cNvSpPr>
            <a:spLocks noGrp="1"/>
          </p:cNvSpPr>
          <p:nvPr/>
        </p:nvSpPr>
        <p:spPr>
          <a:xfrm>
            <a:off x="95250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로그인과 세션 복구 흐름 구현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EFFB663-45FE-43B8-B417-79068087381A}"/>
              </a:ext>
            </a:extLst>
          </p:cNvPr>
          <p:cNvSpPr>
            <a:spLocks noGrp="1"/>
          </p:cNvSpPr>
          <p:nvPr/>
        </p:nvSpPr>
        <p:spPr>
          <a:xfrm>
            <a:off x="9229725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B787FB-A67E-492D-A195-747D7B12AA27}"/>
              </a:ext>
            </a:extLst>
          </p:cNvPr>
          <p:cNvSpPr>
            <a:spLocks noGrp="1"/>
          </p:cNvSpPr>
          <p:nvPr/>
        </p:nvSpPr>
        <p:spPr>
          <a:xfrm>
            <a:off x="9429750" y="73723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7770A7-F9B2-4842-B93B-E65A837CD78F}"/>
              </a:ext>
            </a:extLst>
          </p:cNvPr>
          <p:cNvSpPr>
            <a:spLocks noGrp="1"/>
          </p:cNvSpPr>
          <p:nvPr/>
        </p:nvSpPr>
        <p:spPr>
          <a:xfrm>
            <a:off x="942975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UX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382E01-08E7-40FD-BD07-0C7B05A3593A}"/>
              </a:ext>
            </a:extLst>
          </p:cNvPr>
          <p:cNvSpPr>
            <a:spLocks noGrp="1"/>
          </p:cNvSpPr>
          <p:nvPr/>
        </p:nvSpPr>
        <p:spPr>
          <a:xfrm>
            <a:off x="942975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실패 상태를 화면에서 명확히 표현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B7D19C9-B128-44EF-9F34-A641DBC7D9E8}"/>
              </a:ext>
            </a:extLst>
          </p:cNvPr>
          <p:cNvSpPr>
            <a:spLocks noGrp="1"/>
          </p:cNvSpPr>
          <p:nvPr/>
        </p:nvSpPr>
        <p:spPr>
          <a:xfrm>
            <a:off x="762000" y="85344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BF5635-2BA3-4414-AA2F-262AD2AC1B97}"/>
              </a:ext>
            </a:extLst>
          </p:cNvPr>
          <p:cNvSpPr>
            <a:spLocks noGrp="1"/>
          </p:cNvSpPr>
          <p:nvPr/>
        </p:nvSpPr>
        <p:spPr>
          <a:xfrm>
            <a:off x="971550" y="87820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화면 증거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E23A4B-0B66-4037-9C20-6D9529241A11}"/>
              </a:ext>
            </a:extLst>
          </p:cNvPr>
          <p:cNvSpPr>
            <a:spLocks noGrp="1"/>
          </p:cNvSpPr>
          <p:nvPr/>
        </p:nvSpPr>
        <p:spPr>
          <a:xfrm>
            <a:off x="2571750" y="87820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스크린샷은 장식이 아니라 구현된 사용자 흐름을 확인하는 증거 객체로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482527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2602162-74EC-42EC-9DDF-0A53DBD509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9A9F51-C799-4583-9580-3F9DCF1E12F0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CF6D1-4D06-49F1-B6A0-DED8E15183B8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진행 상황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7CE4F3-C91F-43E5-966F-7146F6DAA004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대시보드, 프로필 / 단말관리 (학생)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F3373A-A737-427D-B167-67EBDCF5079B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BA9F631-8524-43E3-AF3E-041BCCD06552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CEDF1A-4D26-4761-8C73-4F7C67CC0D58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23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5BC048A-7B8A-436D-A7A5-36713B36FBED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8296275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049894" y="2190750"/>
            <a:ext cx="5720486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0798ED3-C5D9-45DD-959E-024A0E275732}"/>
              </a:ext>
            </a:extLst>
          </p:cNvPr>
          <p:cNvSpPr>
            <a:spLocks noGrp="1"/>
          </p:cNvSpPr>
          <p:nvPr/>
        </p:nvSpPr>
        <p:spPr>
          <a:xfrm>
            <a:off x="762000" y="68389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학생 대시보드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1313847-A6A8-4EE8-9FC4-EFF6E3739CE2}"/>
              </a:ext>
            </a:extLst>
          </p:cNvPr>
          <p:cNvSpPr>
            <a:spLocks noGrp="1"/>
          </p:cNvSpPr>
          <p:nvPr/>
        </p:nvSpPr>
        <p:spPr>
          <a:xfrm>
            <a:off x="9229725" y="2095500"/>
            <a:ext cx="8296275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452614" y="2190750"/>
            <a:ext cx="5850497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6192E4-5EB9-403B-B00B-98E972E4A1C4}"/>
              </a:ext>
            </a:extLst>
          </p:cNvPr>
          <p:cNvSpPr>
            <a:spLocks noGrp="1"/>
          </p:cNvSpPr>
          <p:nvPr/>
        </p:nvSpPr>
        <p:spPr>
          <a:xfrm>
            <a:off x="9239250" y="68389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프로필 / 단말 관리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08F7C2-9FA8-49C7-9771-F7EB51722F9C}"/>
              </a:ext>
            </a:extLst>
          </p:cNvPr>
          <p:cNvSpPr>
            <a:spLocks noGrp="1"/>
          </p:cNvSpPr>
          <p:nvPr/>
        </p:nvSpPr>
        <p:spPr>
          <a:xfrm>
            <a:off x="762000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772B5B-D179-441D-BDA2-5DD2FB6C7EA2}"/>
              </a:ext>
            </a:extLst>
          </p:cNvPr>
          <p:cNvSpPr>
            <a:spLocks noGrp="1"/>
          </p:cNvSpPr>
          <p:nvPr/>
        </p:nvSpPr>
        <p:spPr>
          <a:xfrm>
            <a:off x="952500" y="73723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D41D82-EE7A-4EB6-9DBB-18B38FFB70B0}"/>
              </a:ext>
            </a:extLst>
          </p:cNvPr>
          <p:cNvSpPr>
            <a:spLocks noGrp="1"/>
          </p:cNvSpPr>
          <p:nvPr/>
        </p:nvSpPr>
        <p:spPr>
          <a:xfrm>
            <a:off x="95250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Device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424886-B133-4EC6-BF65-88B9D60E3E93}"/>
              </a:ext>
            </a:extLst>
          </p:cNvPr>
          <p:cNvSpPr>
            <a:spLocks noGrp="1"/>
          </p:cNvSpPr>
          <p:nvPr/>
        </p:nvSpPr>
        <p:spPr>
          <a:xfrm>
            <a:off x="95250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등록 단말 MAC 기반 판단 준비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1A0B439-E38A-4754-A34B-DEA67319CDA1}"/>
              </a:ext>
            </a:extLst>
          </p:cNvPr>
          <p:cNvSpPr>
            <a:spLocks noGrp="1"/>
          </p:cNvSpPr>
          <p:nvPr/>
        </p:nvSpPr>
        <p:spPr>
          <a:xfrm>
            <a:off x="9229725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D64B7-4EAC-4369-BE5D-A73ECDE55966}"/>
              </a:ext>
            </a:extLst>
          </p:cNvPr>
          <p:cNvSpPr>
            <a:spLocks noGrp="1"/>
          </p:cNvSpPr>
          <p:nvPr/>
        </p:nvSpPr>
        <p:spPr>
          <a:xfrm>
            <a:off x="9429750" y="73723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C53CCD-196C-4048-9007-E72817E80275}"/>
              </a:ext>
            </a:extLst>
          </p:cNvPr>
          <p:cNvSpPr>
            <a:spLocks noGrp="1"/>
          </p:cNvSpPr>
          <p:nvPr/>
        </p:nvSpPr>
        <p:spPr>
          <a:xfrm>
            <a:off x="942975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Route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F3FE99-8D20-4226-9F06-010E70EA9FEF}"/>
              </a:ext>
            </a:extLst>
          </p:cNvPr>
          <p:cNvSpPr>
            <a:spLocks noGrp="1"/>
          </p:cNvSpPr>
          <p:nvPr/>
        </p:nvSpPr>
        <p:spPr>
          <a:xfrm>
            <a:off x="942975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학생 역할별 화면 분기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CCE01C6-3F18-41F1-8A55-C218B4C37777}"/>
              </a:ext>
            </a:extLst>
          </p:cNvPr>
          <p:cNvSpPr>
            <a:spLocks noGrp="1"/>
          </p:cNvSpPr>
          <p:nvPr/>
        </p:nvSpPr>
        <p:spPr>
          <a:xfrm>
            <a:off x="762000" y="85344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632E34-B6EA-4A21-B71E-8597E2CC2515}"/>
              </a:ext>
            </a:extLst>
          </p:cNvPr>
          <p:cNvSpPr>
            <a:spLocks noGrp="1"/>
          </p:cNvSpPr>
          <p:nvPr/>
        </p:nvSpPr>
        <p:spPr>
          <a:xfrm>
            <a:off x="971550" y="87820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화면 증거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8AA38B-2481-4D65-89F0-431E23AC8FEE}"/>
              </a:ext>
            </a:extLst>
          </p:cNvPr>
          <p:cNvSpPr>
            <a:spLocks noGrp="1"/>
          </p:cNvSpPr>
          <p:nvPr/>
        </p:nvSpPr>
        <p:spPr>
          <a:xfrm>
            <a:off x="2571750" y="87820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스크린샷은 장식이 아니라 구현된 사용자 흐름을 확인하는 증거 객체로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420441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0E44EBD-CE4D-4E55-A5B9-97BF3B1108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5027AF-237C-425A-9A67-4FA73BBFDB03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0F85CA-57C4-4F40-A6F4-25757AA8284A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진행 상황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9ACA96-D85F-4E1D-A280-A4C98A721EAE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대시보드, 강의 홈 (교수)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069659-DA96-45C3-9D4E-9B9AB34AC7D0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DE8DA6-1D06-4AE0-AE58-D55AADFB56B8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FD17DA-2BB5-4A55-918E-4BDC9C2A85B9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24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5B9131-EE98-4638-BC41-30CF87FB4456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8296275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07612" y="2190750"/>
            <a:ext cx="3405051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17F0572-ED25-4565-A144-CB58614A2362}"/>
              </a:ext>
            </a:extLst>
          </p:cNvPr>
          <p:cNvSpPr>
            <a:spLocks noGrp="1"/>
          </p:cNvSpPr>
          <p:nvPr/>
        </p:nvSpPr>
        <p:spPr>
          <a:xfrm>
            <a:off x="762000" y="68389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교수 대시보드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B4DD2C5-E09F-4633-BEB7-D16E3C1E79A3}"/>
              </a:ext>
            </a:extLst>
          </p:cNvPr>
          <p:cNvSpPr>
            <a:spLocks noGrp="1"/>
          </p:cNvSpPr>
          <p:nvPr/>
        </p:nvSpPr>
        <p:spPr>
          <a:xfrm>
            <a:off x="9229725" y="2095500"/>
            <a:ext cx="8296275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452614" y="2190750"/>
            <a:ext cx="5850497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4C846DB-826D-4966-B9F8-A499BD4166BA}"/>
              </a:ext>
            </a:extLst>
          </p:cNvPr>
          <p:cNvSpPr>
            <a:spLocks noGrp="1"/>
          </p:cNvSpPr>
          <p:nvPr/>
        </p:nvSpPr>
        <p:spPr>
          <a:xfrm>
            <a:off x="9239250" y="68389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교수 강의 홈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2E2DF71-ACD3-4579-99B7-E176AA6D1E9A}"/>
              </a:ext>
            </a:extLst>
          </p:cNvPr>
          <p:cNvSpPr>
            <a:spLocks noGrp="1"/>
          </p:cNvSpPr>
          <p:nvPr/>
        </p:nvSpPr>
        <p:spPr>
          <a:xfrm>
            <a:off x="762000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28A648-7F69-4711-B03D-2BCF1CC8D29D}"/>
              </a:ext>
            </a:extLst>
          </p:cNvPr>
          <p:cNvSpPr>
            <a:spLocks noGrp="1"/>
          </p:cNvSpPr>
          <p:nvPr/>
        </p:nvSpPr>
        <p:spPr>
          <a:xfrm>
            <a:off x="952500" y="73723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6F137C-1BC7-4097-8160-8A72170F6ED0}"/>
              </a:ext>
            </a:extLst>
          </p:cNvPr>
          <p:cNvSpPr>
            <a:spLocks noGrp="1"/>
          </p:cNvSpPr>
          <p:nvPr/>
        </p:nvSpPr>
        <p:spPr>
          <a:xfrm>
            <a:off x="95250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Course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6D98B2-8D4B-4E6D-AE75-4B62C8ECE809}"/>
              </a:ext>
            </a:extLst>
          </p:cNvPr>
          <p:cNvSpPr>
            <a:spLocks noGrp="1"/>
          </p:cNvSpPr>
          <p:nvPr/>
        </p:nvSpPr>
        <p:spPr>
          <a:xfrm>
            <a:off x="95250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담당 강의와 공지 흐름 구현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B2D202C-D9FB-49B8-B4E0-3C4BF395052C}"/>
              </a:ext>
            </a:extLst>
          </p:cNvPr>
          <p:cNvSpPr>
            <a:spLocks noGrp="1"/>
          </p:cNvSpPr>
          <p:nvPr/>
        </p:nvSpPr>
        <p:spPr>
          <a:xfrm>
            <a:off x="9229725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F9A7CB-6A6F-4C15-9528-86941E7F0A84}"/>
              </a:ext>
            </a:extLst>
          </p:cNvPr>
          <p:cNvSpPr>
            <a:spLocks noGrp="1"/>
          </p:cNvSpPr>
          <p:nvPr/>
        </p:nvSpPr>
        <p:spPr>
          <a:xfrm>
            <a:off x="9429750" y="73723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086A1C-4C59-475F-AC5E-305FB3EEF100}"/>
              </a:ext>
            </a:extLst>
          </p:cNvPr>
          <p:cNvSpPr>
            <a:spLocks noGrp="1"/>
          </p:cNvSpPr>
          <p:nvPr/>
        </p:nvSpPr>
        <p:spPr>
          <a:xfrm>
            <a:off x="942975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Operation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908883-EB19-43E9-9332-164F76B0646B}"/>
              </a:ext>
            </a:extLst>
          </p:cNvPr>
          <p:cNvSpPr>
            <a:spLocks noGrp="1"/>
          </p:cNvSpPr>
          <p:nvPr/>
        </p:nvSpPr>
        <p:spPr>
          <a:xfrm>
            <a:off x="942975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출석·시험 운영 화면으로 확장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45F5AD3-EBE3-4CBC-84EA-C6A75C322B1A}"/>
              </a:ext>
            </a:extLst>
          </p:cNvPr>
          <p:cNvSpPr>
            <a:spLocks noGrp="1"/>
          </p:cNvSpPr>
          <p:nvPr/>
        </p:nvSpPr>
        <p:spPr>
          <a:xfrm>
            <a:off x="762000" y="85344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ED4BE9-84B6-4EBE-9816-E9883F07D29E}"/>
              </a:ext>
            </a:extLst>
          </p:cNvPr>
          <p:cNvSpPr>
            <a:spLocks noGrp="1"/>
          </p:cNvSpPr>
          <p:nvPr/>
        </p:nvSpPr>
        <p:spPr>
          <a:xfrm>
            <a:off x="971550" y="87820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화면 증거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A6F471-F17B-4A9F-9B80-CCB811E78912}"/>
              </a:ext>
            </a:extLst>
          </p:cNvPr>
          <p:cNvSpPr>
            <a:spLocks noGrp="1"/>
          </p:cNvSpPr>
          <p:nvPr/>
        </p:nvSpPr>
        <p:spPr>
          <a:xfrm>
            <a:off x="2571750" y="87820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스크린샷은 장식이 아니라 구현된 사용자 흐름을 확인하는 증거 객체로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437331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83CA5E7-CCA9-4BD0-8119-7CBB630233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48F6D5-D4D9-4ADC-8750-416F1583528E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193363-617F-4654-99E3-193C42BF7BFD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진행 상황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8FE469-C065-4244-A551-5F5B0E9074D4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강의 관련 기능 - 강의 홈, 자료, 영상 (학생)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08877-2CB6-4B76-9CF4-DE6C2026083D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5A3D3AE-AA46-43A7-99BB-8D8DE463A2A0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03911B-DF84-40EC-AAC1-1298F3EA7562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25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56826BE-18B9-475D-A891-D85E53B7FA31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8296275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84889" y="2190750"/>
            <a:ext cx="5850497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3B2EE28-C1CF-4C7F-9802-9B9978887C6F}"/>
              </a:ext>
            </a:extLst>
          </p:cNvPr>
          <p:cNvSpPr>
            <a:spLocks noGrp="1"/>
          </p:cNvSpPr>
          <p:nvPr/>
        </p:nvSpPr>
        <p:spPr>
          <a:xfrm>
            <a:off x="762000" y="68389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학생 강의 홈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4732AEB-03D8-4A50-B033-3FCBC1003C0A}"/>
              </a:ext>
            </a:extLst>
          </p:cNvPr>
          <p:cNvSpPr>
            <a:spLocks noGrp="1"/>
          </p:cNvSpPr>
          <p:nvPr/>
        </p:nvSpPr>
        <p:spPr>
          <a:xfrm>
            <a:off x="9229725" y="2095500"/>
            <a:ext cx="8296275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452614" y="2190750"/>
            <a:ext cx="5850497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FE1E22-9063-4BDA-A7B3-6D3808BB5140}"/>
              </a:ext>
            </a:extLst>
          </p:cNvPr>
          <p:cNvSpPr>
            <a:spLocks noGrp="1"/>
          </p:cNvSpPr>
          <p:nvPr/>
        </p:nvSpPr>
        <p:spPr>
          <a:xfrm>
            <a:off x="9239250" y="68389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학습 자료 / 영상 UI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9CEA79F-43D1-4335-BADE-BE6A68FD2B39}"/>
              </a:ext>
            </a:extLst>
          </p:cNvPr>
          <p:cNvSpPr>
            <a:spLocks noGrp="1"/>
          </p:cNvSpPr>
          <p:nvPr/>
        </p:nvSpPr>
        <p:spPr>
          <a:xfrm>
            <a:off x="762000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2FADBA-1B9B-4397-8EB4-3539E26370F7}"/>
              </a:ext>
            </a:extLst>
          </p:cNvPr>
          <p:cNvSpPr>
            <a:spLocks noGrp="1"/>
          </p:cNvSpPr>
          <p:nvPr/>
        </p:nvSpPr>
        <p:spPr>
          <a:xfrm>
            <a:off x="952500" y="73723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A043C0-92B0-4098-A831-0871D1001015}"/>
              </a:ext>
            </a:extLst>
          </p:cNvPr>
          <p:cNvSpPr>
            <a:spLocks noGrp="1"/>
          </p:cNvSpPr>
          <p:nvPr/>
        </p:nvSpPr>
        <p:spPr>
          <a:xfrm>
            <a:off x="95250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Scaffold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DAB70F-7C03-4469-9E07-729494BD0B2F}"/>
              </a:ext>
            </a:extLst>
          </p:cNvPr>
          <p:cNvSpPr>
            <a:spLocks noGrp="1"/>
          </p:cNvSpPr>
          <p:nvPr/>
        </p:nvSpPr>
        <p:spPr>
          <a:xfrm>
            <a:off x="95250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학습 콘텐츠 영역은 Front 임시 scaffold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2E47E5D-14BE-46ED-A0DD-AA107DD87DBD}"/>
              </a:ext>
            </a:extLst>
          </p:cNvPr>
          <p:cNvSpPr>
            <a:spLocks noGrp="1"/>
          </p:cNvSpPr>
          <p:nvPr/>
        </p:nvSpPr>
        <p:spPr>
          <a:xfrm>
            <a:off x="9229725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9831E7-0080-421A-B3CD-60425610DCD6}"/>
              </a:ext>
            </a:extLst>
          </p:cNvPr>
          <p:cNvSpPr>
            <a:spLocks noGrp="1"/>
          </p:cNvSpPr>
          <p:nvPr/>
        </p:nvSpPr>
        <p:spPr>
          <a:xfrm>
            <a:off x="9429750" y="7372350"/>
            <a:ext cx="628650" cy="38100"/>
          </a:xfrm>
          <a:prstGeom prst="rect">
            <a:avLst/>
          </a:prstGeom>
          <a:solidFill>
            <a:srgbClr val="102A4C"/>
          </a:solidFill>
          <a:ln w="0">
            <a:solidFill>
              <a:srgbClr val="102A4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7D2272-E829-41F3-8A60-FFE686CC16EE}"/>
              </a:ext>
            </a:extLst>
          </p:cNvPr>
          <p:cNvSpPr>
            <a:spLocks noGrp="1"/>
          </p:cNvSpPr>
          <p:nvPr/>
        </p:nvSpPr>
        <p:spPr>
          <a:xfrm>
            <a:off x="942975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Next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76634-9E9C-490C-A47D-7371B004B49D}"/>
              </a:ext>
            </a:extLst>
          </p:cNvPr>
          <p:cNvSpPr>
            <a:spLocks noGrp="1"/>
          </p:cNvSpPr>
          <p:nvPr/>
        </p:nvSpPr>
        <p:spPr>
          <a:xfrm>
            <a:off x="942975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정식 Backend/DB 계약은 Phase 3+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74A0C89-666F-46D9-98F7-6022FAA00401}"/>
              </a:ext>
            </a:extLst>
          </p:cNvPr>
          <p:cNvSpPr>
            <a:spLocks noGrp="1"/>
          </p:cNvSpPr>
          <p:nvPr/>
        </p:nvSpPr>
        <p:spPr>
          <a:xfrm>
            <a:off x="762000" y="85344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A92A96-4AB4-4BE7-AE88-D1BE1DE070CD}"/>
              </a:ext>
            </a:extLst>
          </p:cNvPr>
          <p:cNvSpPr>
            <a:spLocks noGrp="1"/>
          </p:cNvSpPr>
          <p:nvPr/>
        </p:nvSpPr>
        <p:spPr>
          <a:xfrm>
            <a:off x="971550" y="87820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화면 증거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ABB8DE-5596-4AFB-B508-E02656BE1868}"/>
              </a:ext>
            </a:extLst>
          </p:cNvPr>
          <p:cNvSpPr>
            <a:spLocks noGrp="1"/>
          </p:cNvSpPr>
          <p:nvPr/>
        </p:nvSpPr>
        <p:spPr>
          <a:xfrm>
            <a:off x="2571750" y="87820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스크린샷은 장식이 아니라 구현된 사용자 흐름을 확인하는 증거 객체로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011087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8E83587-88CB-4FEF-94BF-D8C4ACC03B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A2AEC0-25C8-4190-9CB8-B40209F77420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31780-6C31-4EE8-83F0-9B78AAD18859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진행 상황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878602-117D-48BD-B500-4D6662F83E5D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시험 목록, 시험 응시, 시험 답안 등 (학생)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A66C36-8E36-4CBC-BC56-816FE39808D8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DDE8C8-0527-4A40-B7F0-4A6C283F5AEB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4CC09D-BF26-4941-B651-6ABB512EC251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26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EA5D39-DD3E-4FCD-83DF-B9E05CB658E8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5473700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6384" y="2190750"/>
            <a:ext cx="4984932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480E5D5-3807-4B53-8E94-5ED4E72836B1}"/>
              </a:ext>
            </a:extLst>
          </p:cNvPr>
          <p:cNvSpPr>
            <a:spLocks noGrp="1"/>
          </p:cNvSpPr>
          <p:nvPr/>
        </p:nvSpPr>
        <p:spPr>
          <a:xfrm>
            <a:off x="762000" y="6838950"/>
            <a:ext cx="5467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학생 시험 목록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853055-22AE-469F-954F-4FBD7DB9B759}"/>
              </a:ext>
            </a:extLst>
          </p:cNvPr>
          <p:cNvSpPr>
            <a:spLocks noGrp="1"/>
          </p:cNvSpPr>
          <p:nvPr/>
        </p:nvSpPr>
        <p:spPr>
          <a:xfrm>
            <a:off x="6407150" y="2095500"/>
            <a:ext cx="5473700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02400" y="2407426"/>
            <a:ext cx="5283200" cy="4035778"/>
          </a:xfrm>
          <a:prstGeom prst="roundRect">
            <a:avLst>
              <a:gd name="adj" fmla="val 853"/>
            </a:avLst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2AD43CB-743C-48A8-B8D2-67520772AEFE}"/>
              </a:ext>
            </a:extLst>
          </p:cNvPr>
          <p:cNvSpPr>
            <a:spLocks noGrp="1"/>
          </p:cNvSpPr>
          <p:nvPr/>
        </p:nvSpPr>
        <p:spPr>
          <a:xfrm>
            <a:off x="6400800" y="6838950"/>
            <a:ext cx="5467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시험 응시 화면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2958586-216F-4F09-81FF-E8710877781C}"/>
              </a:ext>
            </a:extLst>
          </p:cNvPr>
          <p:cNvSpPr>
            <a:spLocks noGrp="1"/>
          </p:cNvSpPr>
          <p:nvPr/>
        </p:nvSpPr>
        <p:spPr>
          <a:xfrm>
            <a:off x="12052300" y="2095500"/>
            <a:ext cx="5473700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147550" y="2407426"/>
            <a:ext cx="5283200" cy="4035778"/>
          </a:xfrm>
          <a:prstGeom prst="roundRect">
            <a:avLst>
              <a:gd name="adj" fmla="val 853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E51042-1898-45EC-B773-8952B0DD9659}"/>
              </a:ext>
            </a:extLst>
          </p:cNvPr>
          <p:cNvSpPr>
            <a:spLocks noGrp="1"/>
          </p:cNvSpPr>
          <p:nvPr/>
        </p:nvSpPr>
        <p:spPr>
          <a:xfrm>
            <a:off x="12058650" y="6838950"/>
            <a:ext cx="5467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시험 제출 결과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777C68A-E0C7-41E8-99A3-2484CF9EA0BB}"/>
              </a:ext>
            </a:extLst>
          </p:cNvPr>
          <p:cNvSpPr>
            <a:spLocks noGrp="1"/>
          </p:cNvSpPr>
          <p:nvPr/>
        </p:nvSpPr>
        <p:spPr>
          <a:xfrm>
            <a:off x="762000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F8EF7D-E04C-42C0-B404-0F185CCAEA45}"/>
              </a:ext>
            </a:extLst>
          </p:cNvPr>
          <p:cNvSpPr>
            <a:spLocks noGrp="1"/>
          </p:cNvSpPr>
          <p:nvPr/>
        </p:nvSpPr>
        <p:spPr>
          <a:xfrm>
            <a:off x="952500" y="73723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F270B2-2577-48A6-975F-3811692A6394}"/>
              </a:ext>
            </a:extLst>
          </p:cNvPr>
          <p:cNvSpPr>
            <a:spLocks noGrp="1"/>
          </p:cNvSpPr>
          <p:nvPr/>
        </p:nvSpPr>
        <p:spPr>
          <a:xfrm>
            <a:off x="95250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Exam MVP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D32934-47AA-4E72-AD26-C40B5A86A220}"/>
              </a:ext>
            </a:extLst>
          </p:cNvPr>
          <p:cNvSpPr>
            <a:spLocks noGrp="1"/>
          </p:cNvSpPr>
          <p:nvPr/>
        </p:nvSpPr>
        <p:spPr>
          <a:xfrm>
            <a:off x="95250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start/save/submit 로컬 MVP 완료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FA570F-4265-4969-ACBC-496C943DBB23}"/>
              </a:ext>
            </a:extLst>
          </p:cNvPr>
          <p:cNvSpPr>
            <a:spLocks noGrp="1"/>
          </p:cNvSpPr>
          <p:nvPr/>
        </p:nvSpPr>
        <p:spPr>
          <a:xfrm>
            <a:off x="9229725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F0AD12-2890-4492-BC84-5ECCB0325303}"/>
              </a:ext>
            </a:extLst>
          </p:cNvPr>
          <p:cNvSpPr>
            <a:spLocks noGrp="1"/>
          </p:cNvSpPr>
          <p:nvPr/>
        </p:nvSpPr>
        <p:spPr>
          <a:xfrm>
            <a:off x="9429750" y="73723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114DD0-6881-4355-874B-5D300366A4A9}"/>
              </a:ext>
            </a:extLst>
          </p:cNvPr>
          <p:cNvSpPr>
            <a:spLocks noGrp="1"/>
          </p:cNvSpPr>
          <p:nvPr/>
        </p:nvSpPr>
        <p:spPr>
          <a:xfrm>
            <a:off x="942975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Guard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DF86E3-671E-4919-82A8-0AEF6319094E}"/>
              </a:ext>
            </a:extLst>
          </p:cNvPr>
          <p:cNvSpPr>
            <a:spLocks noGrp="1"/>
          </p:cNvSpPr>
          <p:nvPr/>
        </p:nvSpPr>
        <p:spPr>
          <a:xfrm>
            <a:off x="942975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등록 단말 start guard와 응시 상태 관리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3776D95-C423-47AF-8A98-FCAE40167FEE}"/>
              </a:ext>
            </a:extLst>
          </p:cNvPr>
          <p:cNvSpPr>
            <a:spLocks noGrp="1"/>
          </p:cNvSpPr>
          <p:nvPr/>
        </p:nvSpPr>
        <p:spPr>
          <a:xfrm>
            <a:off x="762000" y="85344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6CAE47-AEAD-4B5E-89E4-D73B179AC03F}"/>
              </a:ext>
            </a:extLst>
          </p:cNvPr>
          <p:cNvSpPr>
            <a:spLocks noGrp="1"/>
          </p:cNvSpPr>
          <p:nvPr/>
        </p:nvSpPr>
        <p:spPr>
          <a:xfrm>
            <a:off x="971550" y="87820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화면 증거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AB3A25-54D4-4599-A8F0-F9ED8ECB4865}"/>
              </a:ext>
            </a:extLst>
          </p:cNvPr>
          <p:cNvSpPr>
            <a:spLocks noGrp="1"/>
          </p:cNvSpPr>
          <p:nvPr/>
        </p:nvSpPr>
        <p:spPr>
          <a:xfrm>
            <a:off x="2571750" y="87820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스크린샷은 장식이 아니라 구현된 사용자 흐름을 확인하는 증거 객체로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602520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D81D9F0-A84B-4AE1-A8AD-D8A4DF679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4BABCD-F30A-4F04-BE24-374EC99B3554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1991FB-4E0F-40DC-B590-1DB9FBBD37D7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진행 상황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43295-6EAB-4231-A279-204FF5CFCF3C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출석 시연 (학생, 교수, 관리자)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E8E3F5-1322-4376-89D5-213AFE6BF21C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7427C4-F151-433C-AFE4-408F9220C65D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F9555-F81F-4FC2-8E23-B53AAB2B6130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27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C7200A-456E-41EA-8141-C071F44E8F1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8296275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560966" y="2190750"/>
            <a:ext cx="2698343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D43820B-75FE-44A4-91A0-4C94027AE304}"/>
              </a:ext>
            </a:extLst>
          </p:cNvPr>
          <p:cNvSpPr>
            <a:spLocks noGrp="1"/>
          </p:cNvSpPr>
          <p:nvPr/>
        </p:nvSpPr>
        <p:spPr>
          <a:xfrm>
            <a:off x="762000" y="68389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학생 eligibility 결과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FDFA419-08BB-46FE-BED0-54C196BC2BA0}"/>
              </a:ext>
            </a:extLst>
          </p:cNvPr>
          <p:cNvSpPr>
            <a:spLocks noGrp="1"/>
          </p:cNvSpPr>
          <p:nvPr/>
        </p:nvSpPr>
        <p:spPr>
          <a:xfrm>
            <a:off x="9229725" y="2095500"/>
            <a:ext cx="8296275" cy="4659630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83464" y="2190750"/>
            <a:ext cx="4988796" cy="4469130"/>
          </a:xfrm>
          <a:prstGeom prst="roundRect">
            <a:avLst>
              <a:gd name="adj" fmla="val 853"/>
            </a:avLst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C9CEED2-83DB-46E1-9684-1C0657781D39}"/>
              </a:ext>
            </a:extLst>
          </p:cNvPr>
          <p:cNvSpPr>
            <a:spLocks noGrp="1"/>
          </p:cNvSpPr>
          <p:nvPr/>
        </p:nvSpPr>
        <p:spPr>
          <a:xfrm>
            <a:off x="9239250" y="68389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관리자 demo overlay 적용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8169D27-7E45-46B0-BDCD-5A2911338150}"/>
              </a:ext>
            </a:extLst>
          </p:cNvPr>
          <p:cNvSpPr>
            <a:spLocks noGrp="1"/>
          </p:cNvSpPr>
          <p:nvPr/>
        </p:nvSpPr>
        <p:spPr>
          <a:xfrm>
            <a:off x="762000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79FC60-5B70-4D18-BC84-6A49D382721E}"/>
              </a:ext>
            </a:extLst>
          </p:cNvPr>
          <p:cNvSpPr>
            <a:spLocks noGrp="1"/>
          </p:cNvSpPr>
          <p:nvPr/>
        </p:nvSpPr>
        <p:spPr>
          <a:xfrm>
            <a:off x="952500" y="73723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B6882A-09A3-42FB-9C97-CBC9CA31274D}"/>
              </a:ext>
            </a:extLst>
          </p:cNvPr>
          <p:cNvSpPr>
            <a:spLocks noGrp="1"/>
          </p:cNvSpPr>
          <p:nvPr/>
        </p:nvSpPr>
        <p:spPr>
          <a:xfrm>
            <a:off x="95250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Before check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447ECA-085C-4523-BA9F-313EB8215AD0}"/>
              </a:ext>
            </a:extLst>
          </p:cNvPr>
          <p:cNvSpPr>
            <a:spLocks noGrp="1"/>
          </p:cNvSpPr>
          <p:nvPr/>
        </p:nvSpPr>
        <p:spPr>
          <a:xfrm>
            <a:off x="95250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학생 출석 전 상태에서 eligibility 요청으로 이동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1CB6CE2-FF49-42CC-BAC2-25F9316920EB}"/>
              </a:ext>
            </a:extLst>
          </p:cNvPr>
          <p:cNvSpPr>
            <a:spLocks noGrp="1"/>
          </p:cNvSpPr>
          <p:nvPr/>
        </p:nvSpPr>
        <p:spPr>
          <a:xfrm>
            <a:off x="9229725" y="7219950"/>
            <a:ext cx="82962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600D6B-C1AE-4B88-B92A-B7E48B23B4C6}"/>
              </a:ext>
            </a:extLst>
          </p:cNvPr>
          <p:cNvSpPr>
            <a:spLocks noGrp="1"/>
          </p:cNvSpPr>
          <p:nvPr/>
        </p:nvSpPr>
        <p:spPr>
          <a:xfrm>
            <a:off x="9429750" y="73723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2E66CF-8C8D-4D0A-BAB8-24682E044C84}"/>
              </a:ext>
            </a:extLst>
          </p:cNvPr>
          <p:cNvSpPr>
            <a:spLocks noGrp="1"/>
          </p:cNvSpPr>
          <p:nvPr/>
        </p:nvSpPr>
        <p:spPr>
          <a:xfrm>
            <a:off x="9429750" y="7486650"/>
            <a:ext cx="7924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AE9C7E-D7A9-4E74-BE1A-7A2CA5115AF8}"/>
              </a:ext>
            </a:extLst>
          </p:cNvPr>
          <p:cNvSpPr>
            <a:spLocks noGrp="1"/>
          </p:cNvSpPr>
          <p:nvPr/>
        </p:nvSpPr>
        <p:spPr>
          <a:xfrm>
            <a:off x="9429750" y="78295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reasonCode와 evidence 기반 피드백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1220F20-6197-480C-A843-C9996D6A1259}"/>
              </a:ext>
            </a:extLst>
          </p:cNvPr>
          <p:cNvSpPr>
            <a:spLocks noGrp="1"/>
          </p:cNvSpPr>
          <p:nvPr/>
        </p:nvSpPr>
        <p:spPr>
          <a:xfrm>
            <a:off x="762000" y="85344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3E4530-7F3D-4352-8160-2C16D517A991}"/>
              </a:ext>
            </a:extLst>
          </p:cNvPr>
          <p:cNvSpPr>
            <a:spLocks noGrp="1"/>
          </p:cNvSpPr>
          <p:nvPr/>
        </p:nvSpPr>
        <p:spPr>
          <a:xfrm>
            <a:off x="971550" y="87820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화면 증거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B7C5C7-29BB-46CE-8E6E-56924B83D43F}"/>
              </a:ext>
            </a:extLst>
          </p:cNvPr>
          <p:cNvSpPr>
            <a:spLocks noGrp="1"/>
          </p:cNvSpPr>
          <p:nvPr/>
        </p:nvSpPr>
        <p:spPr>
          <a:xfrm>
            <a:off x="2571750" y="87820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스크린샷은 장식이 아니라 구현된 사용자 흐름을 확인하는 증거 객체로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258658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A8E324E-19B0-4652-B7C2-BDE66F4BFF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E1D009-E8C5-4539-A5E2-4CACCD32CA2F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5AA3D-6704-4F91-8A72-2A0C9B111457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시연 접속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AF0D62-AFA2-4AF6-AA63-D07ED90A5542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영상과 데모 서비스는 발표 중 즉시 확인할 수 있도록 QR과 URL을 함께 제공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48F12A-CD62-4A28-8CEC-07FCBE1AE1B7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D040A2-E946-42F8-B07F-B12D128BAF4A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873989-2182-41D4-AA0A-B58E1B446153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28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90E4FF-E73C-420F-A324-1D2C5D6B6C02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8248650" cy="4762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238E0A-A040-409A-9C40-B4F9E5ED76B7}"/>
              </a:ext>
            </a:extLst>
          </p:cNvPr>
          <p:cNvSpPr>
            <a:spLocks noGrp="1"/>
          </p:cNvSpPr>
          <p:nvPr/>
        </p:nvSpPr>
        <p:spPr>
          <a:xfrm>
            <a:off x="1009650" y="2324100"/>
            <a:ext cx="77724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영상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467100" y="2895600"/>
            <a:ext cx="2857500" cy="28575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546DC79-5AC3-4AF8-BB84-8405CD30609E}"/>
              </a:ext>
            </a:extLst>
          </p:cNvPr>
          <p:cNvSpPr>
            <a:spLocks noGrp="1"/>
          </p:cNvSpPr>
          <p:nvPr/>
        </p:nvSpPr>
        <p:spPr>
          <a:xfrm>
            <a:off x="1009650" y="5924550"/>
            <a:ext cx="7772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https://www.youtube.com/watch?v=Lw0nBurmsmg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D2A9698-C73C-4DB0-B3A2-8513C34702A6}"/>
              </a:ext>
            </a:extLst>
          </p:cNvPr>
          <p:cNvSpPr>
            <a:spLocks noGrp="1"/>
          </p:cNvSpPr>
          <p:nvPr/>
        </p:nvSpPr>
        <p:spPr>
          <a:xfrm>
            <a:off x="9277350" y="2095500"/>
            <a:ext cx="8248650" cy="4762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E72298-9780-4812-A053-F6AF6DC252F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77724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데모 서비스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982450" y="2895600"/>
            <a:ext cx="2857500" cy="28575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925B374-5407-499F-B1AE-1FEB00288D6A}"/>
              </a:ext>
            </a:extLst>
          </p:cNvPr>
          <p:cNvSpPr>
            <a:spLocks noGrp="1"/>
          </p:cNvSpPr>
          <p:nvPr/>
        </p:nvSpPr>
        <p:spPr>
          <a:xfrm>
            <a:off x="9525000" y="5924550"/>
            <a:ext cx="7772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https://smart-class.org/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8FCD354-7C0B-48E3-9C4E-1CC450B08BF0}"/>
              </a:ext>
            </a:extLst>
          </p:cNvPr>
          <p:cNvSpPr>
            <a:spLocks noGrp="1"/>
          </p:cNvSpPr>
          <p:nvPr/>
        </p:nvSpPr>
        <p:spPr>
          <a:xfrm>
            <a:off x="762000" y="7029450"/>
            <a:ext cx="5473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0E2229-671F-43B2-9835-537DA75CA906}"/>
              </a:ext>
            </a:extLst>
          </p:cNvPr>
          <p:cNvSpPr>
            <a:spLocks noGrp="1"/>
          </p:cNvSpPr>
          <p:nvPr/>
        </p:nvSpPr>
        <p:spPr>
          <a:xfrm>
            <a:off x="952500" y="71818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F4D9C2-76BA-4D67-8CF1-1977792A5055}"/>
              </a:ext>
            </a:extLst>
          </p:cNvPr>
          <p:cNvSpPr>
            <a:spLocks noGrp="1"/>
          </p:cNvSpPr>
          <p:nvPr/>
        </p:nvSpPr>
        <p:spPr>
          <a:xfrm>
            <a:off x="952500" y="72961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학생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AFF28E-ED4E-4F4D-8779-89F31B0CD409}"/>
              </a:ext>
            </a:extLst>
          </p:cNvPr>
          <p:cNvSpPr>
            <a:spLocks noGrp="1"/>
          </p:cNvSpPr>
          <p:nvPr/>
        </p:nvSpPr>
        <p:spPr>
          <a:xfrm>
            <a:off x="952500" y="76390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출석 eligibility와 시험 응시 흐름 확인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790DB15-04C4-4FA5-A280-3870A65C81F0}"/>
              </a:ext>
            </a:extLst>
          </p:cNvPr>
          <p:cNvSpPr>
            <a:spLocks noGrp="1"/>
          </p:cNvSpPr>
          <p:nvPr/>
        </p:nvSpPr>
        <p:spPr>
          <a:xfrm>
            <a:off x="6407150" y="7029450"/>
            <a:ext cx="5473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A80AB8-9F16-45EF-A262-3F80EC35D4BF}"/>
              </a:ext>
            </a:extLst>
          </p:cNvPr>
          <p:cNvSpPr>
            <a:spLocks noGrp="1"/>
          </p:cNvSpPr>
          <p:nvPr/>
        </p:nvSpPr>
        <p:spPr>
          <a:xfrm>
            <a:off x="6591300" y="71818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30955B-5AA2-40A7-A9D0-B4686605F543}"/>
              </a:ext>
            </a:extLst>
          </p:cNvPr>
          <p:cNvSpPr>
            <a:spLocks noGrp="1"/>
          </p:cNvSpPr>
          <p:nvPr/>
        </p:nvSpPr>
        <p:spPr>
          <a:xfrm>
            <a:off x="6591300" y="72961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교수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9AEB46-9730-40DA-9993-A38A125D5029}"/>
              </a:ext>
            </a:extLst>
          </p:cNvPr>
          <p:cNvSpPr>
            <a:spLocks noGrp="1"/>
          </p:cNvSpPr>
          <p:nvPr/>
        </p:nvSpPr>
        <p:spPr>
          <a:xfrm>
            <a:off x="6591300" y="76390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출석 세션, roster, 시험 운영 흐름 확인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5456075-0680-43EC-A8E8-EABADA473E99}"/>
              </a:ext>
            </a:extLst>
          </p:cNvPr>
          <p:cNvSpPr>
            <a:spLocks noGrp="1"/>
          </p:cNvSpPr>
          <p:nvPr/>
        </p:nvSpPr>
        <p:spPr>
          <a:xfrm>
            <a:off x="12052300" y="7029450"/>
            <a:ext cx="5473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780FE6-5C8D-44A8-B4C6-CC709F12D2C5}"/>
              </a:ext>
            </a:extLst>
          </p:cNvPr>
          <p:cNvSpPr>
            <a:spLocks noGrp="1"/>
          </p:cNvSpPr>
          <p:nvPr/>
        </p:nvSpPr>
        <p:spPr>
          <a:xfrm>
            <a:off x="12249150" y="71818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1222EC-ECDF-498A-B4AF-0748D2672E96}"/>
              </a:ext>
            </a:extLst>
          </p:cNvPr>
          <p:cNvSpPr>
            <a:spLocks noGrp="1"/>
          </p:cNvSpPr>
          <p:nvPr/>
        </p:nvSpPr>
        <p:spPr>
          <a:xfrm>
            <a:off x="12249150" y="72961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관리자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7C7D3A-1028-4522-BED0-AB67BF1D26D1}"/>
              </a:ext>
            </a:extLst>
          </p:cNvPr>
          <p:cNvSpPr>
            <a:spLocks noGrp="1"/>
          </p:cNvSpPr>
          <p:nvPr/>
        </p:nvSpPr>
        <p:spPr>
          <a:xfrm>
            <a:off x="12249150" y="76390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강의실 네트워크와 demo overlay 제어 확인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9D091BD-6420-4BDE-9CC7-447EDDEBA054}"/>
              </a:ext>
            </a:extLst>
          </p:cNvPr>
          <p:cNvSpPr>
            <a:spLocks noGrp="1"/>
          </p:cNvSpPr>
          <p:nvPr/>
        </p:nvSpPr>
        <p:spPr>
          <a:xfrm>
            <a:off x="762000" y="86296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5AF3C3-A3D2-481A-9630-206D399ED1D8}"/>
              </a:ext>
            </a:extLst>
          </p:cNvPr>
          <p:cNvSpPr>
            <a:spLocks noGrp="1"/>
          </p:cNvSpPr>
          <p:nvPr/>
        </p:nvSpPr>
        <p:spPr>
          <a:xfrm>
            <a:off x="971550" y="88773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시연 포인트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6C6ACB-7572-4D2F-8FDF-EF93A97B1A2C}"/>
              </a:ext>
            </a:extLst>
          </p:cNvPr>
          <p:cNvSpPr>
            <a:spLocks noGrp="1"/>
          </p:cNvSpPr>
          <p:nvPr/>
        </p:nvSpPr>
        <p:spPr>
          <a:xfrm>
            <a:off x="2571750" y="88773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발표 중 실제 서비스와 영상으로 바로 이동해 학생, 교수, 관리자 흐름을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01974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EAF94BC-7A40-43E3-B50C-7D27D5EFF7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1FF6992-560F-4346-80B7-AF78DAA5D9F8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558ABB-2C31-4F8D-B991-7355C5D220E5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진행 상황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B55F34-23E2-4823-8374-992F308843BA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그 외 출석 관련 기능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98A0B3-E889-4267-A761-A5955D48B725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A56D37-32A9-4CF0-AE4A-7835C33B46DB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386910-0BE8-42D8-80AA-FE9A11E2CC6E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29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57F3BC-38FD-4F5F-A2C5-33EB22050F0D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370344" cy="4754880"/>
          </a:xfrm>
          <a:prstGeom prst="roundRect">
            <a:avLst>
              <a:gd name="adj" fmla="val 120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959578" y="2190750"/>
            <a:ext cx="5975188" cy="4564380"/>
          </a:xfrm>
          <a:prstGeom prst="roundRect">
            <a:avLst>
              <a:gd name="adj" fmla="val 835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B503F7-0EDE-4EAA-A7B2-EECBC96C8060}"/>
              </a:ext>
            </a:extLst>
          </p:cNvPr>
          <p:cNvSpPr>
            <a:spLocks noGrp="1"/>
          </p:cNvSpPr>
          <p:nvPr/>
        </p:nvSpPr>
        <p:spPr>
          <a:xfrm>
            <a:off x="762000" y="6934200"/>
            <a:ext cx="10363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교수 출석 roster - 학생별 상태와 조작 흐름을 확인할 수 있는 핵심 증빙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ACE642-BB6D-4396-B831-C7B984516130}"/>
              </a:ext>
            </a:extLst>
          </p:cNvPr>
          <p:cNvSpPr>
            <a:spLocks noGrp="1"/>
          </p:cNvSpPr>
          <p:nvPr/>
        </p:nvSpPr>
        <p:spPr>
          <a:xfrm>
            <a:off x="11303794" y="2095500"/>
            <a:ext cx="6222206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305651-B85D-4F1D-A494-C5E29E908F5D}"/>
              </a:ext>
            </a:extLst>
          </p:cNvPr>
          <p:cNvSpPr>
            <a:spLocks noGrp="1"/>
          </p:cNvSpPr>
          <p:nvPr/>
        </p:nvSpPr>
        <p:spPr>
          <a:xfrm>
            <a:off x="11487150" y="22479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E79693-52B0-4991-A98E-BF4BE60DC626}"/>
              </a:ext>
            </a:extLst>
          </p:cNvPr>
          <p:cNvSpPr>
            <a:spLocks noGrp="1"/>
          </p:cNvSpPr>
          <p:nvPr/>
        </p:nvSpPr>
        <p:spPr>
          <a:xfrm>
            <a:off x="11487150" y="2362200"/>
            <a:ext cx="5848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Bundle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43F449-D9D4-4AB2-B12D-258D235CFCF6}"/>
              </a:ext>
            </a:extLst>
          </p:cNvPr>
          <p:cNvSpPr>
            <a:spLocks noGrp="1"/>
          </p:cNvSpPr>
          <p:nvPr/>
        </p:nvSpPr>
        <p:spPr>
          <a:xfrm>
            <a:off x="11487150" y="2705100"/>
            <a:ext cx="5848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parent session과 slot fan-out 운영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C8A7429-8BDE-4E8D-B7FD-2F654BEEA058}"/>
              </a:ext>
            </a:extLst>
          </p:cNvPr>
          <p:cNvSpPr>
            <a:spLocks noGrp="1"/>
          </p:cNvSpPr>
          <p:nvPr/>
        </p:nvSpPr>
        <p:spPr>
          <a:xfrm>
            <a:off x="11303794" y="3771900"/>
            <a:ext cx="6222206" cy="152400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2BB88F-FF41-4704-ABFA-01902E8D6F8A}"/>
              </a:ext>
            </a:extLst>
          </p:cNvPr>
          <p:cNvSpPr>
            <a:spLocks noGrp="1"/>
          </p:cNvSpPr>
          <p:nvPr/>
        </p:nvSpPr>
        <p:spPr>
          <a:xfrm>
            <a:off x="11487150" y="392430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7C27B6-D430-4A66-B36E-C595946B0BEF}"/>
              </a:ext>
            </a:extLst>
          </p:cNvPr>
          <p:cNvSpPr>
            <a:spLocks noGrp="1"/>
          </p:cNvSpPr>
          <p:nvPr/>
        </p:nvSpPr>
        <p:spPr>
          <a:xfrm>
            <a:off x="11487150" y="4038600"/>
            <a:ext cx="5848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Audit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D745FD-9444-401C-B194-E1E1A26070BF}"/>
              </a:ext>
            </a:extLst>
          </p:cNvPr>
          <p:cNvSpPr>
            <a:spLocks noGrp="1"/>
          </p:cNvSpPr>
          <p:nvPr/>
        </p:nvSpPr>
        <p:spPr>
          <a:xfrm>
            <a:off x="11487150" y="4381500"/>
            <a:ext cx="5848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상태 변경과 사유 기록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52B5E45-A383-4C82-AAE0-FF74F7177F99}"/>
              </a:ext>
            </a:extLst>
          </p:cNvPr>
          <p:cNvSpPr>
            <a:spLocks noGrp="1"/>
          </p:cNvSpPr>
          <p:nvPr/>
        </p:nvSpPr>
        <p:spPr>
          <a:xfrm>
            <a:off x="11303794" y="5448300"/>
            <a:ext cx="6222206" cy="1524000"/>
          </a:xfrm>
          <a:prstGeom prst="roundRect">
            <a:avLst>
              <a:gd name="adj" fmla="val 5000"/>
            </a:avLst>
          </a:prstGeom>
          <a:solidFill>
            <a:srgbClr val="ECF8F1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2CDFD0-B4CC-44E8-B432-90693BE7FD7A}"/>
              </a:ext>
            </a:extLst>
          </p:cNvPr>
          <p:cNvSpPr>
            <a:spLocks noGrp="1"/>
          </p:cNvSpPr>
          <p:nvPr/>
        </p:nvSpPr>
        <p:spPr>
          <a:xfrm>
            <a:off x="11487150" y="560070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CAB2C8-ACED-477F-B735-69F7CBFB508D}"/>
              </a:ext>
            </a:extLst>
          </p:cNvPr>
          <p:cNvSpPr>
            <a:spLocks noGrp="1"/>
          </p:cNvSpPr>
          <p:nvPr/>
        </p:nvSpPr>
        <p:spPr>
          <a:xfrm>
            <a:off x="11487150" y="5715000"/>
            <a:ext cx="5848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Save result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A0336F-F349-4235-89E4-43D4729C873D}"/>
              </a:ext>
            </a:extLst>
          </p:cNvPr>
          <p:cNvSpPr>
            <a:spLocks noGrp="1"/>
          </p:cNvSpPr>
          <p:nvPr/>
        </p:nvSpPr>
        <p:spPr>
          <a:xfrm>
            <a:off x="11487150" y="6057900"/>
            <a:ext cx="5848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상태 수정 저장 결과는 roster 흐름의 후속 피드백으로 분리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C08320F-0A2C-4935-8596-65490E8AF9E3}"/>
              </a:ext>
            </a:extLst>
          </p:cNvPr>
          <p:cNvSpPr>
            <a:spLocks noGrp="1"/>
          </p:cNvSpPr>
          <p:nvPr/>
        </p:nvSpPr>
        <p:spPr>
          <a:xfrm>
            <a:off x="762000" y="7315200"/>
            <a:ext cx="5473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E92987-B9D6-404C-931B-FC0352C361F9}"/>
              </a:ext>
            </a:extLst>
          </p:cNvPr>
          <p:cNvSpPr>
            <a:spLocks noGrp="1"/>
          </p:cNvSpPr>
          <p:nvPr/>
        </p:nvSpPr>
        <p:spPr>
          <a:xfrm>
            <a:off x="952500" y="74676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F612DF-220D-4B9D-B76D-73B7E2DCAA4B}"/>
              </a:ext>
            </a:extLst>
          </p:cNvPr>
          <p:cNvSpPr>
            <a:spLocks noGrp="1"/>
          </p:cNvSpPr>
          <p:nvPr/>
        </p:nvSpPr>
        <p:spPr>
          <a:xfrm>
            <a:off x="952500" y="7581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Timer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16C564-663E-4060-A9AC-897B1F62C3A6}"/>
              </a:ext>
            </a:extLst>
          </p:cNvPr>
          <p:cNvSpPr>
            <a:spLocks noGrp="1"/>
          </p:cNvSpPr>
          <p:nvPr/>
        </p:nvSpPr>
        <p:spPr>
          <a:xfrm>
            <a:off x="952500" y="79248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출석 세션 진행 시간을 교수 화면에서 확인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93FA9ED-53AF-4A8C-8246-0276808AA184}"/>
              </a:ext>
            </a:extLst>
          </p:cNvPr>
          <p:cNvSpPr>
            <a:spLocks noGrp="1"/>
          </p:cNvSpPr>
          <p:nvPr/>
        </p:nvSpPr>
        <p:spPr>
          <a:xfrm>
            <a:off x="6407150" y="7315200"/>
            <a:ext cx="5473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6E75DA-87CB-469D-A6E3-DC6A176D595E}"/>
              </a:ext>
            </a:extLst>
          </p:cNvPr>
          <p:cNvSpPr>
            <a:spLocks noGrp="1"/>
          </p:cNvSpPr>
          <p:nvPr/>
        </p:nvSpPr>
        <p:spPr>
          <a:xfrm>
            <a:off x="6591300" y="746760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DF3112-E8F2-41DC-B850-4337F96D7FD7}"/>
              </a:ext>
            </a:extLst>
          </p:cNvPr>
          <p:cNvSpPr>
            <a:spLocks noGrp="1"/>
          </p:cNvSpPr>
          <p:nvPr/>
        </p:nvSpPr>
        <p:spPr>
          <a:xfrm>
            <a:off x="6591300" y="7581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Roster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CA98CB-DB60-4773-ACD7-7C51DA8CE204}"/>
              </a:ext>
            </a:extLst>
          </p:cNvPr>
          <p:cNvSpPr>
            <a:spLocks noGrp="1"/>
          </p:cNvSpPr>
          <p:nvPr/>
        </p:nvSpPr>
        <p:spPr>
          <a:xfrm>
            <a:off x="6591300" y="79248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학생별 출석 상태를 한 화면에서 관리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F6F88FC-2D99-4AF6-B765-E6F4AF8AA4CD}"/>
              </a:ext>
            </a:extLst>
          </p:cNvPr>
          <p:cNvSpPr>
            <a:spLocks noGrp="1"/>
          </p:cNvSpPr>
          <p:nvPr/>
        </p:nvSpPr>
        <p:spPr>
          <a:xfrm>
            <a:off x="12052300" y="7315200"/>
            <a:ext cx="5473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6F2B11-771B-4492-8DEB-6ED5442F015C}"/>
              </a:ext>
            </a:extLst>
          </p:cNvPr>
          <p:cNvSpPr>
            <a:spLocks noGrp="1"/>
          </p:cNvSpPr>
          <p:nvPr/>
        </p:nvSpPr>
        <p:spPr>
          <a:xfrm>
            <a:off x="12249150" y="746760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6B00A4D-DD8C-4F96-BC45-3D407CF7039B}"/>
              </a:ext>
            </a:extLst>
          </p:cNvPr>
          <p:cNvSpPr>
            <a:spLocks noGrp="1"/>
          </p:cNvSpPr>
          <p:nvPr/>
        </p:nvSpPr>
        <p:spPr>
          <a:xfrm>
            <a:off x="12249150" y="75819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Manual update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9C877B-7EBC-4A05-9D4F-BA1CF4894762}"/>
              </a:ext>
            </a:extLst>
          </p:cNvPr>
          <p:cNvSpPr>
            <a:spLocks noGrp="1"/>
          </p:cNvSpPr>
          <p:nvPr/>
        </p:nvSpPr>
        <p:spPr>
          <a:xfrm>
            <a:off x="12249150" y="79248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수정 사유와 저장 결과를 audit로 연결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F08E9D9-ECD6-4BF4-86BF-B87F3E6E789E}"/>
              </a:ext>
            </a:extLst>
          </p:cNvPr>
          <p:cNvSpPr>
            <a:spLocks noGrp="1"/>
          </p:cNvSpPr>
          <p:nvPr/>
        </p:nvSpPr>
        <p:spPr>
          <a:xfrm>
            <a:off x="762000" y="86106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517D55-BB75-4719-9D03-49CC885B23AE}"/>
              </a:ext>
            </a:extLst>
          </p:cNvPr>
          <p:cNvSpPr>
            <a:spLocks noGrp="1"/>
          </p:cNvSpPr>
          <p:nvPr/>
        </p:nvSpPr>
        <p:spPr>
          <a:xfrm>
            <a:off x="971550" y="88582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화면 증거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2FACA3-C1C4-41BD-B422-C9F6E78F3F26}"/>
              </a:ext>
            </a:extLst>
          </p:cNvPr>
          <p:cNvSpPr>
            <a:spLocks noGrp="1"/>
          </p:cNvSpPr>
          <p:nvPr/>
        </p:nvSpPr>
        <p:spPr>
          <a:xfrm>
            <a:off x="2571750" y="88582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슬라이드 28은 작은 여러 화면 대신 roster를 크게 보여주고, 저장 결과는 의미 카드로 보조합니다.</a:t>
            </a:r>
          </a:p>
        </p:txBody>
      </p:sp>
    </p:spTree>
    <p:extLst>
      <p:ext uri="{BB962C8B-B14F-4D97-AF65-F5344CB8AC3E}">
        <p14:creationId xmlns:p14="http://schemas.microsoft.com/office/powerpoint/2010/main" val="227667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31C059F5-EE61-4BF6-BE76-B837534816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F260ED-CAB2-449B-8F04-AAEAB8533011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CB5AA-1808-428D-A5E2-D73EC31882A9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기능별 Sequence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29A269-58CC-4629-85BA-E259BFF2E463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학생 / 교수 / 관리자 로그인은 세션 발급과 bootstrap으로 역할별 화면에 진입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5B2671-1E25-4D71-9D8C-AD5DBF5013A9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F769EE-E4F5-4FE6-9F5E-81F80F81CE17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CE53C1-5101-4A21-904C-A5A78C248C89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30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C89554A-3DE4-4812-9AD7-D9076DA0FE4F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16764000" cy="5334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A03CDF2-8195-4F45-AB85-F2D9B6DB4BF7}"/>
              </a:ext>
            </a:extLst>
          </p:cNvPr>
          <p:cNvSpPr>
            <a:spLocks noGrp="1"/>
          </p:cNvSpPr>
          <p:nvPr/>
        </p:nvSpPr>
        <p:spPr>
          <a:xfrm>
            <a:off x="1428750" y="230505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356F6F-9BCB-47B8-9E1B-2E1D6EFFBAF5}"/>
              </a:ext>
            </a:extLst>
          </p:cNvPr>
          <p:cNvSpPr>
            <a:spLocks noGrp="1"/>
          </p:cNvSpPr>
          <p:nvPr/>
        </p:nvSpPr>
        <p:spPr>
          <a:xfrm>
            <a:off x="1543050" y="2419350"/>
            <a:ext cx="2628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User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2AA79E-76F7-4653-855D-B51802E2B81C}"/>
              </a:ext>
            </a:extLst>
          </p:cNvPr>
          <p:cNvSpPr>
            <a:spLocks noGrp="1"/>
          </p:cNvSpPr>
          <p:nvPr/>
        </p:nvSpPr>
        <p:spPr>
          <a:xfrm>
            <a:off x="28194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A7AEC26-38C1-4F38-9189-325C07D9A59A}"/>
              </a:ext>
            </a:extLst>
          </p:cNvPr>
          <p:cNvSpPr>
            <a:spLocks noGrp="1"/>
          </p:cNvSpPr>
          <p:nvPr/>
        </p:nvSpPr>
        <p:spPr>
          <a:xfrm>
            <a:off x="5619750" y="230505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7E6216-3ECF-4CCA-9672-9156C5916CCE}"/>
              </a:ext>
            </a:extLst>
          </p:cNvPr>
          <p:cNvSpPr>
            <a:spLocks noGrp="1"/>
          </p:cNvSpPr>
          <p:nvPr/>
        </p:nvSpPr>
        <p:spPr>
          <a:xfrm>
            <a:off x="5734050" y="2419350"/>
            <a:ext cx="2628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Front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C725A1-F0A9-497D-9C64-931C18BDE631}"/>
              </a:ext>
            </a:extLst>
          </p:cNvPr>
          <p:cNvSpPr>
            <a:spLocks noGrp="1"/>
          </p:cNvSpPr>
          <p:nvPr/>
        </p:nvSpPr>
        <p:spPr>
          <a:xfrm>
            <a:off x="70104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255C25D-7489-4F61-843C-1F2DD2B252C5}"/>
              </a:ext>
            </a:extLst>
          </p:cNvPr>
          <p:cNvSpPr>
            <a:spLocks noGrp="1"/>
          </p:cNvSpPr>
          <p:nvPr/>
        </p:nvSpPr>
        <p:spPr>
          <a:xfrm>
            <a:off x="9810750" y="230505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EA7A61-4F41-4F6F-9CF2-1324C58248B7}"/>
              </a:ext>
            </a:extLst>
          </p:cNvPr>
          <p:cNvSpPr>
            <a:spLocks noGrp="1"/>
          </p:cNvSpPr>
          <p:nvPr/>
        </p:nvSpPr>
        <p:spPr>
          <a:xfrm>
            <a:off x="9925050" y="2419350"/>
            <a:ext cx="2628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Backend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5D9853-A57A-4774-A041-2EF4B50E98F3}"/>
              </a:ext>
            </a:extLst>
          </p:cNvPr>
          <p:cNvSpPr>
            <a:spLocks noGrp="1"/>
          </p:cNvSpPr>
          <p:nvPr/>
        </p:nvSpPr>
        <p:spPr>
          <a:xfrm>
            <a:off x="112014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1F2FFD5-933D-4892-989B-E29D057E12C2}"/>
              </a:ext>
            </a:extLst>
          </p:cNvPr>
          <p:cNvSpPr>
            <a:spLocks noGrp="1"/>
          </p:cNvSpPr>
          <p:nvPr/>
        </p:nvSpPr>
        <p:spPr>
          <a:xfrm>
            <a:off x="14001750" y="230505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DA1D78-39CE-4C2C-9C75-2027C770E947}"/>
              </a:ext>
            </a:extLst>
          </p:cNvPr>
          <p:cNvSpPr>
            <a:spLocks noGrp="1"/>
          </p:cNvSpPr>
          <p:nvPr/>
        </p:nvSpPr>
        <p:spPr>
          <a:xfrm>
            <a:off x="14116050" y="2419350"/>
            <a:ext cx="2628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09B9CE-0119-4BFC-8AB6-C05E87A3349F}"/>
              </a:ext>
            </a:extLst>
          </p:cNvPr>
          <p:cNvSpPr>
            <a:spLocks noGrp="1"/>
          </p:cNvSpPr>
          <p:nvPr/>
        </p:nvSpPr>
        <p:spPr>
          <a:xfrm>
            <a:off x="153924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9A0C2E-BF79-4114-BA55-8FB89919F3EC}"/>
              </a:ext>
            </a:extLst>
          </p:cNvPr>
          <p:cNvSpPr>
            <a:spLocks noGrp="1"/>
          </p:cNvSpPr>
          <p:nvPr/>
        </p:nvSpPr>
        <p:spPr>
          <a:xfrm>
            <a:off x="2895600" y="32766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C5A965-1A71-42BC-B58B-DA4F8573AED8}"/>
              </a:ext>
            </a:extLst>
          </p:cNvPr>
          <p:cNvSpPr>
            <a:spLocks noGrp="1"/>
          </p:cNvSpPr>
          <p:nvPr/>
        </p:nvSpPr>
        <p:spPr>
          <a:xfrm>
            <a:off x="6934200" y="31432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12866D3-7F15-4DC4-9820-4E037BE0B76F}"/>
              </a:ext>
            </a:extLst>
          </p:cNvPr>
          <p:cNvSpPr>
            <a:spLocks noGrp="1"/>
          </p:cNvSpPr>
          <p:nvPr/>
        </p:nvSpPr>
        <p:spPr>
          <a:xfrm>
            <a:off x="3019425" y="3095625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E9D8D0-55E1-48B0-8AC8-C4FC53BCDB0C}"/>
              </a:ext>
            </a:extLst>
          </p:cNvPr>
          <p:cNvSpPr>
            <a:spLocks noGrp="1"/>
          </p:cNvSpPr>
          <p:nvPr/>
        </p:nvSpPr>
        <p:spPr>
          <a:xfrm>
            <a:off x="3124200" y="316230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로그인 정보 입력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D326FC-824C-4FDA-B0D8-572B874A44FD}"/>
              </a:ext>
            </a:extLst>
          </p:cNvPr>
          <p:cNvSpPr>
            <a:spLocks noGrp="1"/>
          </p:cNvSpPr>
          <p:nvPr/>
        </p:nvSpPr>
        <p:spPr>
          <a:xfrm>
            <a:off x="7086600" y="35814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85F25B-8DAF-4845-9CE9-14A80774221E}"/>
              </a:ext>
            </a:extLst>
          </p:cNvPr>
          <p:cNvSpPr>
            <a:spLocks noGrp="1"/>
          </p:cNvSpPr>
          <p:nvPr/>
        </p:nvSpPr>
        <p:spPr>
          <a:xfrm>
            <a:off x="11125200" y="34671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8AB399C-3106-455F-97F6-1F24B95D430B}"/>
              </a:ext>
            </a:extLst>
          </p:cNvPr>
          <p:cNvSpPr>
            <a:spLocks noGrp="1"/>
          </p:cNvSpPr>
          <p:nvPr/>
        </p:nvSpPr>
        <p:spPr>
          <a:xfrm>
            <a:off x="7210425" y="3429000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320495-3D74-4845-961B-76EC3DB46E04}"/>
              </a:ext>
            </a:extLst>
          </p:cNvPr>
          <p:cNvSpPr>
            <a:spLocks noGrp="1"/>
          </p:cNvSpPr>
          <p:nvPr/>
        </p:nvSpPr>
        <p:spPr>
          <a:xfrm>
            <a:off x="7315200" y="350520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POST /api/auth/login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50446A-44BF-468C-A87B-2EC3A4628AB6}"/>
              </a:ext>
            </a:extLst>
          </p:cNvPr>
          <p:cNvSpPr>
            <a:spLocks noGrp="1"/>
          </p:cNvSpPr>
          <p:nvPr/>
        </p:nvSpPr>
        <p:spPr>
          <a:xfrm>
            <a:off x="11277600" y="38862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E13DEC-6721-4126-A941-1D5A320FE545}"/>
              </a:ext>
            </a:extLst>
          </p:cNvPr>
          <p:cNvSpPr>
            <a:spLocks noGrp="1"/>
          </p:cNvSpPr>
          <p:nvPr/>
        </p:nvSpPr>
        <p:spPr>
          <a:xfrm>
            <a:off x="15316200" y="38100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4DAD815-DB5E-43F5-AB35-507518E01EEF}"/>
              </a:ext>
            </a:extLst>
          </p:cNvPr>
          <p:cNvSpPr>
            <a:spLocks noGrp="1"/>
          </p:cNvSpPr>
          <p:nvPr/>
        </p:nvSpPr>
        <p:spPr>
          <a:xfrm>
            <a:off x="11401425" y="3762375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491B93-0253-4240-A3A3-F5C1DD9E46D6}"/>
              </a:ext>
            </a:extLst>
          </p:cNvPr>
          <p:cNvSpPr>
            <a:spLocks noGrp="1"/>
          </p:cNvSpPr>
          <p:nvPr/>
        </p:nvSpPr>
        <p:spPr>
          <a:xfrm>
            <a:off x="11506200" y="382905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사용자 / 비밀번호 검증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51AF1C-F231-44E9-ABCD-AC6DB873C371}"/>
              </a:ext>
            </a:extLst>
          </p:cNvPr>
          <p:cNvSpPr>
            <a:spLocks noGrp="1"/>
          </p:cNvSpPr>
          <p:nvPr/>
        </p:nvSpPr>
        <p:spPr>
          <a:xfrm>
            <a:off x="11277600" y="4267200"/>
            <a:ext cx="4191000" cy="9525"/>
          </a:xfrm>
          <a:prstGeom prst="rect">
            <a:avLst/>
          </a:prstGeom>
          <a:solidFill>
            <a:srgbClr val="65758B"/>
          </a:solidFill>
        </p:spPr>
        <p:txBody>
          <a:bodyPr/>
          <a:lstStyle/>
          <a:p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8028A9-E8C5-4DB6-AD7E-F554810D7A3A}"/>
              </a:ext>
            </a:extLst>
          </p:cNvPr>
          <p:cNvSpPr>
            <a:spLocks noGrp="1"/>
          </p:cNvSpPr>
          <p:nvPr/>
        </p:nvSpPr>
        <p:spPr>
          <a:xfrm>
            <a:off x="11144250" y="41338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◀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FA34C3-543D-46C2-AAB0-64B87B6E99DC}"/>
              </a:ext>
            </a:extLst>
          </p:cNvPr>
          <p:cNvSpPr>
            <a:spLocks noGrp="1"/>
          </p:cNvSpPr>
          <p:nvPr/>
        </p:nvSpPr>
        <p:spPr>
          <a:xfrm>
            <a:off x="11401425" y="4095750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CF7E20-859E-4EDB-9BEB-03115B0986ED}"/>
              </a:ext>
            </a:extLst>
          </p:cNvPr>
          <p:cNvSpPr>
            <a:spLocks noGrp="1"/>
          </p:cNvSpPr>
          <p:nvPr/>
        </p:nvSpPr>
        <p:spPr>
          <a:xfrm>
            <a:off x="11506200" y="417195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user row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29BC11-F039-489A-AD7D-881662E6EA65}"/>
              </a:ext>
            </a:extLst>
          </p:cNvPr>
          <p:cNvSpPr>
            <a:spLocks noGrp="1"/>
          </p:cNvSpPr>
          <p:nvPr/>
        </p:nvSpPr>
        <p:spPr>
          <a:xfrm>
            <a:off x="11277600" y="45720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C5E46E-521C-41E5-9957-941454C2316E}"/>
              </a:ext>
            </a:extLst>
          </p:cNvPr>
          <p:cNvSpPr>
            <a:spLocks noGrp="1"/>
          </p:cNvSpPr>
          <p:nvPr/>
        </p:nvSpPr>
        <p:spPr>
          <a:xfrm>
            <a:off x="15316200" y="44767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D171EC5-FC46-4629-B4C8-58C906E5F559}"/>
              </a:ext>
            </a:extLst>
          </p:cNvPr>
          <p:cNvSpPr>
            <a:spLocks noGrp="1"/>
          </p:cNvSpPr>
          <p:nvPr/>
        </p:nvSpPr>
        <p:spPr>
          <a:xfrm>
            <a:off x="11401425" y="4429125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82075C-7E95-44EF-A8FC-A8EE24465CB1}"/>
              </a:ext>
            </a:extLst>
          </p:cNvPr>
          <p:cNvSpPr>
            <a:spLocks noGrp="1"/>
          </p:cNvSpPr>
          <p:nvPr/>
        </p:nvSpPr>
        <p:spPr>
          <a:xfrm>
            <a:off x="11506200" y="449580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refresh_sessions 생성 또는 갱신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833F063-48BF-4FA7-9848-C22D7CBD052F}"/>
              </a:ext>
            </a:extLst>
          </p:cNvPr>
          <p:cNvSpPr>
            <a:spLocks noGrp="1"/>
          </p:cNvSpPr>
          <p:nvPr/>
        </p:nvSpPr>
        <p:spPr>
          <a:xfrm>
            <a:off x="7086600" y="4953000"/>
            <a:ext cx="4191000" cy="9525"/>
          </a:xfrm>
          <a:prstGeom prst="rect">
            <a:avLst/>
          </a:prstGeom>
          <a:solidFill>
            <a:srgbClr val="65758B"/>
          </a:solidFill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3DD253-2960-46CC-BAF4-7B4F4A66DCB6}"/>
              </a:ext>
            </a:extLst>
          </p:cNvPr>
          <p:cNvSpPr>
            <a:spLocks noGrp="1"/>
          </p:cNvSpPr>
          <p:nvPr/>
        </p:nvSpPr>
        <p:spPr>
          <a:xfrm>
            <a:off x="6953250" y="48006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◀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5517182-A830-4438-9C2D-58076F30F706}"/>
              </a:ext>
            </a:extLst>
          </p:cNvPr>
          <p:cNvSpPr>
            <a:spLocks noGrp="1"/>
          </p:cNvSpPr>
          <p:nvPr/>
        </p:nvSpPr>
        <p:spPr>
          <a:xfrm>
            <a:off x="7210425" y="4762500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6593FE2-786B-4D2B-A7CD-570EA8A9EEA8}"/>
              </a:ext>
            </a:extLst>
          </p:cNvPr>
          <p:cNvSpPr>
            <a:spLocks noGrp="1"/>
          </p:cNvSpPr>
          <p:nvPr/>
        </p:nvSpPr>
        <p:spPr>
          <a:xfrm>
            <a:off x="7315200" y="483870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access token + HttpOnly refresh cookie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411C7B2-8671-4B2A-8435-B46B86B1BED4}"/>
              </a:ext>
            </a:extLst>
          </p:cNvPr>
          <p:cNvSpPr>
            <a:spLocks noGrp="1"/>
          </p:cNvSpPr>
          <p:nvPr/>
        </p:nvSpPr>
        <p:spPr>
          <a:xfrm>
            <a:off x="7086600" y="52578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81D1FCD-BA33-4C15-AB50-A5BD350720BA}"/>
              </a:ext>
            </a:extLst>
          </p:cNvPr>
          <p:cNvSpPr>
            <a:spLocks noGrp="1"/>
          </p:cNvSpPr>
          <p:nvPr/>
        </p:nvSpPr>
        <p:spPr>
          <a:xfrm>
            <a:off x="11125200" y="51435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D3EBE94-808B-4A95-ACA5-E2CC913288BA}"/>
              </a:ext>
            </a:extLst>
          </p:cNvPr>
          <p:cNvSpPr>
            <a:spLocks noGrp="1"/>
          </p:cNvSpPr>
          <p:nvPr/>
        </p:nvSpPr>
        <p:spPr>
          <a:xfrm>
            <a:off x="7210425" y="5095875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89ACDF-BEFB-42D2-BC51-72014ADD48C4}"/>
              </a:ext>
            </a:extLst>
          </p:cNvPr>
          <p:cNvSpPr>
            <a:spLocks noGrp="1"/>
          </p:cNvSpPr>
          <p:nvPr/>
        </p:nvSpPr>
        <p:spPr>
          <a:xfrm>
            <a:off x="7315200" y="516255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GET /api/auth/bootstrap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FEED6E-81ED-40AE-91E7-C28FD943488A}"/>
              </a:ext>
            </a:extLst>
          </p:cNvPr>
          <p:cNvSpPr>
            <a:spLocks noGrp="1"/>
          </p:cNvSpPr>
          <p:nvPr/>
        </p:nvSpPr>
        <p:spPr>
          <a:xfrm>
            <a:off x="7086600" y="5562600"/>
            <a:ext cx="4191000" cy="9525"/>
          </a:xfrm>
          <a:prstGeom prst="rect">
            <a:avLst/>
          </a:prstGeom>
          <a:solidFill>
            <a:srgbClr val="65758B"/>
          </a:solidFill>
        </p:spPr>
        <p:txBody>
          <a:bodyPr/>
          <a:lstStyle/>
          <a:p>
            <a:endParaRPr lang="en-K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CCA50B4-C841-403B-913D-591A7224B6D7}"/>
              </a:ext>
            </a:extLst>
          </p:cNvPr>
          <p:cNvSpPr>
            <a:spLocks noGrp="1"/>
          </p:cNvSpPr>
          <p:nvPr/>
        </p:nvSpPr>
        <p:spPr>
          <a:xfrm>
            <a:off x="6953250" y="54673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◀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485934F-DC93-4E54-BBB8-D15D455E4E4C}"/>
              </a:ext>
            </a:extLst>
          </p:cNvPr>
          <p:cNvSpPr>
            <a:spLocks noGrp="1"/>
          </p:cNvSpPr>
          <p:nvPr/>
        </p:nvSpPr>
        <p:spPr>
          <a:xfrm>
            <a:off x="7210425" y="5429250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0E0B2B2-143E-4A84-AD12-E780D4C28A4B}"/>
              </a:ext>
            </a:extLst>
          </p:cNvPr>
          <p:cNvSpPr>
            <a:spLocks noGrp="1"/>
          </p:cNvSpPr>
          <p:nvPr/>
        </p:nvSpPr>
        <p:spPr>
          <a:xfrm>
            <a:off x="7315200" y="550545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user + route_access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9BC69C5-5C5C-4147-8755-5200EF3B5B42}"/>
              </a:ext>
            </a:extLst>
          </p:cNvPr>
          <p:cNvSpPr>
            <a:spLocks noGrp="1"/>
          </p:cNvSpPr>
          <p:nvPr/>
        </p:nvSpPr>
        <p:spPr>
          <a:xfrm>
            <a:off x="990600" y="5791200"/>
            <a:ext cx="16306800" cy="304800"/>
          </a:xfrm>
          <a:prstGeom prst="roundRect">
            <a:avLst>
              <a:gd name="adj" fmla="val 18750"/>
            </a:avLst>
          </a:prstGeom>
          <a:solidFill>
            <a:srgbClr val="FFF7E8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4255913-6416-42C8-9D93-0D23AE463F93}"/>
              </a:ext>
            </a:extLst>
          </p:cNvPr>
          <p:cNvSpPr>
            <a:spLocks noGrp="1"/>
          </p:cNvSpPr>
          <p:nvPr/>
        </p:nvSpPr>
        <p:spPr>
          <a:xfrm>
            <a:off x="1143000" y="5848350"/>
            <a:ext cx="1600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opt: access token expired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4FE00C7-FC25-49D9-B827-D0D999193114}"/>
              </a:ext>
            </a:extLst>
          </p:cNvPr>
          <p:cNvSpPr>
            <a:spLocks noGrp="1"/>
          </p:cNvSpPr>
          <p:nvPr/>
        </p:nvSpPr>
        <p:spPr>
          <a:xfrm>
            <a:off x="7086600" y="62484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CC1830-2B55-4334-A655-9E2DAC43C720}"/>
              </a:ext>
            </a:extLst>
          </p:cNvPr>
          <p:cNvSpPr>
            <a:spLocks noGrp="1"/>
          </p:cNvSpPr>
          <p:nvPr/>
        </p:nvSpPr>
        <p:spPr>
          <a:xfrm>
            <a:off x="11125200" y="61341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78E8474-3CD2-4918-A323-A9EB69A752BB}"/>
              </a:ext>
            </a:extLst>
          </p:cNvPr>
          <p:cNvSpPr>
            <a:spLocks noGrp="1"/>
          </p:cNvSpPr>
          <p:nvPr/>
        </p:nvSpPr>
        <p:spPr>
          <a:xfrm>
            <a:off x="7210425" y="6096000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D1E06A1-20A6-458F-B4B0-852D11F72706}"/>
              </a:ext>
            </a:extLst>
          </p:cNvPr>
          <p:cNvSpPr>
            <a:spLocks noGrp="1"/>
          </p:cNvSpPr>
          <p:nvPr/>
        </p:nvSpPr>
        <p:spPr>
          <a:xfrm>
            <a:off x="7315200" y="617220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POST /api/auth/refresh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972A395-5FA3-4FFC-9722-7D13FD98D6AC}"/>
              </a:ext>
            </a:extLst>
          </p:cNvPr>
          <p:cNvSpPr>
            <a:spLocks noGrp="1"/>
          </p:cNvSpPr>
          <p:nvPr/>
        </p:nvSpPr>
        <p:spPr>
          <a:xfrm>
            <a:off x="11277600" y="65532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050C067-58EF-496E-9743-C933BA3502F5}"/>
              </a:ext>
            </a:extLst>
          </p:cNvPr>
          <p:cNvSpPr>
            <a:spLocks noGrp="1"/>
          </p:cNvSpPr>
          <p:nvPr/>
        </p:nvSpPr>
        <p:spPr>
          <a:xfrm>
            <a:off x="15316200" y="64770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71B7C91-E657-4E36-AC53-43DCF3C94A61}"/>
              </a:ext>
            </a:extLst>
          </p:cNvPr>
          <p:cNvSpPr>
            <a:spLocks noGrp="1"/>
          </p:cNvSpPr>
          <p:nvPr/>
        </p:nvSpPr>
        <p:spPr>
          <a:xfrm>
            <a:off x="11401425" y="6429375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52484DE-676C-4F34-9BC6-A001B1796F58}"/>
              </a:ext>
            </a:extLst>
          </p:cNvPr>
          <p:cNvSpPr>
            <a:spLocks noGrp="1"/>
          </p:cNvSpPr>
          <p:nvPr/>
        </p:nvSpPr>
        <p:spPr>
          <a:xfrm>
            <a:off x="11506200" y="649605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refresh token rotation 검증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39E2575-A605-4D6F-813A-0AE3CCD7B3B3}"/>
              </a:ext>
            </a:extLst>
          </p:cNvPr>
          <p:cNvSpPr>
            <a:spLocks noGrp="1"/>
          </p:cNvSpPr>
          <p:nvPr/>
        </p:nvSpPr>
        <p:spPr>
          <a:xfrm>
            <a:off x="7086600" y="6934200"/>
            <a:ext cx="4191000" cy="9525"/>
          </a:xfrm>
          <a:prstGeom prst="rect">
            <a:avLst/>
          </a:prstGeom>
          <a:solidFill>
            <a:srgbClr val="65758B"/>
          </a:solidFill>
        </p:spPr>
        <p:txBody>
          <a:bodyPr/>
          <a:lstStyle/>
          <a:p>
            <a:endParaRPr lang="en-K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1106541-0131-41A7-A61A-BD1278D5C570}"/>
              </a:ext>
            </a:extLst>
          </p:cNvPr>
          <p:cNvSpPr>
            <a:spLocks noGrp="1"/>
          </p:cNvSpPr>
          <p:nvPr/>
        </p:nvSpPr>
        <p:spPr>
          <a:xfrm>
            <a:off x="6953250" y="68008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◀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B477BBF-BABF-46B9-BB6A-C70A56141FC2}"/>
              </a:ext>
            </a:extLst>
          </p:cNvPr>
          <p:cNvSpPr>
            <a:spLocks noGrp="1"/>
          </p:cNvSpPr>
          <p:nvPr/>
        </p:nvSpPr>
        <p:spPr>
          <a:xfrm>
            <a:off x="7210425" y="6762750"/>
            <a:ext cx="386715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4496918-3089-42E6-B6B5-A6E78F724132}"/>
              </a:ext>
            </a:extLst>
          </p:cNvPr>
          <p:cNvSpPr>
            <a:spLocks noGrp="1"/>
          </p:cNvSpPr>
          <p:nvPr/>
        </p:nvSpPr>
        <p:spPr>
          <a:xfrm>
            <a:off x="7315200" y="683895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new access token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917B2FE-BD42-414A-B1A6-8E32C0801078}"/>
              </a:ext>
            </a:extLst>
          </p:cNvPr>
          <p:cNvSpPr>
            <a:spLocks noGrp="1"/>
          </p:cNvSpPr>
          <p:nvPr/>
        </p:nvSpPr>
        <p:spPr>
          <a:xfrm>
            <a:off x="762000" y="75247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C12106F-3469-4E6A-A2B0-599EC0EAC509}"/>
              </a:ext>
            </a:extLst>
          </p:cNvPr>
          <p:cNvSpPr>
            <a:spLocks noGrp="1"/>
          </p:cNvSpPr>
          <p:nvPr/>
        </p:nvSpPr>
        <p:spPr>
          <a:xfrm>
            <a:off x="952500" y="76771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9AF60D2-CEAD-47A9-B2D5-3D0E3D0D0931}"/>
              </a:ext>
            </a:extLst>
          </p:cNvPr>
          <p:cNvSpPr>
            <a:spLocks noGrp="1"/>
          </p:cNvSpPr>
          <p:nvPr/>
        </p:nvSpPr>
        <p:spPr>
          <a:xfrm>
            <a:off x="952500" y="77914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역할 분기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C4D91F2-3178-4176-AE6D-9E827597BC0F}"/>
              </a:ext>
            </a:extLst>
          </p:cNvPr>
          <p:cNvSpPr>
            <a:spLocks noGrp="1"/>
          </p:cNvSpPr>
          <p:nvPr/>
        </p:nvSpPr>
        <p:spPr>
          <a:xfrm>
            <a:off x="952500" y="81343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student / professor / admin route access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9A85064C-2618-433C-BD86-86229F1D1EB0}"/>
              </a:ext>
            </a:extLst>
          </p:cNvPr>
          <p:cNvSpPr>
            <a:spLocks noGrp="1"/>
          </p:cNvSpPr>
          <p:nvPr/>
        </p:nvSpPr>
        <p:spPr>
          <a:xfrm>
            <a:off x="6407150" y="75247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A836031-C9DD-4FFD-A9BF-51945003BAB7}"/>
              </a:ext>
            </a:extLst>
          </p:cNvPr>
          <p:cNvSpPr>
            <a:spLocks noGrp="1"/>
          </p:cNvSpPr>
          <p:nvPr/>
        </p:nvSpPr>
        <p:spPr>
          <a:xfrm>
            <a:off x="6591300" y="76771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150F0E5-6D6D-4C56-A0D6-271FD5571649}"/>
              </a:ext>
            </a:extLst>
          </p:cNvPr>
          <p:cNvSpPr>
            <a:spLocks noGrp="1"/>
          </p:cNvSpPr>
          <p:nvPr/>
        </p:nvSpPr>
        <p:spPr>
          <a:xfrm>
            <a:off x="6591300" y="77914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세션 유지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52A6615-C8BF-401F-AA90-DDCE87BFBCC0}"/>
              </a:ext>
            </a:extLst>
          </p:cNvPr>
          <p:cNvSpPr>
            <a:spLocks noGrp="1"/>
          </p:cNvSpPr>
          <p:nvPr/>
        </p:nvSpPr>
        <p:spPr>
          <a:xfrm>
            <a:off x="6591300" y="81343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refresh cookie rotation과 bootstrap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3431DD1B-93E0-4C66-AD4D-B1226DB85A07}"/>
              </a:ext>
            </a:extLst>
          </p:cNvPr>
          <p:cNvSpPr>
            <a:spLocks noGrp="1"/>
          </p:cNvSpPr>
          <p:nvPr/>
        </p:nvSpPr>
        <p:spPr>
          <a:xfrm>
            <a:off x="12052300" y="75247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D0870E1-B212-46A2-BE90-5B149D9157A4}"/>
              </a:ext>
            </a:extLst>
          </p:cNvPr>
          <p:cNvSpPr>
            <a:spLocks noGrp="1"/>
          </p:cNvSpPr>
          <p:nvPr/>
        </p:nvSpPr>
        <p:spPr>
          <a:xfrm>
            <a:off x="12249150" y="76771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B5FF8B4-7A80-40F9-B875-92826A3452A2}"/>
              </a:ext>
            </a:extLst>
          </p:cNvPr>
          <p:cNvSpPr>
            <a:spLocks noGrp="1"/>
          </p:cNvSpPr>
          <p:nvPr/>
        </p:nvSpPr>
        <p:spPr>
          <a:xfrm>
            <a:off x="12249150" y="77914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보안 경계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FE7DD4F-527B-465C-8AC1-4EF895679FC1}"/>
              </a:ext>
            </a:extLst>
          </p:cNvPr>
          <p:cNvSpPr>
            <a:spLocks noGrp="1"/>
          </p:cNvSpPr>
          <p:nvPr/>
        </p:nvSpPr>
        <p:spPr>
          <a:xfrm>
            <a:off x="12249150" y="81343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Backend가 인증과 권한 판단을 소유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93C809BF-8A4B-4852-B912-C9D0292B92C1}"/>
              </a:ext>
            </a:extLst>
          </p:cNvPr>
          <p:cNvSpPr>
            <a:spLocks noGrp="1"/>
          </p:cNvSpPr>
          <p:nvPr/>
        </p:nvSpPr>
        <p:spPr>
          <a:xfrm>
            <a:off x="762000" y="88201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0761786-2823-4AE3-9712-494145F02363}"/>
              </a:ext>
            </a:extLst>
          </p:cNvPr>
          <p:cNvSpPr>
            <a:spLocks noGrp="1"/>
          </p:cNvSpPr>
          <p:nvPr/>
        </p:nvSpPr>
        <p:spPr>
          <a:xfrm>
            <a:off x="971550" y="90678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로그인 경계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1F9D0C1-86FC-4770-9CF4-F1A0D048E9D2}"/>
              </a:ext>
            </a:extLst>
          </p:cNvPr>
          <p:cNvSpPr>
            <a:spLocks noGrp="1"/>
          </p:cNvSpPr>
          <p:nvPr/>
        </p:nvSpPr>
        <p:spPr>
          <a:xfrm>
            <a:off x="2571750" y="90678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세션 발급, refresh rotation, bootstrap을 Backend가 소유해 역할별 접근을 일관되게 제어합니다.</a:t>
            </a:r>
          </a:p>
        </p:txBody>
      </p:sp>
    </p:spTree>
    <p:extLst>
      <p:ext uri="{BB962C8B-B14F-4D97-AF65-F5344CB8AC3E}">
        <p14:creationId xmlns:p14="http://schemas.microsoft.com/office/powerpoint/2010/main" val="1823757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F0E39C10-C81A-4241-A4E7-3721BFB84A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B68D1D-8D62-4509-85D2-0B3B11E4C2E4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36E140-6EA0-4C31-B6F9-DA3FBACC0944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기능별 Sequence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8AFEF-84C8-4E7D-AEAF-7009108D9E13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PresenceService는 Redis snapshot cache를 확인하고 없으면 OpenWrt/dummy source에서 수집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166803-EEF6-4270-A60E-29C75985CE2A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2FAE59-F658-419B-ACF8-590462D73450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189FA3-2104-4731-AE90-2E250411F04F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31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C1E9FE3-519A-4BFC-8438-AE14119F6A66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16764000" cy="5334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D4AE619-196E-43F8-93AC-A8D98CFE16BB}"/>
              </a:ext>
            </a:extLst>
          </p:cNvPr>
          <p:cNvSpPr>
            <a:spLocks noGrp="1"/>
          </p:cNvSpPr>
          <p:nvPr/>
        </p:nvSpPr>
        <p:spPr>
          <a:xfrm>
            <a:off x="1428750" y="230505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2DF48D-CEC6-411D-8430-592BB854F348}"/>
              </a:ext>
            </a:extLst>
          </p:cNvPr>
          <p:cNvSpPr>
            <a:spLocks noGrp="1"/>
          </p:cNvSpPr>
          <p:nvPr/>
        </p:nvSpPr>
        <p:spPr>
          <a:xfrm>
            <a:off x="1543050" y="2419350"/>
            <a:ext cx="2628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Backend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5637ED-E57C-419E-832D-8C9B91D69EEB}"/>
              </a:ext>
            </a:extLst>
          </p:cNvPr>
          <p:cNvSpPr>
            <a:spLocks noGrp="1"/>
          </p:cNvSpPr>
          <p:nvPr/>
        </p:nvSpPr>
        <p:spPr>
          <a:xfrm>
            <a:off x="28194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BDBDB49-8125-4765-B15D-3F8957A4BCD8}"/>
              </a:ext>
            </a:extLst>
          </p:cNvPr>
          <p:cNvSpPr>
            <a:spLocks noGrp="1"/>
          </p:cNvSpPr>
          <p:nvPr/>
        </p:nvSpPr>
        <p:spPr>
          <a:xfrm>
            <a:off x="5619750" y="230505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EED505-9AE2-446F-936C-5FBF51DBDA70}"/>
              </a:ext>
            </a:extLst>
          </p:cNvPr>
          <p:cNvSpPr>
            <a:spLocks noGrp="1"/>
          </p:cNvSpPr>
          <p:nvPr/>
        </p:nvSpPr>
        <p:spPr>
          <a:xfrm>
            <a:off x="5734050" y="2419350"/>
            <a:ext cx="2628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PresenceService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5BCDD0-26DB-4C6E-B9AA-0CCBA2E238D9}"/>
              </a:ext>
            </a:extLst>
          </p:cNvPr>
          <p:cNvSpPr>
            <a:spLocks noGrp="1"/>
          </p:cNvSpPr>
          <p:nvPr/>
        </p:nvSpPr>
        <p:spPr>
          <a:xfrm>
            <a:off x="70104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7060333-9623-424A-B84E-F4D6783658AF}"/>
              </a:ext>
            </a:extLst>
          </p:cNvPr>
          <p:cNvSpPr>
            <a:spLocks noGrp="1"/>
          </p:cNvSpPr>
          <p:nvPr/>
        </p:nvSpPr>
        <p:spPr>
          <a:xfrm>
            <a:off x="9810750" y="230505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EC5DDA-8759-43C7-8705-F2D897136599}"/>
              </a:ext>
            </a:extLst>
          </p:cNvPr>
          <p:cNvSpPr>
            <a:spLocks noGrp="1"/>
          </p:cNvSpPr>
          <p:nvPr/>
        </p:nvSpPr>
        <p:spPr>
          <a:xfrm>
            <a:off x="9925050" y="2419350"/>
            <a:ext cx="2628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92A08A-7F29-4E9F-B317-ECEE5873EA3A}"/>
              </a:ext>
            </a:extLst>
          </p:cNvPr>
          <p:cNvSpPr>
            <a:spLocks noGrp="1"/>
          </p:cNvSpPr>
          <p:nvPr/>
        </p:nvSpPr>
        <p:spPr>
          <a:xfrm>
            <a:off x="112014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43EE11C-504A-466D-918C-313971234705}"/>
              </a:ext>
            </a:extLst>
          </p:cNvPr>
          <p:cNvSpPr>
            <a:spLocks noGrp="1"/>
          </p:cNvSpPr>
          <p:nvPr/>
        </p:nvSpPr>
        <p:spPr>
          <a:xfrm>
            <a:off x="14001750" y="230505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E0732F-A0F1-47DD-8F97-62EF004DD30B}"/>
              </a:ext>
            </a:extLst>
          </p:cNvPr>
          <p:cNvSpPr>
            <a:spLocks noGrp="1"/>
          </p:cNvSpPr>
          <p:nvPr/>
        </p:nvSpPr>
        <p:spPr>
          <a:xfrm>
            <a:off x="14116050" y="2419350"/>
            <a:ext cx="2628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OpenWrt/Dummy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2BCC4C-B2A6-43C9-99B2-9838942CD239}"/>
              </a:ext>
            </a:extLst>
          </p:cNvPr>
          <p:cNvSpPr>
            <a:spLocks noGrp="1"/>
          </p:cNvSpPr>
          <p:nvPr/>
        </p:nvSpPr>
        <p:spPr>
          <a:xfrm>
            <a:off x="153924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8E88EA-0537-4980-8003-4C6E7FB79F35}"/>
              </a:ext>
            </a:extLst>
          </p:cNvPr>
          <p:cNvSpPr>
            <a:spLocks noGrp="1"/>
          </p:cNvSpPr>
          <p:nvPr/>
        </p:nvSpPr>
        <p:spPr>
          <a:xfrm>
            <a:off x="2895600" y="32766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D4AE66-6AAD-422D-9B83-0176836609E5}"/>
              </a:ext>
            </a:extLst>
          </p:cNvPr>
          <p:cNvSpPr>
            <a:spLocks noGrp="1"/>
          </p:cNvSpPr>
          <p:nvPr/>
        </p:nvSpPr>
        <p:spPr>
          <a:xfrm>
            <a:off x="6934200" y="31623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6ABD897-3557-47A9-BC40-D46900F484CF}"/>
              </a:ext>
            </a:extLst>
          </p:cNvPr>
          <p:cNvSpPr>
            <a:spLocks noGrp="1"/>
          </p:cNvSpPr>
          <p:nvPr/>
        </p:nvSpPr>
        <p:spPr>
          <a:xfrm>
            <a:off x="3019425" y="3095625"/>
            <a:ext cx="3867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4D6CF5-E5B0-4382-B68A-EDFA5C65E453}"/>
              </a:ext>
            </a:extLst>
          </p:cNvPr>
          <p:cNvSpPr>
            <a:spLocks noGrp="1"/>
          </p:cNvSpPr>
          <p:nvPr/>
        </p:nvSpPr>
        <p:spPr>
          <a:xfrm>
            <a:off x="3124200" y="316230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POST /eligibility/check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08BD02-19CD-4421-9CF1-BB0262C326CC}"/>
              </a:ext>
            </a:extLst>
          </p:cNvPr>
          <p:cNvSpPr>
            <a:spLocks noGrp="1"/>
          </p:cNvSpPr>
          <p:nvPr/>
        </p:nvSpPr>
        <p:spPr>
          <a:xfrm>
            <a:off x="7086600" y="36576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E604BE-D6F0-44A7-A6C1-662A4F69B49D}"/>
              </a:ext>
            </a:extLst>
          </p:cNvPr>
          <p:cNvSpPr>
            <a:spLocks noGrp="1"/>
          </p:cNvSpPr>
          <p:nvPr/>
        </p:nvSpPr>
        <p:spPr>
          <a:xfrm>
            <a:off x="11125200" y="35242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0F0C21C-BC9E-47DE-9A67-490DE6310226}"/>
              </a:ext>
            </a:extLst>
          </p:cNvPr>
          <p:cNvSpPr>
            <a:spLocks noGrp="1"/>
          </p:cNvSpPr>
          <p:nvPr/>
        </p:nvSpPr>
        <p:spPr>
          <a:xfrm>
            <a:off x="7210425" y="3457575"/>
            <a:ext cx="3867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CA11F3-2888-4C3E-B29A-7408C08D72B0}"/>
              </a:ext>
            </a:extLst>
          </p:cNvPr>
          <p:cNvSpPr>
            <a:spLocks noGrp="1"/>
          </p:cNvSpPr>
          <p:nvPr/>
        </p:nvSpPr>
        <p:spPr>
          <a:xfrm>
            <a:off x="7315200" y="352425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snapshot key 조회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C3C5508-EEFA-4E38-B684-6D8374015D73}"/>
              </a:ext>
            </a:extLst>
          </p:cNvPr>
          <p:cNvSpPr>
            <a:spLocks noGrp="1"/>
          </p:cNvSpPr>
          <p:nvPr/>
        </p:nvSpPr>
        <p:spPr>
          <a:xfrm>
            <a:off x="990600" y="3810000"/>
            <a:ext cx="16306800" cy="304800"/>
          </a:xfrm>
          <a:prstGeom prst="roundRect">
            <a:avLst>
              <a:gd name="adj" fmla="val 18750"/>
            </a:avLst>
          </a:prstGeom>
          <a:solidFill>
            <a:srgbClr val="FFF7E8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9E5184-93F8-47F6-BFCF-8A4C3AA23BF2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1600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alt: cache hit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8EB489-EFD1-471F-A9C2-8ECC33272F1B}"/>
              </a:ext>
            </a:extLst>
          </p:cNvPr>
          <p:cNvSpPr>
            <a:spLocks noGrp="1"/>
          </p:cNvSpPr>
          <p:nvPr/>
        </p:nvSpPr>
        <p:spPr>
          <a:xfrm>
            <a:off x="7086600" y="4343400"/>
            <a:ext cx="4191000" cy="9525"/>
          </a:xfrm>
          <a:prstGeom prst="rect">
            <a:avLst/>
          </a:prstGeom>
          <a:solidFill>
            <a:srgbClr val="65758B"/>
          </a:solidFill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B4E6D8-4501-47D9-A5D8-656E1714B7B7}"/>
              </a:ext>
            </a:extLst>
          </p:cNvPr>
          <p:cNvSpPr>
            <a:spLocks noGrp="1"/>
          </p:cNvSpPr>
          <p:nvPr/>
        </p:nvSpPr>
        <p:spPr>
          <a:xfrm>
            <a:off x="6953250" y="42481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◀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8061657-231D-40EF-9D94-8E708230FB15}"/>
              </a:ext>
            </a:extLst>
          </p:cNvPr>
          <p:cNvSpPr>
            <a:spLocks noGrp="1"/>
          </p:cNvSpPr>
          <p:nvPr/>
        </p:nvSpPr>
        <p:spPr>
          <a:xfrm>
            <a:off x="7210425" y="4181475"/>
            <a:ext cx="3867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4233CE-1E15-4CB6-BD63-453BE6CDAAB5}"/>
              </a:ext>
            </a:extLst>
          </p:cNvPr>
          <p:cNvSpPr>
            <a:spLocks noGrp="1"/>
          </p:cNvSpPr>
          <p:nvPr/>
        </p:nvSpPr>
        <p:spPr>
          <a:xfrm>
            <a:off x="7315200" y="424815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cached snapshot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9A82CF3-4DB5-444C-8BFB-6795FC4C3E9A}"/>
              </a:ext>
            </a:extLst>
          </p:cNvPr>
          <p:cNvSpPr>
            <a:spLocks noGrp="1"/>
          </p:cNvSpPr>
          <p:nvPr/>
        </p:nvSpPr>
        <p:spPr>
          <a:xfrm>
            <a:off x="990600" y="4572000"/>
            <a:ext cx="16306800" cy="304800"/>
          </a:xfrm>
          <a:prstGeom prst="roundRect">
            <a:avLst>
              <a:gd name="adj" fmla="val 18750"/>
            </a:avLst>
          </a:prstGeom>
          <a:solidFill>
            <a:srgbClr val="ECF8F1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C4BDEB-2413-4381-93B8-79AB384EF519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1600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else: cache miss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D291A0-DC74-45A3-9320-231F83A5CB64}"/>
              </a:ext>
            </a:extLst>
          </p:cNvPr>
          <p:cNvSpPr>
            <a:spLocks noGrp="1"/>
          </p:cNvSpPr>
          <p:nvPr/>
        </p:nvSpPr>
        <p:spPr>
          <a:xfrm>
            <a:off x="7086600" y="51054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CD80BC-DBC5-42B1-A2B5-E7BCF8547C99}"/>
              </a:ext>
            </a:extLst>
          </p:cNvPr>
          <p:cNvSpPr>
            <a:spLocks noGrp="1"/>
          </p:cNvSpPr>
          <p:nvPr/>
        </p:nvSpPr>
        <p:spPr>
          <a:xfrm>
            <a:off x="11125200" y="49720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8EE7FFC-D9B3-4E87-A4AC-6BB4C5546305}"/>
              </a:ext>
            </a:extLst>
          </p:cNvPr>
          <p:cNvSpPr>
            <a:spLocks noGrp="1"/>
          </p:cNvSpPr>
          <p:nvPr/>
        </p:nvSpPr>
        <p:spPr>
          <a:xfrm>
            <a:off x="7210425" y="4905375"/>
            <a:ext cx="3867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D0EC59-D5FA-47CA-98F0-372CF156CE89}"/>
              </a:ext>
            </a:extLst>
          </p:cNvPr>
          <p:cNvSpPr>
            <a:spLocks noGrp="1"/>
          </p:cNvSpPr>
          <p:nvPr/>
        </p:nvSpPr>
        <p:spPr>
          <a:xfrm>
            <a:off x="7315200" y="497205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refresh lock 획득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AD92C59-121F-4216-B448-06E2E680380C}"/>
              </a:ext>
            </a:extLst>
          </p:cNvPr>
          <p:cNvSpPr>
            <a:spLocks noGrp="1"/>
          </p:cNvSpPr>
          <p:nvPr/>
        </p:nvSpPr>
        <p:spPr>
          <a:xfrm>
            <a:off x="7086600" y="5410200"/>
            <a:ext cx="8382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D7BFEA7-E11C-4613-9307-3FBB74317C7B}"/>
              </a:ext>
            </a:extLst>
          </p:cNvPr>
          <p:cNvSpPr>
            <a:spLocks noGrp="1"/>
          </p:cNvSpPr>
          <p:nvPr/>
        </p:nvSpPr>
        <p:spPr>
          <a:xfrm>
            <a:off x="15316200" y="53340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BC4BC92-6092-40F9-AE93-12D72B325897}"/>
              </a:ext>
            </a:extLst>
          </p:cNvPr>
          <p:cNvSpPr>
            <a:spLocks noGrp="1"/>
          </p:cNvSpPr>
          <p:nvPr/>
        </p:nvSpPr>
        <p:spPr>
          <a:xfrm>
            <a:off x="9001125" y="5267325"/>
            <a:ext cx="4476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786AB11-F4A9-4064-A444-95AC540DE373}"/>
              </a:ext>
            </a:extLst>
          </p:cNvPr>
          <p:cNvSpPr>
            <a:spLocks noGrp="1"/>
          </p:cNvSpPr>
          <p:nvPr/>
        </p:nvSpPr>
        <p:spPr>
          <a:xfrm>
            <a:off x="9105900" y="5334000"/>
            <a:ext cx="4286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station snapshot 수집/생성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624A90-57DB-4C5E-8EED-CACA52A87780}"/>
              </a:ext>
            </a:extLst>
          </p:cNvPr>
          <p:cNvSpPr>
            <a:spLocks noGrp="1"/>
          </p:cNvSpPr>
          <p:nvPr/>
        </p:nvSpPr>
        <p:spPr>
          <a:xfrm>
            <a:off x="7086600" y="5791200"/>
            <a:ext cx="8382000" cy="9525"/>
          </a:xfrm>
          <a:prstGeom prst="rect">
            <a:avLst/>
          </a:prstGeom>
          <a:solidFill>
            <a:srgbClr val="65758B"/>
          </a:solidFill>
        </p:spPr>
        <p:txBody>
          <a:bodyPr/>
          <a:lstStyle/>
          <a:p>
            <a:endParaRPr lang="en-K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5EBCBE-826A-4520-9BE0-57EDF23CF404}"/>
              </a:ext>
            </a:extLst>
          </p:cNvPr>
          <p:cNvSpPr>
            <a:spLocks noGrp="1"/>
          </p:cNvSpPr>
          <p:nvPr/>
        </p:nvSpPr>
        <p:spPr>
          <a:xfrm>
            <a:off x="6953250" y="56959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◀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DC8797C-5B2F-4402-AACF-73F3F913B30A}"/>
              </a:ext>
            </a:extLst>
          </p:cNvPr>
          <p:cNvSpPr>
            <a:spLocks noGrp="1"/>
          </p:cNvSpPr>
          <p:nvPr/>
        </p:nvSpPr>
        <p:spPr>
          <a:xfrm>
            <a:off x="9001125" y="5629275"/>
            <a:ext cx="4476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A216C75-C0E7-40DB-A5BB-AA3E24E7D787}"/>
              </a:ext>
            </a:extLst>
          </p:cNvPr>
          <p:cNvSpPr>
            <a:spLocks noGrp="1"/>
          </p:cNvSpPr>
          <p:nvPr/>
        </p:nvSpPr>
        <p:spPr>
          <a:xfrm>
            <a:off x="9105900" y="5695950"/>
            <a:ext cx="4286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AP + station list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8EE9E8D-7038-43C9-A719-25D2DAE207FF}"/>
              </a:ext>
            </a:extLst>
          </p:cNvPr>
          <p:cNvSpPr>
            <a:spLocks noGrp="1"/>
          </p:cNvSpPr>
          <p:nvPr/>
        </p:nvSpPr>
        <p:spPr>
          <a:xfrm>
            <a:off x="7086600" y="6172200"/>
            <a:ext cx="4191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66B2477-911E-46AB-BAF7-D0142F16017E}"/>
              </a:ext>
            </a:extLst>
          </p:cNvPr>
          <p:cNvSpPr>
            <a:spLocks noGrp="1"/>
          </p:cNvSpPr>
          <p:nvPr/>
        </p:nvSpPr>
        <p:spPr>
          <a:xfrm>
            <a:off x="11125200" y="60579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C29BCC4-D14B-450C-A10B-6289600517FF}"/>
              </a:ext>
            </a:extLst>
          </p:cNvPr>
          <p:cNvSpPr>
            <a:spLocks noGrp="1"/>
          </p:cNvSpPr>
          <p:nvPr/>
        </p:nvSpPr>
        <p:spPr>
          <a:xfrm>
            <a:off x="7210425" y="5991225"/>
            <a:ext cx="3867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B7DB17-C4F6-4F56-8C77-D091A19835B5}"/>
              </a:ext>
            </a:extLst>
          </p:cNvPr>
          <p:cNvSpPr>
            <a:spLocks noGrp="1"/>
          </p:cNvSpPr>
          <p:nvPr/>
        </p:nvSpPr>
        <p:spPr>
          <a:xfrm>
            <a:off x="7315200" y="605790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snapshot 저장 / lock 해제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A720BEA-F8FF-45CD-95C9-6581B58C872F}"/>
              </a:ext>
            </a:extLst>
          </p:cNvPr>
          <p:cNvSpPr>
            <a:spLocks noGrp="1"/>
          </p:cNvSpPr>
          <p:nvPr/>
        </p:nvSpPr>
        <p:spPr>
          <a:xfrm>
            <a:off x="7200900" y="6362700"/>
            <a:ext cx="3429000" cy="323850"/>
          </a:xfrm>
          <a:prstGeom prst="roundRect">
            <a:avLst>
              <a:gd name="adj" fmla="val 17647"/>
            </a:avLst>
          </a:prstGeom>
          <a:solidFill>
            <a:srgbClr val="F5F7FA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76147D-ADF1-4EF4-842B-AFF034C8B320}"/>
              </a:ext>
            </a:extLst>
          </p:cNvPr>
          <p:cNvSpPr>
            <a:spLocks noGrp="1"/>
          </p:cNvSpPr>
          <p:nvPr/>
        </p:nvSpPr>
        <p:spPr>
          <a:xfrm>
            <a:off x="7296150" y="6438900"/>
            <a:ext cx="3238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↺ registeredDevices와 station 비교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36F75F5-8B75-4723-BAC8-57BEA0ADE80D}"/>
              </a:ext>
            </a:extLst>
          </p:cNvPr>
          <p:cNvSpPr>
            <a:spLocks noGrp="1"/>
          </p:cNvSpPr>
          <p:nvPr/>
        </p:nvSpPr>
        <p:spPr>
          <a:xfrm>
            <a:off x="2895600" y="6858000"/>
            <a:ext cx="4191000" cy="9525"/>
          </a:xfrm>
          <a:prstGeom prst="rect">
            <a:avLst/>
          </a:prstGeom>
          <a:solidFill>
            <a:srgbClr val="65758B"/>
          </a:solidFill>
        </p:spPr>
        <p:txBody>
          <a:bodyPr/>
          <a:lstStyle/>
          <a:p>
            <a:endParaRPr lang="en-K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77EE64-EDFE-4069-90AC-C288804BFBFB}"/>
              </a:ext>
            </a:extLst>
          </p:cNvPr>
          <p:cNvSpPr>
            <a:spLocks noGrp="1"/>
          </p:cNvSpPr>
          <p:nvPr/>
        </p:nvSpPr>
        <p:spPr>
          <a:xfrm>
            <a:off x="2762250" y="67818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◀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87150948-BE87-4EBB-B5E7-9C0FD74F50D6}"/>
              </a:ext>
            </a:extLst>
          </p:cNvPr>
          <p:cNvSpPr>
            <a:spLocks noGrp="1"/>
          </p:cNvSpPr>
          <p:nvPr/>
        </p:nvSpPr>
        <p:spPr>
          <a:xfrm>
            <a:off x="3019425" y="6715125"/>
            <a:ext cx="3867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0E2B1A8-1AD8-4391-80C1-4E93B44EDE52}"/>
              </a:ext>
            </a:extLst>
          </p:cNvPr>
          <p:cNvSpPr>
            <a:spLocks noGrp="1"/>
          </p:cNvSpPr>
          <p:nvPr/>
        </p:nvSpPr>
        <p:spPr>
          <a:xfrm>
            <a:off x="3124200" y="6781800"/>
            <a:ext cx="3676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eligible + reasonCode + evidence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5069E4BD-5A3C-418C-B650-D00C883A4879}"/>
              </a:ext>
            </a:extLst>
          </p:cNvPr>
          <p:cNvSpPr>
            <a:spLocks noGrp="1"/>
          </p:cNvSpPr>
          <p:nvPr/>
        </p:nvSpPr>
        <p:spPr>
          <a:xfrm>
            <a:off x="762000" y="75247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28A8C70-AFCB-4C31-82BD-EFF9D28653F6}"/>
              </a:ext>
            </a:extLst>
          </p:cNvPr>
          <p:cNvSpPr>
            <a:spLocks noGrp="1"/>
          </p:cNvSpPr>
          <p:nvPr/>
        </p:nvSpPr>
        <p:spPr>
          <a:xfrm>
            <a:off x="952500" y="76771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A786F81-5A21-4C5A-A9A7-DD71CA6C90B0}"/>
              </a:ext>
            </a:extLst>
          </p:cNvPr>
          <p:cNvSpPr>
            <a:spLocks noGrp="1"/>
          </p:cNvSpPr>
          <p:nvPr/>
        </p:nvSpPr>
        <p:spPr>
          <a:xfrm>
            <a:off x="952500" y="77914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Cache hit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75F47AB-F5A9-4E33-86C1-D3A21C675534}"/>
              </a:ext>
            </a:extLst>
          </p:cNvPr>
          <p:cNvSpPr>
            <a:spLocks noGrp="1"/>
          </p:cNvSpPr>
          <p:nvPr/>
        </p:nvSpPr>
        <p:spPr>
          <a:xfrm>
            <a:off x="952500" y="81343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Redis snapshot을 바로 사용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930F6922-E76D-41AB-8006-CCAFDC311966}"/>
              </a:ext>
            </a:extLst>
          </p:cNvPr>
          <p:cNvSpPr>
            <a:spLocks noGrp="1"/>
          </p:cNvSpPr>
          <p:nvPr/>
        </p:nvSpPr>
        <p:spPr>
          <a:xfrm>
            <a:off x="6407150" y="75247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05DDF80-BA71-40ED-A8E2-A5DF4BD6C72C}"/>
              </a:ext>
            </a:extLst>
          </p:cNvPr>
          <p:cNvSpPr>
            <a:spLocks noGrp="1"/>
          </p:cNvSpPr>
          <p:nvPr/>
        </p:nvSpPr>
        <p:spPr>
          <a:xfrm>
            <a:off x="6591300" y="76771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6301410-1C23-48EE-9135-5040297A1B37}"/>
              </a:ext>
            </a:extLst>
          </p:cNvPr>
          <p:cNvSpPr>
            <a:spLocks noGrp="1"/>
          </p:cNvSpPr>
          <p:nvPr/>
        </p:nvSpPr>
        <p:spPr>
          <a:xfrm>
            <a:off x="6591300" y="77914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Cache miss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15BF5BF-CE7E-4762-8447-F9DDEFD7D222}"/>
              </a:ext>
            </a:extLst>
          </p:cNvPr>
          <p:cNvSpPr>
            <a:spLocks noGrp="1"/>
          </p:cNvSpPr>
          <p:nvPr/>
        </p:nvSpPr>
        <p:spPr>
          <a:xfrm>
            <a:off x="6591300" y="81343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refresh lock 후 수집/생성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5B27F83B-2F57-4D6C-8716-680520015A9C}"/>
              </a:ext>
            </a:extLst>
          </p:cNvPr>
          <p:cNvSpPr>
            <a:spLocks noGrp="1"/>
          </p:cNvSpPr>
          <p:nvPr/>
        </p:nvSpPr>
        <p:spPr>
          <a:xfrm>
            <a:off x="12052300" y="75247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7CE07EE-DC5C-43EA-B15E-55ACAD0B27D9}"/>
              </a:ext>
            </a:extLst>
          </p:cNvPr>
          <p:cNvSpPr>
            <a:spLocks noGrp="1"/>
          </p:cNvSpPr>
          <p:nvPr/>
        </p:nvSpPr>
        <p:spPr>
          <a:xfrm>
            <a:off x="12249150" y="76771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86F11B1-EBD9-4A14-9AE2-7A7C0CE19A7F}"/>
              </a:ext>
            </a:extLst>
          </p:cNvPr>
          <p:cNvSpPr>
            <a:spLocks noGrp="1"/>
          </p:cNvSpPr>
          <p:nvPr/>
        </p:nvSpPr>
        <p:spPr>
          <a:xfrm>
            <a:off x="12249150" y="77914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Decision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48F3CA9-A4DC-4FF9-86E4-7C32150D2C89}"/>
              </a:ext>
            </a:extLst>
          </p:cNvPr>
          <p:cNvSpPr>
            <a:spLocks noGrp="1"/>
          </p:cNvSpPr>
          <p:nvPr/>
        </p:nvSpPr>
        <p:spPr>
          <a:xfrm>
            <a:off x="12249150" y="81343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registeredDevices와 station 비교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CFF61ACA-6C01-462A-B7D9-A04A5693CFE5}"/>
              </a:ext>
            </a:extLst>
          </p:cNvPr>
          <p:cNvSpPr>
            <a:spLocks noGrp="1"/>
          </p:cNvSpPr>
          <p:nvPr/>
        </p:nvSpPr>
        <p:spPr>
          <a:xfrm>
            <a:off x="762000" y="88201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FD2CCCF-C941-4F1F-BB99-FFA12A8A0481}"/>
              </a:ext>
            </a:extLst>
          </p:cNvPr>
          <p:cNvSpPr>
            <a:spLocks noGrp="1"/>
          </p:cNvSpPr>
          <p:nvPr/>
        </p:nvSpPr>
        <p:spPr>
          <a:xfrm>
            <a:off x="971550" y="90678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중요 경계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82B3624-2985-4AAA-B6AC-163A34E89B02}"/>
              </a:ext>
            </a:extLst>
          </p:cNvPr>
          <p:cNvSpPr>
            <a:spLocks noGrp="1"/>
          </p:cNvSpPr>
          <p:nvPr/>
        </p:nvSpPr>
        <p:spPr>
          <a:xfrm>
            <a:off x="2571750" y="90678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Backend는 Redis를 직접 읽지 않고 PresenceService API를 호출합니다.</a:t>
            </a:r>
          </a:p>
        </p:txBody>
      </p:sp>
    </p:spTree>
    <p:extLst>
      <p:ext uri="{BB962C8B-B14F-4D97-AF65-F5344CB8AC3E}">
        <p14:creationId xmlns:p14="http://schemas.microsoft.com/office/powerpoint/2010/main" val="222166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A1A01D29-8058-4114-8390-0783E39573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CC2688-7CA7-4571-8A9A-62C01E27B8D7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FC4BB-EE34-422E-A5F3-5DC43A3FDEE6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기능별 Sequence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09A3DB-6E80-43CA-B2CF-05EDB2A9E580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출석 체크는 등록 단말, 수강/시간표, 강의실 네트워크, audit 저장이 함께 연결됨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9C9212-CBF6-43E0-84E9-C371872793F9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621A7C-3773-4B1E-96B0-73FE74E2A676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3BF8FA-F57E-499D-8A66-A2240CAEA8FE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32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D26031-9BDD-402E-AB1D-914DAEAC58E8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16764000" cy="5334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6DB641-CBE5-4580-918F-4A3C5B11FF44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25273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7369F2-B7EA-478C-92FA-585846D2C232}"/>
              </a:ext>
            </a:extLst>
          </p:cNvPr>
          <p:cNvSpPr>
            <a:spLocks noGrp="1"/>
          </p:cNvSpPr>
          <p:nvPr/>
        </p:nvSpPr>
        <p:spPr>
          <a:xfrm>
            <a:off x="1009650" y="2419350"/>
            <a:ext cx="2305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Professor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BD7968-FDCA-4BA8-97BF-78CFA2365171}"/>
              </a:ext>
            </a:extLst>
          </p:cNvPr>
          <p:cNvSpPr>
            <a:spLocks noGrp="1"/>
          </p:cNvSpPr>
          <p:nvPr/>
        </p:nvSpPr>
        <p:spPr>
          <a:xfrm>
            <a:off x="21336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C1C500-F4A9-489F-85D0-760392E22195}"/>
              </a:ext>
            </a:extLst>
          </p:cNvPr>
          <p:cNvSpPr>
            <a:spLocks noGrp="1"/>
          </p:cNvSpPr>
          <p:nvPr/>
        </p:nvSpPr>
        <p:spPr>
          <a:xfrm>
            <a:off x="3689350" y="2305050"/>
            <a:ext cx="25273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9AFBAD-9A14-48A7-9EF9-8773460F4D8B}"/>
              </a:ext>
            </a:extLst>
          </p:cNvPr>
          <p:cNvSpPr>
            <a:spLocks noGrp="1"/>
          </p:cNvSpPr>
          <p:nvPr/>
        </p:nvSpPr>
        <p:spPr>
          <a:xfrm>
            <a:off x="3810000" y="2419350"/>
            <a:ext cx="2305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Student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7B4A5C-9720-462B-AB27-F23D7A7792D5}"/>
              </a:ext>
            </a:extLst>
          </p:cNvPr>
          <p:cNvSpPr>
            <a:spLocks noGrp="1"/>
          </p:cNvSpPr>
          <p:nvPr/>
        </p:nvSpPr>
        <p:spPr>
          <a:xfrm>
            <a:off x="49530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9F50B2-B4DD-4C19-A0E4-3211A95E1698}"/>
              </a:ext>
            </a:extLst>
          </p:cNvPr>
          <p:cNvSpPr>
            <a:spLocks noGrp="1"/>
          </p:cNvSpPr>
          <p:nvPr/>
        </p:nvSpPr>
        <p:spPr>
          <a:xfrm>
            <a:off x="6483350" y="2305050"/>
            <a:ext cx="25273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7F770A-CBD6-4ABC-852E-EF3F23435489}"/>
              </a:ext>
            </a:extLst>
          </p:cNvPr>
          <p:cNvSpPr>
            <a:spLocks noGrp="1"/>
          </p:cNvSpPr>
          <p:nvPr/>
        </p:nvSpPr>
        <p:spPr>
          <a:xfrm>
            <a:off x="6591300" y="2419350"/>
            <a:ext cx="2305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Backend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B39D53-7505-4455-B27C-27116199CCA2}"/>
              </a:ext>
            </a:extLst>
          </p:cNvPr>
          <p:cNvSpPr>
            <a:spLocks noGrp="1"/>
          </p:cNvSpPr>
          <p:nvPr/>
        </p:nvSpPr>
        <p:spPr>
          <a:xfrm>
            <a:off x="77724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D9CB851-CABB-4C89-B213-2B19DADF9C4D}"/>
              </a:ext>
            </a:extLst>
          </p:cNvPr>
          <p:cNvSpPr>
            <a:spLocks noGrp="1"/>
          </p:cNvSpPr>
          <p:nvPr/>
        </p:nvSpPr>
        <p:spPr>
          <a:xfrm>
            <a:off x="9277350" y="2305050"/>
            <a:ext cx="25273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FAD10D-72B1-450A-80A2-97165BBBD7AC}"/>
              </a:ext>
            </a:extLst>
          </p:cNvPr>
          <p:cNvSpPr>
            <a:spLocks noGrp="1"/>
          </p:cNvSpPr>
          <p:nvPr/>
        </p:nvSpPr>
        <p:spPr>
          <a:xfrm>
            <a:off x="9391650" y="2419350"/>
            <a:ext cx="2305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DB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CF15F3-3543-410F-9E4F-53519C7F710B}"/>
              </a:ext>
            </a:extLst>
          </p:cNvPr>
          <p:cNvSpPr>
            <a:spLocks noGrp="1"/>
          </p:cNvSpPr>
          <p:nvPr/>
        </p:nvSpPr>
        <p:spPr>
          <a:xfrm>
            <a:off x="105156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EA0A835-4CDF-47C2-B57F-B49416AE2EB6}"/>
              </a:ext>
            </a:extLst>
          </p:cNvPr>
          <p:cNvSpPr>
            <a:spLocks noGrp="1"/>
          </p:cNvSpPr>
          <p:nvPr/>
        </p:nvSpPr>
        <p:spPr>
          <a:xfrm>
            <a:off x="12071350" y="2305050"/>
            <a:ext cx="25273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1806AA-FB61-47B8-A651-126D32CA6441}"/>
              </a:ext>
            </a:extLst>
          </p:cNvPr>
          <p:cNvSpPr>
            <a:spLocks noGrp="1"/>
          </p:cNvSpPr>
          <p:nvPr/>
        </p:nvSpPr>
        <p:spPr>
          <a:xfrm>
            <a:off x="12192000" y="2419350"/>
            <a:ext cx="2305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Presence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033C34-FA46-44AE-BFDC-5F7FD663C57E}"/>
              </a:ext>
            </a:extLst>
          </p:cNvPr>
          <p:cNvSpPr>
            <a:spLocks noGrp="1"/>
          </p:cNvSpPr>
          <p:nvPr/>
        </p:nvSpPr>
        <p:spPr>
          <a:xfrm>
            <a:off x="133350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DF6612D-15D5-472B-BE5D-A64CCCA1A2FF}"/>
              </a:ext>
            </a:extLst>
          </p:cNvPr>
          <p:cNvSpPr>
            <a:spLocks noGrp="1"/>
          </p:cNvSpPr>
          <p:nvPr/>
        </p:nvSpPr>
        <p:spPr>
          <a:xfrm>
            <a:off x="14865350" y="2305050"/>
            <a:ext cx="2527300" cy="45720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33C2E7-3E1C-4D4C-9E31-5F0C4ABE745D}"/>
              </a:ext>
            </a:extLst>
          </p:cNvPr>
          <p:cNvSpPr>
            <a:spLocks noGrp="1"/>
          </p:cNvSpPr>
          <p:nvPr/>
        </p:nvSpPr>
        <p:spPr>
          <a:xfrm>
            <a:off x="14973300" y="2419350"/>
            <a:ext cx="2305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WebSocket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4E1C9F-3012-40F5-85BE-6F905420053E}"/>
              </a:ext>
            </a:extLst>
          </p:cNvPr>
          <p:cNvSpPr>
            <a:spLocks noGrp="1"/>
          </p:cNvSpPr>
          <p:nvPr/>
        </p:nvSpPr>
        <p:spPr>
          <a:xfrm>
            <a:off x="16154400" y="2895600"/>
            <a:ext cx="9525" cy="4267200"/>
          </a:xfrm>
          <a:prstGeom prst="rect">
            <a:avLst/>
          </a:prstGeom>
          <a:solidFill>
            <a:srgbClr val="CFE1F8"/>
          </a:solidFill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6028EF-C6A2-43F0-99C1-E0C6AC6CE05E}"/>
              </a:ext>
            </a:extLst>
          </p:cNvPr>
          <p:cNvSpPr>
            <a:spLocks noGrp="1"/>
          </p:cNvSpPr>
          <p:nvPr/>
        </p:nvSpPr>
        <p:spPr>
          <a:xfrm>
            <a:off x="2133600" y="3276600"/>
            <a:ext cx="55626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EF199-2A71-45EE-8580-228BBFAAB1ED}"/>
              </a:ext>
            </a:extLst>
          </p:cNvPr>
          <p:cNvSpPr>
            <a:spLocks noGrp="1"/>
          </p:cNvSpPr>
          <p:nvPr/>
        </p:nvSpPr>
        <p:spPr>
          <a:xfrm>
            <a:off x="7620000" y="31623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781583E-5CE6-4062-911E-47B5C4D62E8C}"/>
              </a:ext>
            </a:extLst>
          </p:cNvPr>
          <p:cNvSpPr>
            <a:spLocks noGrp="1"/>
          </p:cNvSpPr>
          <p:nvPr/>
        </p:nvSpPr>
        <p:spPr>
          <a:xfrm>
            <a:off x="2714625" y="3095625"/>
            <a:ext cx="4476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DEA3E4-4F6B-4611-9F22-34CE3F39009E}"/>
              </a:ext>
            </a:extLst>
          </p:cNvPr>
          <p:cNvSpPr>
            <a:spLocks noGrp="1"/>
          </p:cNvSpPr>
          <p:nvPr/>
        </p:nvSpPr>
        <p:spPr>
          <a:xfrm>
            <a:off x="2819400" y="3162300"/>
            <a:ext cx="4286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batch 출석 세션 생성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6962CA-6151-412E-B5E3-24AA50EA3F32}"/>
              </a:ext>
            </a:extLst>
          </p:cNvPr>
          <p:cNvSpPr>
            <a:spLocks noGrp="1"/>
          </p:cNvSpPr>
          <p:nvPr/>
        </p:nvSpPr>
        <p:spPr>
          <a:xfrm>
            <a:off x="7772400" y="3657600"/>
            <a:ext cx="28194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6AD2D9-8498-4E4C-997B-8C188DFB0DAC}"/>
              </a:ext>
            </a:extLst>
          </p:cNvPr>
          <p:cNvSpPr>
            <a:spLocks noGrp="1"/>
          </p:cNvSpPr>
          <p:nvPr/>
        </p:nvSpPr>
        <p:spPr>
          <a:xfrm>
            <a:off x="10420350" y="35242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FB242AF-B98D-4B01-9989-43FDB08A1C4B}"/>
              </a:ext>
            </a:extLst>
          </p:cNvPr>
          <p:cNvSpPr>
            <a:spLocks noGrp="1"/>
          </p:cNvSpPr>
          <p:nvPr/>
        </p:nvSpPr>
        <p:spPr>
          <a:xfrm>
            <a:off x="7908925" y="3457575"/>
            <a:ext cx="2470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224DF5-81BD-4AA2-B84F-152BD9F7061E}"/>
              </a:ext>
            </a:extLst>
          </p:cNvPr>
          <p:cNvSpPr>
            <a:spLocks noGrp="1"/>
          </p:cNvSpPr>
          <p:nvPr/>
        </p:nvSpPr>
        <p:spPr>
          <a:xfrm>
            <a:off x="8001000" y="3524250"/>
            <a:ext cx="2286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slot / session 검증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D8AB6B-EBDA-49C9-836B-D5D92E41F420}"/>
              </a:ext>
            </a:extLst>
          </p:cNvPr>
          <p:cNvSpPr>
            <a:spLocks noGrp="1"/>
          </p:cNvSpPr>
          <p:nvPr/>
        </p:nvSpPr>
        <p:spPr>
          <a:xfrm>
            <a:off x="7772400" y="3962400"/>
            <a:ext cx="28194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D3EE76-AAA5-48B5-BA4A-4369F84A3DA0}"/>
              </a:ext>
            </a:extLst>
          </p:cNvPr>
          <p:cNvSpPr>
            <a:spLocks noGrp="1"/>
          </p:cNvSpPr>
          <p:nvPr/>
        </p:nvSpPr>
        <p:spPr>
          <a:xfrm>
            <a:off x="10420350" y="38862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CFFC93D-D95B-4CCF-98F6-4EB67A0A9B3F}"/>
              </a:ext>
            </a:extLst>
          </p:cNvPr>
          <p:cNvSpPr>
            <a:spLocks noGrp="1"/>
          </p:cNvSpPr>
          <p:nvPr/>
        </p:nvSpPr>
        <p:spPr>
          <a:xfrm>
            <a:off x="7908925" y="3819525"/>
            <a:ext cx="2470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D71DC3-F95B-47F3-9F03-143F6400B352}"/>
              </a:ext>
            </a:extLst>
          </p:cNvPr>
          <p:cNvSpPr>
            <a:spLocks noGrp="1"/>
          </p:cNvSpPr>
          <p:nvPr/>
        </p:nvSpPr>
        <p:spPr>
          <a:xfrm>
            <a:off x="8001000" y="3886200"/>
            <a:ext cx="2286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parent + slots 저장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03D8566-39D8-4B15-95B2-B6DFB24E6A2C}"/>
              </a:ext>
            </a:extLst>
          </p:cNvPr>
          <p:cNvSpPr>
            <a:spLocks noGrp="1"/>
          </p:cNvSpPr>
          <p:nvPr/>
        </p:nvSpPr>
        <p:spPr>
          <a:xfrm>
            <a:off x="7772400" y="4343400"/>
            <a:ext cx="8382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F1D4AC-6AC8-49B0-8FBF-3715A6518F20}"/>
              </a:ext>
            </a:extLst>
          </p:cNvPr>
          <p:cNvSpPr>
            <a:spLocks noGrp="1"/>
          </p:cNvSpPr>
          <p:nvPr/>
        </p:nvSpPr>
        <p:spPr>
          <a:xfrm>
            <a:off x="16002000" y="42481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41E1B15-7C06-475C-95CE-D4B48FDABCEF}"/>
              </a:ext>
            </a:extLst>
          </p:cNvPr>
          <p:cNvSpPr>
            <a:spLocks noGrp="1"/>
          </p:cNvSpPr>
          <p:nvPr/>
        </p:nvSpPr>
        <p:spPr>
          <a:xfrm>
            <a:off x="9699625" y="4181475"/>
            <a:ext cx="4476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16AC39-E3A6-4673-B38E-64B669ADCADA}"/>
              </a:ext>
            </a:extLst>
          </p:cNvPr>
          <p:cNvSpPr>
            <a:spLocks noGrp="1"/>
          </p:cNvSpPr>
          <p:nvPr/>
        </p:nvSpPr>
        <p:spPr>
          <a:xfrm>
            <a:off x="9791700" y="4248150"/>
            <a:ext cx="4286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attendance.session.batch_applied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A99274-D1E1-43EB-A599-FD60BCE674DC}"/>
              </a:ext>
            </a:extLst>
          </p:cNvPr>
          <p:cNvSpPr>
            <a:spLocks noGrp="1"/>
          </p:cNvSpPr>
          <p:nvPr/>
        </p:nvSpPr>
        <p:spPr>
          <a:xfrm>
            <a:off x="4953000" y="4724400"/>
            <a:ext cx="28194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F75333-3044-4E66-B245-1437FCA5D916}"/>
              </a:ext>
            </a:extLst>
          </p:cNvPr>
          <p:cNvSpPr>
            <a:spLocks noGrp="1"/>
          </p:cNvSpPr>
          <p:nvPr/>
        </p:nvSpPr>
        <p:spPr>
          <a:xfrm>
            <a:off x="7620000" y="46101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05D477A-220A-4E6B-B463-185FC0FA96C8}"/>
              </a:ext>
            </a:extLst>
          </p:cNvPr>
          <p:cNvSpPr>
            <a:spLocks noGrp="1"/>
          </p:cNvSpPr>
          <p:nvPr/>
        </p:nvSpPr>
        <p:spPr>
          <a:xfrm>
            <a:off x="5114925" y="4543425"/>
            <a:ext cx="2470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E6C48D-50DC-4CA8-8741-EFD195240736}"/>
              </a:ext>
            </a:extLst>
          </p:cNvPr>
          <p:cNvSpPr>
            <a:spLocks noGrp="1"/>
          </p:cNvSpPr>
          <p:nvPr/>
        </p:nvSpPr>
        <p:spPr>
          <a:xfrm>
            <a:off x="5219700" y="4610100"/>
            <a:ext cx="2286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학생 check-in 요청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A8CEE88-D977-4646-9DDC-F34BE045E562}"/>
              </a:ext>
            </a:extLst>
          </p:cNvPr>
          <p:cNvSpPr>
            <a:spLocks noGrp="1"/>
          </p:cNvSpPr>
          <p:nvPr/>
        </p:nvSpPr>
        <p:spPr>
          <a:xfrm>
            <a:off x="7772400" y="5105400"/>
            <a:ext cx="28194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AA1913B-7FC7-48CB-8D9A-8D99872A492A}"/>
              </a:ext>
            </a:extLst>
          </p:cNvPr>
          <p:cNvSpPr>
            <a:spLocks noGrp="1"/>
          </p:cNvSpPr>
          <p:nvPr/>
        </p:nvSpPr>
        <p:spPr>
          <a:xfrm>
            <a:off x="10420350" y="49720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23BF82E-464C-426A-AD27-548C2BAC0BC7}"/>
              </a:ext>
            </a:extLst>
          </p:cNvPr>
          <p:cNvSpPr>
            <a:spLocks noGrp="1"/>
          </p:cNvSpPr>
          <p:nvPr/>
        </p:nvSpPr>
        <p:spPr>
          <a:xfrm>
            <a:off x="7908925" y="4905375"/>
            <a:ext cx="2470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2B5886-8572-41BC-AFEA-95AF27193F67}"/>
              </a:ext>
            </a:extLst>
          </p:cNvPr>
          <p:cNvSpPr>
            <a:spLocks noGrp="1"/>
          </p:cNvSpPr>
          <p:nvPr/>
        </p:nvSpPr>
        <p:spPr>
          <a:xfrm>
            <a:off x="8001000" y="4972050"/>
            <a:ext cx="2286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session / device 조회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602D68B-3E01-419D-A385-71A04F684B59}"/>
              </a:ext>
            </a:extLst>
          </p:cNvPr>
          <p:cNvSpPr>
            <a:spLocks noGrp="1"/>
          </p:cNvSpPr>
          <p:nvPr/>
        </p:nvSpPr>
        <p:spPr>
          <a:xfrm>
            <a:off x="7772400" y="5410200"/>
            <a:ext cx="55626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AA9408B-76E8-4CCD-A09E-1468F6A78F7F}"/>
              </a:ext>
            </a:extLst>
          </p:cNvPr>
          <p:cNvSpPr>
            <a:spLocks noGrp="1"/>
          </p:cNvSpPr>
          <p:nvPr/>
        </p:nvSpPr>
        <p:spPr>
          <a:xfrm>
            <a:off x="13220700" y="53340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1FB264F-2096-4EA7-845E-65E106EC9FA3}"/>
              </a:ext>
            </a:extLst>
          </p:cNvPr>
          <p:cNvSpPr>
            <a:spLocks noGrp="1"/>
          </p:cNvSpPr>
          <p:nvPr/>
        </p:nvSpPr>
        <p:spPr>
          <a:xfrm>
            <a:off x="8302625" y="5267325"/>
            <a:ext cx="4476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DC0490-B264-4D99-92D3-B1190DD68541}"/>
              </a:ext>
            </a:extLst>
          </p:cNvPr>
          <p:cNvSpPr>
            <a:spLocks noGrp="1"/>
          </p:cNvSpPr>
          <p:nvPr/>
        </p:nvSpPr>
        <p:spPr>
          <a:xfrm>
            <a:off x="8401050" y="5334000"/>
            <a:ext cx="4286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POST /eligibility/check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F70DF75-32BE-4EBF-9A6B-ED334C6C3889}"/>
              </a:ext>
            </a:extLst>
          </p:cNvPr>
          <p:cNvSpPr>
            <a:spLocks noGrp="1"/>
          </p:cNvSpPr>
          <p:nvPr/>
        </p:nvSpPr>
        <p:spPr>
          <a:xfrm>
            <a:off x="7772400" y="5791200"/>
            <a:ext cx="5562600" cy="9525"/>
          </a:xfrm>
          <a:prstGeom prst="rect">
            <a:avLst/>
          </a:prstGeom>
          <a:solidFill>
            <a:srgbClr val="65758B"/>
          </a:solidFill>
        </p:spPr>
        <p:txBody>
          <a:bodyPr/>
          <a:lstStyle/>
          <a:p>
            <a:endParaRPr lang="en-K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8A4139-BBBA-4C9A-92F0-7124F283A4F6}"/>
              </a:ext>
            </a:extLst>
          </p:cNvPr>
          <p:cNvSpPr>
            <a:spLocks noGrp="1"/>
          </p:cNvSpPr>
          <p:nvPr/>
        </p:nvSpPr>
        <p:spPr>
          <a:xfrm>
            <a:off x="7658100" y="56959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◀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CF59379D-2D77-4866-AD3E-A3B7FBC04FA8}"/>
              </a:ext>
            </a:extLst>
          </p:cNvPr>
          <p:cNvSpPr>
            <a:spLocks noGrp="1"/>
          </p:cNvSpPr>
          <p:nvPr/>
        </p:nvSpPr>
        <p:spPr>
          <a:xfrm>
            <a:off x="8302625" y="5629275"/>
            <a:ext cx="4476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8C8013-8E33-41D4-9C34-8E965AB697D1}"/>
              </a:ext>
            </a:extLst>
          </p:cNvPr>
          <p:cNvSpPr>
            <a:spLocks noGrp="1"/>
          </p:cNvSpPr>
          <p:nvPr/>
        </p:nvSpPr>
        <p:spPr>
          <a:xfrm>
            <a:off x="8401050" y="5695950"/>
            <a:ext cx="4286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eligible + reasonCode + evidence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513090F-6B33-46D6-9EA6-188C418B34FC}"/>
              </a:ext>
            </a:extLst>
          </p:cNvPr>
          <p:cNvSpPr>
            <a:spLocks noGrp="1"/>
          </p:cNvSpPr>
          <p:nvPr/>
        </p:nvSpPr>
        <p:spPr>
          <a:xfrm>
            <a:off x="7772400" y="6172200"/>
            <a:ext cx="28194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19545B9-0FAA-450E-A9A2-905549C4EE81}"/>
              </a:ext>
            </a:extLst>
          </p:cNvPr>
          <p:cNvSpPr>
            <a:spLocks noGrp="1"/>
          </p:cNvSpPr>
          <p:nvPr/>
        </p:nvSpPr>
        <p:spPr>
          <a:xfrm>
            <a:off x="10420350" y="60579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B14CE52-D291-4930-BDDC-E7C854E6E33D}"/>
              </a:ext>
            </a:extLst>
          </p:cNvPr>
          <p:cNvSpPr>
            <a:spLocks noGrp="1"/>
          </p:cNvSpPr>
          <p:nvPr/>
        </p:nvSpPr>
        <p:spPr>
          <a:xfrm>
            <a:off x="7908925" y="5991225"/>
            <a:ext cx="2470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DD84977-5A21-49DA-9EC4-8BCEF52528C3}"/>
              </a:ext>
            </a:extLst>
          </p:cNvPr>
          <p:cNvSpPr>
            <a:spLocks noGrp="1"/>
          </p:cNvSpPr>
          <p:nvPr/>
        </p:nvSpPr>
        <p:spPr>
          <a:xfrm>
            <a:off x="8001000" y="6057900"/>
            <a:ext cx="2286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records fan-out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5D366EE-3E95-4A6A-BF4B-07FB69263993}"/>
              </a:ext>
            </a:extLst>
          </p:cNvPr>
          <p:cNvSpPr>
            <a:spLocks noGrp="1"/>
          </p:cNvSpPr>
          <p:nvPr/>
        </p:nvSpPr>
        <p:spPr>
          <a:xfrm>
            <a:off x="7772400" y="6553200"/>
            <a:ext cx="28194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298318A-4653-4684-A710-918F9AF93070}"/>
              </a:ext>
            </a:extLst>
          </p:cNvPr>
          <p:cNvSpPr>
            <a:spLocks noGrp="1"/>
          </p:cNvSpPr>
          <p:nvPr/>
        </p:nvSpPr>
        <p:spPr>
          <a:xfrm>
            <a:off x="10420350" y="641985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68F22C2-8E31-4EC0-AB21-34DE5C5C435C}"/>
              </a:ext>
            </a:extLst>
          </p:cNvPr>
          <p:cNvSpPr>
            <a:spLocks noGrp="1"/>
          </p:cNvSpPr>
          <p:nvPr/>
        </p:nvSpPr>
        <p:spPr>
          <a:xfrm>
            <a:off x="7908925" y="6353175"/>
            <a:ext cx="24701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65A9E03-CD48-4CF2-BBE4-105B4B7080B7}"/>
              </a:ext>
            </a:extLst>
          </p:cNvPr>
          <p:cNvSpPr>
            <a:spLocks noGrp="1"/>
          </p:cNvSpPr>
          <p:nvPr/>
        </p:nvSpPr>
        <p:spPr>
          <a:xfrm>
            <a:off x="8001000" y="6419850"/>
            <a:ext cx="2286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audit append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B3C799E-8AF6-4AE8-9ABB-045EEA6187D7}"/>
              </a:ext>
            </a:extLst>
          </p:cNvPr>
          <p:cNvSpPr>
            <a:spLocks noGrp="1"/>
          </p:cNvSpPr>
          <p:nvPr/>
        </p:nvSpPr>
        <p:spPr>
          <a:xfrm>
            <a:off x="7772400" y="6858000"/>
            <a:ext cx="8382000" cy="9525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EB76218-91FA-491F-A601-470BCD776662}"/>
              </a:ext>
            </a:extLst>
          </p:cNvPr>
          <p:cNvSpPr>
            <a:spLocks noGrp="1"/>
          </p:cNvSpPr>
          <p:nvPr/>
        </p:nvSpPr>
        <p:spPr>
          <a:xfrm>
            <a:off x="16002000" y="6781800"/>
            <a:ext cx="247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260FF55-FC3D-42F0-84CC-C2A836ABEC28}"/>
              </a:ext>
            </a:extLst>
          </p:cNvPr>
          <p:cNvSpPr>
            <a:spLocks noGrp="1"/>
          </p:cNvSpPr>
          <p:nvPr/>
        </p:nvSpPr>
        <p:spPr>
          <a:xfrm>
            <a:off x="9699625" y="6715125"/>
            <a:ext cx="4476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3A84A41-DC4C-4E8B-86E2-5632E3475E7C}"/>
              </a:ext>
            </a:extLst>
          </p:cNvPr>
          <p:cNvSpPr>
            <a:spLocks noGrp="1"/>
          </p:cNvSpPr>
          <p:nvPr/>
        </p:nvSpPr>
        <p:spPr>
          <a:xfrm>
            <a:off x="9791700" y="6781800"/>
            <a:ext cx="4286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attendance.student.checked_in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CEE33A4E-4DC8-4543-B649-E2DA7ED8B6DB}"/>
              </a:ext>
            </a:extLst>
          </p:cNvPr>
          <p:cNvSpPr>
            <a:spLocks noGrp="1"/>
          </p:cNvSpPr>
          <p:nvPr/>
        </p:nvSpPr>
        <p:spPr>
          <a:xfrm>
            <a:off x="762000" y="75247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F39CBDE-0FDF-4F9E-9F57-0193B8159958}"/>
              </a:ext>
            </a:extLst>
          </p:cNvPr>
          <p:cNvSpPr>
            <a:spLocks noGrp="1"/>
          </p:cNvSpPr>
          <p:nvPr/>
        </p:nvSpPr>
        <p:spPr>
          <a:xfrm>
            <a:off x="952500" y="76771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C917362-2E90-4EBD-8732-E15E89C11FA5}"/>
              </a:ext>
            </a:extLst>
          </p:cNvPr>
          <p:cNvSpPr>
            <a:spLocks noGrp="1"/>
          </p:cNvSpPr>
          <p:nvPr/>
        </p:nvSpPr>
        <p:spPr>
          <a:xfrm>
            <a:off x="952500" y="77914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Self check-in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D05016F-0F6B-439A-954D-8C71011035F2}"/>
              </a:ext>
            </a:extLst>
          </p:cNvPr>
          <p:cNvSpPr>
            <a:spLocks noGrp="1"/>
          </p:cNvSpPr>
          <p:nvPr/>
        </p:nvSpPr>
        <p:spPr>
          <a:xfrm>
            <a:off x="952500" y="81343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첫 성공 시 audit row 생성, 동일 세션 재시도는 no-op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33C292B-5631-4E95-9C0D-20A1A0DEC00F}"/>
              </a:ext>
            </a:extLst>
          </p:cNvPr>
          <p:cNvSpPr>
            <a:spLocks noGrp="1"/>
          </p:cNvSpPr>
          <p:nvPr/>
        </p:nvSpPr>
        <p:spPr>
          <a:xfrm>
            <a:off x="6407150" y="75247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6F27A0B-C73D-48BB-AEAD-E467F78E44BF}"/>
              </a:ext>
            </a:extLst>
          </p:cNvPr>
          <p:cNvSpPr>
            <a:spLocks noGrp="1"/>
          </p:cNvSpPr>
          <p:nvPr/>
        </p:nvSpPr>
        <p:spPr>
          <a:xfrm>
            <a:off x="6591300" y="76771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1697084-FC95-400A-A90C-216F97607481}"/>
              </a:ext>
            </a:extLst>
          </p:cNvPr>
          <p:cNvSpPr>
            <a:spLocks noGrp="1"/>
          </p:cNvSpPr>
          <p:nvPr/>
        </p:nvSpPr>
        <p:spPr>
          <a:xfrm>
            <a:off x="6591300" y="77914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Bundle parent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E317B90-71A9-402C-ADB7-C577FBC4BE06}"/>
              </a:ext>
            </a:extLst>
          </p:cNvPr>
          <p:cNvSpPr>
            <a:spLocks noGrp="1"/>
          </p:cNvSpPr>
          <p:nvPr/>
        </p:nvSpPr>
        <p:spPr>
          <a:xfrm>
            <a:off x="6591300" y="81343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여러 projected slot을 parent session으로 운영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470DFBCC-42C5-47BD-B69E-9849570F31FD}"/>
              </a:ext>
            </a:extLst>
          </p:cNvPr>
          <p:cNvSpPr>
            <a:spLocks noGrp="1"/>
          </p:cNvSpPr>
          <p:nvPr/>
        </p:nvSpPr>
        <p:spPr>
          <a:xfrm>
            <a:off x="12052300" y="7524750"/>
            <a:ext cx="54737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636E4CF-9BC4-4FCA-B176-9B4260082267}"/>
              </a:ext>
            </a:extLst>
          </p:cNvPr>
          <p:cNvSpPr>
            <a:spLocks noGrp="1"/>
          </p:cNvSpPr>
          <p:nvPr/>
        </p:nvSpPr>
        <p:spPr>
          <a:xfrm>
            <a:off x="12249150" y="76771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52B0D1E-E112-4851-829E-9CBD00A0BE2B}"/>
              </a:ext>
            </a:extLst>
          </p:cNvPr>
          <p:cNvSpPr>
            <a:spLocks noGrp="1"/>
          </p:cNvSpPr>
          <p:nvPr/>
        </p:nvSpPr>
        <p:spPr>
          <a:xfrm>
            <a:off x="12249150" y="77914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Realtime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0D1ECBE-7B45-4F94-89DC-3386900EEA81}"/>
              </a:ext>
            </a:extLst>
          </p:cNvPr>
          <p:cNvSpPr>
            <a:spLocks noGrp="1"/>
          </p:cNvSpPr>
          <p:nvPr/>
        </p:nvSpPr>
        <p:spPr>
          <a:xfrm>
            <a:off x="12249150" y="81343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changed-only audit와 WebSocket event로 화면 갱신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8F854883-CC1B-43A0-B3D9-ADF233C0A3EF}"/>
              </a:ext>
            </a:extLst>
          </p:cNvPr>
          <p:cNvSpPr>
            <a:spLocks noGrp="1"/>
          </p:cNvSpPr>
          <p:nvPr/>
        </p:nvSpPr>
        <p:spPr>
          <a:xfrm>
            <a:off x="762000" y="88201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B6CB38D-1DBB-4EC4-BDFB-511C389EBC4E}"/>
              </a:ext>
            </a:extLst>
          </p:cNvPr>
          <p:cNvSpPr>
            <a:spLocks noGrp="1"/>
          </p:cNvSpPr>
          <p:nvPr/>
        </p:nvSpPr>
        <p:spPr>
          <a:xfrm>
            <a:off x="971550" y="90678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출석 경계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F7159FA-604F-4AB2-8D72-5872993BC912}"/>
              </a:ext>
            </a:extLst>
          </p:cNvPr>
          <p:cNvSpPr>
            <a:spLocks noGrp="1"/>
          </p:cNvSpPr>
          <p:nvPr/>
        </p:nvSpPr>
        <p:spPr>
          <a:xfrm>
            <a:off x="2571750" y="90678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출석 성공 여부만 보여주는 것이 아니라 bundle session, slot fan-out, audit 저장까지 함께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880339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98">
            <a:extLst>
              <a:ext uri="{FF2B5EF4-FFF2-40B4-BE49-F238E27FC236}">
                <a16:creationId xmlns:a16="http://schemas.microsoft.com/office/drawing/2014/main" id="{AC47CAFC-816B-43F4-A862-42F9B453FE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3CD49D-0833-4C6B-AE2B-B5B1BC3CF194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36B899-820C-4BDE-9472-B3FCB2E2BB2F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DB 진행상황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56F348-1548-4F5E-9FC1-5A73CDE08C2C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출석·재실성 판단은 단말, 강의실 네트워크, eligibility log, attendance audit로 추적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0CF8D7-D17A-4B26-8C19-3BBFCDB20F4A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F60BDB1-6A22-49B9-B027-76FE73C1EB41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A29251-CC38-4AE7-983D-32509E909899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33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EB9C59-13BA-409F-937A-A494D9EAC417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490913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E0A821-C380-4C8A-8275-5A0665E590B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490913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B93603-9A96-44EA-825D-809F2885C87C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users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04CBA1-BAB4-4158-9C2A-DDFD78A57131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2F0E68-E823-4F35-BED6-F7A95F2E2E4E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18532E-C5E7-4650-B4AB-6A4C494A86D4}"/>
              </a:ext>
            </a:extLst>
          </p:cNvPr>
          <p:cNvSpPr>
            <a:spLocks noGrp="1"/>
          </p:cNvSpPr>
          <p:nvPr/>
        </p:nvSpPr>
        <p:spPr>
          <a:xfrm>
            <a:off x="1162050" y="24955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F38D67-D5F3-46F0-B25B-63CCCC2B5C4E}"/>
              </a:ext>
            </a:extLst>
          </p:cNvPr>
          <p:cNvSpPr>
            <a:spLocks noGrp="1"/>
          </p:cNvSpPr>
          <p:nvPr/>
        </p:nvSpPr>
        <p:spPr>
          <a:xfrm>
            <a:off x="1238250" y="25717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19D550-7FD8-4BE5-BA08-2012C112F982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9031E0-FF73-4F46-BB96-E6276590A54A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UK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888955-EA79-4DAE-8360-0A99DDB32FED}"/>
              </a:ext>
            </a:extLst>
          </p:cNvPr>
          <p:cNvSpPr>
            <a:spLocks noGrp="1"/>
          </p:cNvSpPr>
          <p:nvPr/>
        </p:nvSpPr>
        <p:spPr>
          <a:xfrm>
            <a:off x="1162050" y="27813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6985D4-3CAD-4DBF-BC7F-56415AE6063F}"/>
              </a:ext>
            </a:extLst>
          </p:cNvPr>
          <p:cNvSpPr>
            <a:spLocks noGrp="1"/>
          </p:cNvSpPr>
          <p:nvPr/>
        </p:nvSpPr>
        <p:spPr>
          <a:xfrm>
            <a:off x="1238250" y="28575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student_id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C790F-835A-4DEE-AF73-ECBDA81B5825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F35ED2-D148-490E-9472-E8D013B5DF84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B7C824-D95C-47A4-A0D7-A18A85D678AA}"/>
              </a:ext>
            </a:extLst>
          </p:cNvPr>
          <p:cNvSpPr>
            <a:spLocks noGrp="1"/>
          </p:cNvSpPr>
          <p:nvPr/>
        </p:nvSpPr>
        <p:spPr>
          <a:xfrm>
            <a:off x="1162050" y="30670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BBF51B-FDFA-4D10-9058-0D118DED9005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role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59D476-3DDC-4015-80B8-DB573EB364E4}"/>
              </a:ext>
            </a:extLst>
          </p:cNvPr>
          <p:cNvSpPr>
            <a:spLocks noGrp="1"/>
          </p:cNvSpPr>
          <p:nvPr/>
        </p:nvSpPr>
        <p:spPr>
          <a:xfrm>
            <a:off x="4343400" y="306705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660287-5B57-4EF8-95D6-9E6B5ED0BB32}"/>
              </a:ext>
            </a:extLst>
          </p:cNvPr>
          <p:cNvSpPr>
            <a:spLocks noGrp="1"/>
          </p:cNvSpPr>
          <p:nvPr/>
        </p:nvSpPr>
        <p:spPr>
          <a:xfrm>
            <a:off x="4343400" y="344805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062E49-8577-4451-A627-185C450BDAFA}"/>
              </a:ext>
            </a:extLst>
          </p:cNvPr>
          <p:cNvSpPr>
            <a:spLocks noGrp="1"/>
          </p:cNvSpPr>
          <p:nvPr/>
        </p:nvSpPr>
        <p:spPr>
          <a:xfrm>
            <a:off x="4343400" y="369570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owns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C8591E1-F094-4434-BFA6-D0F8E7F20FBD}"/>
              </a:ext>
            </a:extLst>
          </p:cNvPr>
          <p:cNvSpPr>
            <a:spLocks noGrp="1"/>
          </p:cNvSpPr>
          <p:nvPr/>
        </p:nvSpPr>
        <p:spPr>
          <a:xfrm>
            <a:off x="5186363" y="2095500"/>
            <a:ext cx="3490913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BF2716-B4D1-4917-BA6C-E5748A066828}"/>
              </a:ext>
            </a:extLst>
          </p:cNvPr>
          <p:cNvSpPr>
            <a:spLocks noGrp="1"/>
          </p:cNvSpPr>
          <p:nvPr/>
        </p:nvSpPr>
        <p:spPr>
          <a:xfrm>
            <a:off x="5186363" y="2095500"/>
            <a:ext cx="3490913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9A5D0D-D910-460A-9D84-1742350DE096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registered_devices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3F0BC2-3E8D-4056-8099-D7F837ED96D1}"/>
              </a:ext>
            </a:extLst>
          </p:cNvPr>
          <p:cNvSpPr>
            <a:spLocks noGrp="1"/>
          </p:cNvSpPr>
          <p:nvPr/>
        </p:nvSpPr>
        <p:spPr>
          <a:xfrm>
            <a:off x="5186363" y="24955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A922ED-B3BB-4528-9524-AB0BF109D194}"/>
              </a:ext>
            </a:extLst>
          </p:cNvPr>
          <p:cNvSpPr>
            <a:spLocks noGrp="1"/>
          </p:cNvSpPr>
          <p:nvPr/>
        </p:nvSpPr>
        <p:spPr>
          <a:xfrm>
            <a:off x="5257800" y="25717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2E7575-136B-4171-BE61-89362111C162}"/>
              </a:ext>
            </a:extLst>
          </p:cNvPr>
          <p:cNvSpPr>
            <a:spLocks noGrp="1"/>
          </p:cNvSpPr>
          <p:nvPr/>
        </p:nvSpPr>
        <p:spPr>
          <a:xfrm>
            <a:off x="5586413" y="24955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AF790D-C8C6-4445-85DB-ECBB9A8E6149}"/>
              </a:ext>
            </a:extLst>
          </p:cNvPr>
          <p:cNvSpPr>
            <a:spLocks noGrp="1"/>
          </p:cNvSpPr>
          <p:nvPr/>
        </p:nvSpPr>
        <p:spPr>
          <a:xfrm>
            <a:off x="5657850" y="25717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8A8837-9B19-475E-9316-AD9A716910A4}"/>
              </a:ext>
            </a:extLst>
          </p:cNvPr>
          <p:cNvSpPr>
            <a:spLocks noGrp="1"/>
          </p:cNvSpPr>
          <p:nvPr/>
        </p:nvSpPr>
        <p:spPr>
          <a:xfrm>
            <a:off x="5186363" y="27813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CD9BC5-827C-441C-AA7B-26718AF794B0}"/>
              </a:ext>
            </a:extLst>
          </p:cNvPr>
          <p:cNvSpPr>
            <a:spLocks noGrp="1"/>
          </p:cNvSpPr>
          <p:nvPr/>
        </p:nvSpPr>
        <p:spPr>
          <a:xfrm>
            <a:off x="5257800" y="28575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B1DA06-460E-4033-8CF3-42FFA143F381}"/>
              </a:ext>
            </a:extLst>
          </p:cNvPr>
          <p:cNvSpPr>
            <a:spLocks noGrp="1"/>
          </p:cNvSpPr>
          <p:nvPr/>
        </p:nvSpPr>
        <p:spPr>
          <a:xfrm>
            <a:off x="5586413" y="27813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F8F26D-3AE8-4A4C-87BF-704BD9B12639}"/>
              </a:ext>
            </a:extLst>
          </p:cNvPr>
          <p:cNvSpPr>
            <a:spLocks noGrp="1"/>
          </p:cNvSpPr>
          <p:nvPr/>
        </p:nvSpPr>
        <p:spPr>
          <a:xfrm>
            <a:off x="5657850" y="28575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user_id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249603-DB9A-47E5-B02B-58AA4D46699B}"/>
              </a:ext>
            </a:extLst>
          </p:cNvPr>
          <p:cNvSpPr>
            <a:spLocks noGrp="1"/>
          </p:cNvSpPr>
          <p:nvPr/>
        </p:nvSpPr>
        <p:spPr>
          <a:xfrm>
            <a:off x="5186363" y="30670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A5BBE8-47DA-4275-BD7D-B96D85689D24}"/>
              </a:ext>
            </a:extLst>
          </p:cNvPr>
          <p:cNvSpPr>
            <a:spLocks noGrp="1"/>
          </p:cNvSpPr>
          <p:nvPr/>
        </p:nvSpPr>
        <p:spPr>
          <a:xfrm>
            <a:off x="5257800" y="31432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UK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998F69-8951-4D28-BC90-98ECC28F1E4A}"/>
              </a:ext>
            </a:extLst>
          </p:cNvPr>
          <p:cNvSpPr>
            <a:spLocks noGrp="1"/>
          </p:cNvSpPr>
          <p:nvPr/>
        </p:nvSpPr>
        <p:spPr>
          <a:xfrm>
            <a:off x="5586413" y="30670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534FF3-BB03-4C54-8703-59AA80BF60F6}"/>
              </a:ext>
            </a:extLst>
          </p:cNvPr>
          <p:cNvSpPr>
            <a:spLocks noGrp="1"/>
          </p:cNvSpPr>
          <p:nvPr/>
        </p:nvSpPr>
        <p:spPr>
          <a:xfrm>
            <a:off x="5657850" y="31432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mac_address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18F260-F76B-49A8-9F63-3C2F2AD6508A}"/>
              </a:ext>
            </a:extLst>
          </p:cNvPr>
          <p:cNvSpPr>
            <a:spLocks noGrp="1"/>
          </p:cNvSpPr>
          <p:nvPr/>
        </p:nvSpPr>
        <p:spPr>
          <a:xfrm>
            <a:off x="5186363" y="33528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90751F1-D839-4DDB-BB44-AF5912374185}"/>
              </a:ext>
            </a:extLst>
          </p:cNvPr>
          <p:cNvSpPr>
            <a:spLocks noGrp="1"/>
          </p:cNvSpPr>
          <p:nvPr/>
        </p:nvSpPr>
        <p:spPr>
          <a:xfrm>
            <a:off x="5257800" y="34290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1E6E46E-7926-45EC-97F4-6B665FA853A4}"/>
              </a:ext>
            </a:extLst>
          </p:cNvPr>
          <p:cNvSpPr>
            <a:spLocks noGrp="1"/>
          </p:cNvSpPr>
          <p:nvPr/>
        </p:nvSpPr>
        <p:spPr>
          <a:xfrm>
            <a:off x="5586413" y="33528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0F2ED7-D381-4D26-93EB-40EA1E2647A8}"/>
              </a:ext>
            </a:extLst>
          </p:cNvPr>
          <p:cNvSpPr>
            <a:spLocks noGrp="1"/>
          </p:cNvSpPr>
          <p:nvPr/>
        </p:nvSpPr>
        <p:spPr>
          <a:xfrm>
            <a:off x="5657850" y="34290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status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6F78CA-5E69-4490-B5C3-E5D78D2BA981}"/>
              </a:ext>
            </a:extLst>
          </p:cNvPr>
          <p:cNvSpPr>
            <a:spLocks noGrp="1"/>
          </p:cNvSpPr>
          <p:nvPr/>
        </p:nvSpPr>
        <p:spPr>
          <a:xfrm>
            <a:off x="8763000" y="306705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7D7C37-EAAA-49D6-968A-37B46B710531}"/>
              </a:ext>
            </a:extLst>
          </p:cNvPr>
          <p:cNvSpPr>
            <a:spLocks noGrp="1"/>
          </p:cNvSpPr>
          <p:nvPr/>
        </p:nvSpPr>
        <p:spPr>
          <a:xfrm>
            <a:off x="8763000" y="344805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B58C0BF-BCCB-4140-B1BD-34C697827EDF}"/>
              </a:ext>
            </a:extLst>
          </p:cNvPr>
          <p:cNvSpPr>
            <a:spLocks noGrp="1"/>
          </p:cNvSpPr>
          <p:nvPr/>
        </p:nvSpPr>
        <p:spPr>
          <a:xfrm>
            <a:off x="8763000" y="369570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checks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258969B-D955-4E8D-8634-F0C68B8C7F57}"/>
              </a:ext>
            </a:extLst>
          </p:cNvPr>
          <p:cNvSpPr>
            <a:spLocks noGrp="1"/>
          </p:cNvSpPr>
          <p:nvPr/>
        </p:nvSpPr>
        <p:spPr>
          <a:xfrm>
            <a:off x="9610725" y="2095500"/>
            <a:ext cx="3490913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D237132-3E58-4CBC-ADC6-1D21D3B9F42B}"/>
              </a:ext>
            </a:extLst>
          </p:cNvPr>
          <p:cNvSpPr>
            <a:spLocks noGrp="1"/>
          </p:cNvSpPr>
          <p:nvPr/>
        </p:nvSpPr>
        <p:spPr>
          <a:xfrm>
            <a:off x="9610725" y="2095500"/>
            <a:ext cx="3490913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8631F50-D210-4E3E-8DDF-4F8B72B3EC00}"/>
              </a:ext>
            </a:extLst>
          </p:cNvPr>
          <p:cNvSpPr>
            <a:spLocks noGrp="1"/>
          </p:cNvSpPr>
          <p:nvPr/>
        </p:nvSpPr>
        <p:spPr>
          <a:xfrm>
            <a:off x="9734550" y="22098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presence_eligibility_logs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B6D5E8-A27A-4BA6-9FE0-2D7B1DC0B7BC}"/>
              </a:ext>
            </a:extLst>
          </p:cNvPr>
          <p:cNvSpPr>
            <a:spLocks noGrp="1"/>
          </p:cNvSpPr>
          <p:nvPr/>
        </p:nvSpPr>
        <p:spPr>
          <a:xfrm>
            <a:off x="9610725" y="24955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19B7AC-30B2-4B10-AF11-7626AD797B32}"/>
              </a:ext>
            </a:extLst>
          </p:cNvPr>
          <p:cNvSpPr>
            <a:spLocks noGrp="1"/>
          </p:cNvSpPr>
          <p:nvPr/>
        </p:nvSpPr>
        <p:spPr>
          <a:xfrm>
            <a:off x="9677400" y="25717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ACB3384-63FD-4598-948E-E95C83E3415F}"/>
              </a:ext>
            </a:extLst>
          </p:cNvPr>
          <p:cNvSpPr>
            <a:spLocks noGrp="1"/>
          </p:cNvSpPr>
          <p:nvPr/>
        </p:nvSpPr>
        <p:spPr>
          <a:xfrm>
            <a:off x="10010775" y="24955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0A17304-A5E9-406A-BB55-B1D4347CEC22}"/>
              </a:ext>
            </a:extLst>
          </p:cNvPr>
          <p:cNvSpPr>
            <a:spLocks noGrp="1"/>
          </p:cNvSpPr>
          <p:nvPr/>
        </p:nvSpPr>
        <p:spPr>
          <a:xfrm>
            <a:off x="10096500" y="25717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DD1BB5-FDF6-478E-8874-4FAA3041AAB3}"/>
              </a:ext>
            </a:extLst>
          </p:cNvPr>
          <p:cNvSpPr>
            <a:spLocks noGrp="1"/>
          </p:cNvSpPr>
          <p:nvPr/>
        </p:nvSpPr>
        <p:spPr>
          <a:xfrm>
            <a:off x="9610725" y="27813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E4EE752-CB56-44A0-8DF5-5B9BE1FC0371}"/>
              </a:ext>
            </a:extLst>
          </p:cNvPr>
          <p:cNvSpPr>
            <a:spLocks noGrp="1"/>
          </p:cNvSpPr>
          <p:nvPr/>
        </p:nvSpPr>
        <p:spPr>
          <a:xfrm>
            <a:off x="9677400" y="28575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6F341B9-4D1C-4E5D-81BF-F9B91E38E505}"/>
              </a:ext>
            </a:extLst>
          </p:cNvPr>
          <p:cNvSpPr>
            <a:spLocks noGrp="1"/>
          </p:cNvSpPr>
          <p:nvPr/>
        </p:nvSpPr>
        <p:spPr>
          <a:xfrm>
            <a:off x="10010775" y="27813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4AC4D32-135D-4D82-BA09-6173323BA92A}"/>
              </a:ext>
            </a:extLst>
          </p:cNvPr>
          <p:cNvSpPr>
            <a:spLocks noGrp="1"/>
          </p:cNvSpPr>
          <p:nvPr/>
        </p:nvSpPr>
        <p:spPr>
          <a:xfrm>
            <a:off x="10096500" y="28575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student_user_id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6B1F43B-3DC4-4E8D-93FC-92564C7A47F4}"/>
              </a:ext>
            </a:extLst>
          </p:cNvPr>
          <p:cNvSpPr>
            <a:spLocks noGrp="1"/>
          </p:cNvSpPr>
          <p:nvPr/>
        </p:nvSpPr>
        <p:spPr>
          <a:xfrm>
            <a:off x="9610725" y="30670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20ECE1B-4D51-4185-87D3-3592C6BF63DD}"/>
              </a:ext>
            </a:extLst>
          </p:cNvPr>
          <p:cNvSpPr>
            <a:spLocks noGrp="1"/>
          </p:cNvSpPr>
          <p:nvPr/>
        </p:nvSpPr>
        <p:spPr>
          <a:xfrm>
            <a:off x="9677400" y="31432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5FB49DD-0C1B-4042-82CA-3FBCC678B06E}"/>
              </a:ext>
            </a:extLst>
          </p:cNvPr>
          <p:cNvSpPr>
            <a:spLocks noGrp="1"/>
          </p:cNvSpPr>
          <p:nvPr/>
        </p:nvSpPr>
        <p:spPr>
          <a:xfrm>
            <a:off x="10010775" y="30670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3749F32-5FF0-45A9-BB3A-7E0B1552C649}"/>
              </a:ext>
            </a:extLst>
          </p:cNvPr>
          <p:cNvSpPr>
            <a:spLocks noGrp="1"/>
          </p:cNvSpPr>
          <p:nvPr/>
        </p:nvSpPr>
        <p:spPr>
          <a:xfrm>
            <a:off x="10096500" y="31432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course_id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91525C8-1AB3-4D80-8DBF-D8DB1065A304}"/>
              </a:ext>
            </a:extLst>
          </p:cNvPr>
          <p:cNvSpPr>
            <a:spLocks noGrp="1"/>
          </p:cNvSpPr>
          <p:nvPr/>
        </p:nvSpPr>
        <p:spPr>
          <a:xfrm>
            <a:off x="9610725" y="33528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043E454-B81F-46C6-99C6-D8CEA3234DAE}"/>
              </a:ext>
            </a:extLst>
          </p:cNvPr>
          <p:cNvSpPr>
            <a:spLocks noGrp="1"/>
          </p:cNvSpPr>
          <p:nvPr/>
        </p:nvSpPr>
        <p:spPr>
          <a:xfrm>
            <a:off x="9677400" y="34290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0408B96-9E23-4DEE-AA35-BFB043049084}"/>
              </a:ext>
            </a:extLst>
          </p:cNvPr>
          <p:cNvSpPr>
            <a:spLocks noGrp="1"/>
          </p:cNvSpPr>
          <p:nvPr/>
        </p:nvSpPr>
        <p:spPr>
          <a:xfrm>
            <a:off x="10010775" y="33528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CA700B6-0D41-420F-95D9-454B30FA76D8}"/>
              </a:ext>
            </a:extLst>
          </p:cNvPr>
          <p:cNvSpPr>
            <a:spLocks noGrp="1"/>
          </p:cNvSpPr>
          <p:nvPr/>
        </p:nvSpPr>
        <p:spPr>
          <a:xfrm>
            <a:off x="10096500" y="34290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classroom_id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D37F354-E834-4A0D-AE53-694D997AFA3B}"/>
              </a:ext>
            </a:extLst>
          </p:cNvPr>
          <p:cNvSpPr>
            <a:spLocks noGrp="1"/>
          </p:cNvSpPr>
          <p:nvPr/>
        </p:nvSpPr>
        <p:spPr>
          <a:xfrm>
            <a:off x="9610725" y="36385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B0DF6CD-8900-4018-80D6-0EF8718B28B4}"/>
              </a:ext>
            </a:extLst>
          </p:cNvPr>
          <p:cNvSpPr>
            <a:spLocks noGrp="1"/>
          </p:cNvSpPr>
          <p:nvPr/>
        </p:nvSpPr>
        <p:spPr>
          <a:xfrm>
            <a:off x="9677400" y="37147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3F41CA1-2F23-4CBE-AF17-C789F64C3C72}"/>
              </a:ext>
            </a:extLst>
          </p:cNvPr>
          <p:cNvSpPr>
            <a:spLocks noGrp="1"/>
          </p:cNvSpPr>
          <p:nvPr/>
        </p:nvSpPr>
        <p:spPr>
          <a:xfrm>
            <a:off x="10010775" y="36385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A173B92-59B3-4468-ACEE-684DD568EE94}"/>
              </a:ext>
            </a:extLst>
          </p:cNvPr>
          <p:cNvSpPr>
            <a:spLocks noGrp="1"/>
          </p:cNvSpPr>
          <p:nvPr/>
        </p:nvSpPr>
        <p:spPr>
          <a:xfrm>
            <a:off x="10096500" y="37147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eligible / reason_code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7D84EB7-7223-45E5-BDB9-3D56907F8914}"/>
              </a:ext>
            </a:extLst>
          </p:cNvPr>
          <p:cNvSpPr>
            <a:spLocks noGrp="1"/>
          </p:cNvSpPr>
          <p:nvPr/>
        </p:nvSpPr>
        <p:spPr>
          <a:xfrm>
            <a:off x="9610725" y="39243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44D5450-A1E6-47A6-807A-EE016C4A1CD1}"/>
              </a:ext>
            </a:extLst>
          </p:cNvPr>
          <p:cNvSpPr>
            <a:spLocks noGrp="1"/>
          </p:cNvSpPr>
          <p:nvPr/>
        </p:nvSpPr>
        <p:spPr>
          <a:xfrm>
            <a:off x="9677400" y="40005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BF40E04-0A63-45FF-AE0B-D4C67C7EC698}"/>
              </a:ext>
            </a:extLst>
          </p:cNvPr>
          <p:cNvSpPr>
            <a:spLocks noGrp="1"/>
          </p:cNvSpPr>
          <p:nvPr/>
        </p:nvSpPr>
        <p:spPr>
          <a:xfrm>
            <a:off x="10010775" y="39243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F2590CB-D669-4FA8-B0E2-0F975FEE8822}"/>
              </a:ext>
            </a:extLst>
          </p:cNvPr>
          <p:cNvSpPr>
            <a:spLocks noGrp="1"/>
          </p:cNvSpPr>
          <p:nvPr/>
        </p:nvSpPr>
        <p:spPr>
          <a:xfrm>
            <a:off x="10096500" y="40005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evidence json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7564C2-04AD-4482-B019-D4BBBA28551B}"/>
              </a:ext>
            </a:extLst>
          </p:cNvPr>
          <p:cNvSpPr>
            <a:spLocks noGrp="1"/>
          </p:cNvSpPr>
          <p:nvPr/>
        </p:nvSpPr>
        <p:spPr>
          <a:xfrm>
            <a:off x="13182600" y="306705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622F4F1-4D1C-4EF4-A4C4-201C6BC7174C}"/>
              </a:ext>
            </a:extLst>
          </p:cNvPr>
          <p:cNvSpPr>
            <a:spLocks noGrp="1"/>
          </p:cNvSpPr>
          <p:nvPr/>
        </p:nvSpPr>
        <p:spPr>
          <a:xfrm>
            <a:off x="13182600" y="344805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B08B07E-44BB-4C9B-B530-C05DD4D73965}"/>
              </a:ext>
            </a:extLst>
          </p:cNvPr>
          <p:cNvSpPr>
            <a:spLocks noGrp="1"/>
          </p:cNvSpPr>
          <p:nvPr/>
        </p:nvSpPr>
        <p:spPr>
          <a:xfrm>
            <a:off x="13182600" y="369570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observes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E45E598B-0B93-4AC1-A1BC-1D19F4D00CF1}"/>
              </a:ext>
            </a:extLst>
          </p:cNvPr>
          <p:cNvSpPr>
            <a:spLocks noGrp="1"/>
          </p:cNvSpPr>
          <p:nvPr/>
        </p:nvSpPr>
        <p:spPr>
          <a:xfrm>
            <a:off x="14035088" y="2095500"/>
            <a:ext cx="3490913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FEE892B-6A08-4267-B400-75835086C1FD}"/>
              </a:ext>
            </a:extLst>
          </p:cNvPr>
          <p:cNvSpPr>
            <a:spLocks noGrp="1"/>
          </p:cNvSpPr>
          <p:nvPr/>
        </p:nvSpPr>
        <p:spPr>
          <a:xfrm>
            <a:off x="14035088" y="2095500"/>
            <a:ext cx="3490913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F249030-CCF1-48C3-9598-54919945D5EB}"/>
              </a:ext>
            </a:extLst>
          </p:cNvPr>
          <p:cNvSpPr>
            <a:spLocks noGrp="1"/>
          </p:cNvSpPr>
          <p:nvPr/>
        </p:nvSpPr>
        <p:spPr>
          <a:xfrm>
            <a:off x="14154150" y="22098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classroom_networks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1CE7654-486D-4403-A38F-6B435AF9E140}"/>
              </a:ext>
            </a:extLst>
          </p:cNvPr>
          <p:cNvSpPr>
            <a:spLocks noGrp="1"/>
          </p:cNvSpPr>
          <p:nvPr/>
        </p:nvSpPr>
        <p:spPr>
          <a:xfrm>
            <a:off x="14035088" y="24955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8AE37AF-95E0-433F-A0FD-8615230A43FC}"/>
              </a:ext>
            </a:extLst>
          </p:cNvPr>
          <p:cNvSpPr>
            <a:spLocks noGrp="1"/>
          </p:cNvSpPr>
          <p:nvPr/>
        </p:nvSpPr>
        <p:spPr>
          <a:xfrm>
            <a:off x="14097000" y="25717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9E27AB2-0050-4D19-82B8-1C4804B397AF}"/>
              </a:ext>
            </a:extLst>
          </p:cNvPr>
          <p:cNvSpPr>
            <a:spLocks noGrp="1"/>
          </p:cNvSpPr>
          <p:nvPr/>
        </p:nvSpPr>
        <p:spPr>
          <a:xfrm>
            <a:off x="14435138" y="24955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B1D433A-23DF-4643-95C7-AE63087C84CF}"/>
              </a:ext>
            </a:extLst>
          </p:cNvPr>
          <p:cNvSpPr>
            <a:spLocks noGrp="1"/>
          </p:cNvSpPr>
          <p:nvPr/>
        </p:nvSpPr>
        <p:spPr>
          <a:xfrm>
            <a:off x="14516100" y="25717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F1F216E-7AB0-476A-ABD6-6FFE1B205DB6}"/>
              </a:ext>
            </a:extLst>
          </p:cNvPr>
          <p:cNvSpPr>
            <a:spLocks noGrp="1"/>
          </p:cNvSpPr>
          <p:nvPr/>
        </p:nvSpPr>
        <p:spPr>
          <a:xfrm>
            <a:off x="14035088" y="27813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AC48A78-B8D8-4868-BC3B-43A750B31D66}"/>
              </a:ext>
            </a:extLst>
          </p:cNvPr>
          <p:cNvSpPr>
            <a:spLocks noGrp="1"/>
          </p:cNvSpPr>
          <p:nvPr/>
        </p:nvSpPr>
        <p:spPr>
          <a:xfrm>
            <a:off x="14097000" y="28575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A09DE70-3787-4CCF-AE35-18E3EE846A09}"/>
              </a:ext>
            </a:extLst>
          </p:cNvPr>
          <p:cNvSpPr>
            <a:spLocks noGrp="1"/>
          </p:cNvSpPr>
          <p:nvPr/>
        </p:nvSpPr>
        <p:spPr>
          <a:xfrm>
            <a:off x="14435138" y="27813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6E7C82-6549-4707-BAF9-F47330DBE703}"/>
              </a:ext>
            </a:extLst>
          </p:cNvPr>
          <p:cNvSpPr>
            <a:spLocks noGrp="1"/>
          </p:cNvSpPr>
          <p:nvPr/>
        </p:nvSpPr>
        <p:spPr>
          <a:xfrm>
            <a:off x="14516100" y="28575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classroom_id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77B9C1F-A7CC-41BA-9463-8205C3C2EF53}"/>
              </a:ext>
            </a:extLst>
          </p:cNvPr>
          <p:cNvSpPr>
            <a:spLocks noGrp="1"/>
          </p:cNvSpPr>
          <p:nvPr/>
        </p:nvSpPr>
        <p:spPr>
          <a:xfrm>
            <a:off x="14035088" y="30670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70E0E3A-1346-46F4-9B0F-A324C0E3188E}"/>
              </a:ext>
            </a:extLst>
          </p:cNvPr>
          <p:cNvSpPr>
            <a:spLocks noGrp="1"/>
          </p:cNvSpPr>
          <p:nvPr/>
        </p:nvSpPr>
        <p:spPr>
          <a:xfrm>
            <a:off x="14097000" y="31432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76FAF1F-2D32-4BBD-9B8E-839700635AA7}"/>
              </a:ext>
            </a:extLst>
          </p:cNvPr>
          <p:cNvSpPr>
            <a:spLocks noGrp="1"/>
          </p:cNvSpPr>
          <p:nvPr/>
        </p:nvSpPr>
        <p:spPr>
          <a:xfrm>
            <a:off x="14435138" y="30670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BE2AB1C-DA55-45B2-969E-3248F46A37F8}"/>
              </a:ext>
            </a:extLst>
          </p:cNvPr>
          <p:cNvSpPr>
            <a:spLocks noGrp="1"/>
          </p:cNvSpPr>
          <p:nvPr/>
        </p:nvSpPr>
        <p:spPr>
          <a:xfrm>
            <a:off x="14516100" y="31432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ap_id / ssid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DFAC25F-32F1-4250-B552-5E07EBFB25E5}"/>
              </a:ext>
            </a:extLst>
          </p:cNvPr>
          <p:cNvSpPr>
            <a:spLocks noGrp="1"/>
          </p:cNvSpPr>
          <p:nvPr/>
        </p:nvSpPr>
        <p:spPr>
          <a:xfrm>
            <a:off x="14035088" y="33528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A82A1CD-4F74-417B-AAB0-FA009CFDFD26}"/>
              </a:ext>
            </a:extLst>
          </p:cNvPr>
          <p:cNvSpPr>
            <a:spLocks noGrp="1"/>
          </p:cNvSpPr>
          <p:nvPr/>
        </p:nvSpPr>
        <p:spPr>
          <a:xfrm>
            <a:off x="14097000" y="34290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AE32D21-9767-42EF-B227-BCBDFC22C0DB}"/>
              </a:ext>
            </a:extLst>
          </p:cNvPr>
          <p:cNvSpPr>
            <a:spLocks noGrp="1"/>
          </p:cNvSpPr>
          <p:nvPr/>
        </p:nvSpPr>
        <p:spPr>
          <a:xfrm>
            <a:off x="14435138" y="33528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0097BF6-6982-4F72-A397-BECA7B28FDBF}"/>
              </a:ext>
            </a:extLst>
          </p:cNvPr>
          <p:cNvSpPr>
            <a:spLocks noGrp="1"/>
          </p:cNvSpPr>
          <p:nvPr/>
        </p:nvSpPr>
        <p:spPr>
          <a:xfrm>
            <a:off x="14516100" y="34290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signal_threshold_dbm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595BB730-FDFE-409F-A202-8E42B380DACE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3490913" cy="20193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4034F5C-43F7-4D49-9517-EE796364BE7F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3490913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0CA4C34-FA8A-4532-AD0B-D45C73256027}"/>
              </a:ext>
            </a:extLst>
          </p:cNvPr>
          <p:cNvSpPr>
            <a:spLocks noGrp="1"/>
          </p:cNvSpPr>
          <p:nvPr/>
        </p:nvSpPr>
        <p:spPr>
          <a:xfrm>
            <a:off x="876300" y="51435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attendance_sessions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15707D7-CA66-4E3C-8F67-FC5D78FAF286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F8447C8-2B8E-48AF-BE12-0BC55698EA06}"/>
              </a:ext>
            </a:extLst>
          </p:cNvPr>
          <p:cNvSpPr>
            <a:spLocks noGrp="1"/>
          </p:cNvSpPr>
          <p:nvPr/>
        </p:nvSpPr>
        <p:spPr>
          <a:xfrm>
            <a:off x="838200" y="55054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D295622-0EDC-452E-AA0C-15F8BF066D64}"/>
              </a:ext>
            </a:extLst>
          </p:cNvPr>
          <p:cNvSpPr>
            <a:spLocks noGrp="1"/>
          </p:cNvSpPr>
          <p:nvPr/>
        </p:nvSpPr>
        <p:spPr>
          <a:xfrm>
            <a:off x="1162050" y="54292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AAC05D5-EDFF-4B5D-9CBB-21B9B52157C8}"/>
              </a:ext>
            </a:extLst>
          </p:cNvPr>
          <p:cNvSpPr>
            <a:spLocks noGrp="1"/>
          </p:cNvSpPr>
          <p:nvPr/>
        </p:nvSpPr>
        <p:spPr>
          <a:xfrm>
            <a:off x="1238250" y="55054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EC1FB89-E33D-4575-9A32-CA972C6D3A2E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F67D7FD-A910-41E0-92C3-198B21F5F102}"/>
              </a:ext>
            </a:extLst>
          </p:cNvPr>
          <p:cNvSpPr>
            <a:spLocks noGrp="1"/>
          </p:cNvSpPr>
          <p:nvPr/>
        </p:nvSpPr>
        <p:spPr>
          <a:xfrm>
            <a:off x="838200" y="57912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90D6C11-0C49-4628-B6BF-24871C35B213}"/>
              </a:ext>
            </a:extLst>
          </p:cNvPr>
          <p:cNvSpPr>
            <a:spLocks noGrp="1"/>
          </p:cNvSpPr>
          <p:nvPr/>
        </p:nvSpPr>
        <p:spPr>
          <a:xfrm>
            <a:off x="1162050" y="57150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F8587AC-CD2F-4A4D-99A0-A7015B914409}"/>
              </a:ext>
            </a:extLst>
          </p:cNvPr>
          <p:cNvSpPr>
            <a:spLocks noGrp="1"/>
          </p:cNvSpPr>
          <p:nvPr/>
        </p:nvSpPr>
        <p:spPr>
          <a:xfrm>
            <a:off x="1238250" y="57912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course_id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2D67A41-D760-4E38-B3CC-36E040B11ECC}"/>
              </a:ext>
            </a:extLst>
          </p:cNvPr>
          <p:cNvSpPr>
            <a:spLocks noGrp="1"/>
          </p:cNvSpPr>
          <p:nvPr/>
        </p:nvSpPr>
        <p:spPr>
          <a:xfrm>
            <a:off x="762000" y="60007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C1D2AC7-8847-4503-B3FA-382A25FFA2CE}"/>
              </a:ext>
            </a:extLst>
          </p:cNvPr>
          <p:cNvSpPr>
            <a:spLocks noGrp="1"/>
          </p:cNvSpPr>
          <p:nvPr/>
        </p:nvSpPr>
        <p:spPr>
          <a:xfrm>
            <a:off x="838200" y="60769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12DEE01-656C-434B-8C2B-435EE83C9746}"/>
              </a:ext>
            </a:extLst>
          </p:cNvPr>
          <p:cNvSpPr>
            <a:spLocks noGrp="1"/>
          </p:cNvSpPr>
          <p:nvPr/>
        </p:nvSpPr>
        <p:spPr>
          <a:xfrm>
            <a:off x="1162050" y="60007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891AD3E-9F0C-4EA5-8B0A-363082F8402E}"/>
              </a:ext>
            </a:extLst>
          </p:cNvPr>
          <p:cNvSpPr>
            <a:spLocks noGrp="1"/>
          </p:cNvSpPr>
          <p:nvPr/>
        </p:nvSpPr>
        <p:spPr>
          <a:xfrm>
            <a:off x="1238250" y="60769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classroom_id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34F79ED-744C-45AC-98DF-47A6A5FC1C06}"/>
              </a:ext>
            </a:extLst>
          </p:cNvPr>
          <p:cNvSpPr>
            <a:spLocks noGrp="1"/>
          </p:cNvSpPr>
          <p:nvPr/>
        </p:nvSpPr>
        <p:spPr>
          <a:xfrm>
            <a:off x="762000" y="62865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8B7DC64-D1E5-4045-BF7E-F56E2437B905}"/>
              </a:ext>
            </a:extLst>
          </p:cNvPr>
          <p:cNvSpPr>
            <a:spLocks noGrp="1"/>
          </p:cNvSpPr>
          <p:nvPr/>
        </p:nvSpPr>
        <p:spPr>
          <a:xfrm>
            <a:off x="838200" y="63627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5754B4A-083B-42CE-B597-B952C1C31324}"/>
              </a:ext>
            </a:extLst>
          </p:cNvPr>
          <p:cNvSpPr>
            <a:spLocks noGrp="1"/>
          </p:cNvSpPr>
          <p:nvPr/>
        </p:nvSpPr>
        <p:spPr>
          <a:xfrm>
            <a:off x="1162050" y="62865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EDF4CCC-9FB4-463C-AAA1-884F8EBDEA42}"/>
              </a:ext>
            </a:extLst>
          </p:cNvPr>
          <p:cNvSpPr>
            <a:spLocks noGrp="1"/>
          </p:cNvSpPr>
          <p:nvPr/>
        </p:nvSpPr>
        <p:spPr>
          <a:xfrm>
            <a:off x="1238250" y="63627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status / latest_version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EA51BF3-A501-4B32-850C-5AAD62C071E2}"/>
              </a:ext>
            </a:extLst>
          </p:cNvPr>
          <p:cNvSpPr>
            <a:spLocks noGrp="1"/>
          </p:cNvSpPr>
          <p:nvPr/>
        </p:nvSpPr>
        <p:spPr>
          <a:xfrm>
            <a:off x="4343400" y="561975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3397F4C-3540-40C9-B6E8-4952545C993A}"/>
              </a:ext>
            </a:extLst>
          </p:cNvPr>
          <p:cNvSpPr>
            <a:spLocks noGrp="1"/>
          </p:cNvSpPr>
          <p:nvPr/>
        </p:nvSpPr>
        <p:spPr>
          <a:xfrm>
            <a:off x="4343400" y="600075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0131690-C44C-4015-9482-0140314F8E2A}"/>
              </a:ext>
            </a:extLst>
          </p:cNvPr>
          <p:cNvSpPr>
            <a:spLocks noGrp="1"/>
          </p:cNvSpPr>
          <p:nvPr/>
        </p:nvSpPr>
        <p:spPr>
          <a:xfrm>
            <a:off x="4343400" y="624840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contains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751C529A-B9BD-4555-8857-397C69A37BA0}"/>
              </a:ext>
            </a:extLst>
          </p:cNvPr>
          <p:cNvSpPr>
            <a:spLocks noGrp="1"/>
          </p:cNvSpPr>
          <p:nvPr/>
        </p:nvSpPr>
        <p:spPr>
          <a:xfrm>
            <a:off x="5186363" y="5029200"/>
            <a:ext cx="3490913" cy="20193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D97B872-51EA-4E54-8B2C-2CD502A39DF8}"/>
              </a:ext>
            </a:extLst>
          </p:cNvPr>
          <p:cNvSpPr>
            <a:spLocks noGrp="1"/>
          </p:cNvSpPr>
          <p:nvPr/>
        </p:nvSpPr>
        <p:spPr>
          <a:xfrm>
            <a:off x="5186363" y="5029200"/>
            <a:ext cx="3490913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3BB88E8-415E-4B3E-9AB0-FAC06B835D38}"/>
              </a:ext>
            </a:extLst>
          </p:cNvPr>
          <p:cNvSpPr>
            <a:spLocks noGrp="1"/>
          </p:cNvSpPr>
          <p:nvPr/>
        </p:nvSpPr>
        <p:spPr>
          <a:xfrm>
            <a:off x="5295900" y="51435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attendance_session_slots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4B23F8E-87CB-48F0-B4CF-9F5907C1696B}"/>
              </a:ext>
            </a:extLst>
          </p:cNvPr>
          <p:cNvSpPr>
            <a:spLocks noGrp="1"/>
          </p:cNvSpPr>
          <p:nvPr/>
        </p:nvSpPr>
        <p:spPr>
          <a:xfrm>
            <a:off x="5186363" y="54292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EA189C4-0203-4D9E-B4F9-22BEE290F2D5}"/>
              </a:ext>
            </a:extLst>
          </p:cNvPr>
          <p:cNvSpPr>
            <a:spLocks noGrp="1"/>
          </p:cNvSpPr>
          <p:nvPr/>
        </p:nvSpPr>
        <p:spPr>
          <a:xfrm>
            <a:off x="5257800" y="55054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2B2EBC5-34EA-4402-B306-01BF45D991B2}"/>
              </a:ext>
            </a:extLst>
          </p:cNvPr>
          <p:cNvSpPr>
            <a:spLocks noGrp="1"/>
          </p:cNvSpPr>
          <p:nvPr/>
        </p:nvSpPr>
        <p:spPr>
          <a:xfrm>
            <a:off x="5586413" y="54292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E2BEC4D-7EA8-4E1B-A5AF-83D80890CE55}"/>
              </a:ext>
            </a:extLst>
          </p:cNvPr>
          <p:cNvSpPr>
            <a:spLocks noGrp="1"/>
          </p:cNvSpPr>
          <p:nvPr/>
        </p:nvSpPr>
        <p:spPr>
          <a:xfrm>
            <a:off x="5657850" y="55054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C87006D-C676-41BF-9809-C225C060D350}"/>
              </a:ext>
            </a:extLst>
          </p:cNvPr>
          <p:cNvSpPr>
            <a:spLocks noGrp="1"/>
          </p:cNvSpPr>
          <p:nvPr/>
        </p:nvSpPr>
        <p:spPr>
          <a:xfrm>
            <a:off x="5186363" y="57150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ECD9B2E-A2CD-4E28-80B1-517AE965D214}"/>
              </a:ext>
            </a:extLst>
          </p:cNvPr>
          <p:cNvSpPr>
            <a:spLocks noGrp="1"/>
          </p:cNvSpPr>
          <p:nvPr/>
        </p:nvSpPr>
        <p:spPr>
          <a:xfrm>
            <a:off x="5257800" y="57912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F5DE77B-1050-4F2E-B129-ABA5E1CCBD7A}"/>
              </a:ext>
            </a:extLst>
          </p:cNvPr>
          <p:cNvSpPr>
            <a:spLocks noGrp="1"/>
          </p:cNvSpPr>
          <p:nvPr/>
        </p:nvSpPr>
        <p:spPr>
          <a:xfrm>
            <a:off x="5586413" y="57150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DAB2316-E3A7-417F-8240-0D852C2A88B9}"/>
              </a:ext>
            </a:extLst>
          </p:cNvPr>
          <p:cNvSpPr>
            <a:spLocks noGrp="1"/>
          </p:cNvSpPr>
          <p:nvPr/>
        </p:nvSpPr>
        <p:spPr>
          <a:xfrm>
            <a:off x="5657850" y="57912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attendance_session_id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DD87D26-92E7-4224-BA74-AAF5E46049E6}"/>
              </a:ext>
            </a:extLst>
          </p:cNvPr>
          <p:cNvSpPr>
            <a:spLocks noGrp="1"/>
          </p:cNvSpPr>
          <p:nvPr/>
        </p:nvSpPr>
        <p:spPr>
          <a:xfrm>
            <a:off x="5186363" y="60007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194215B-987C-4410-AAD1-D474DB790355}"/>
              </a:ext>
            </a:extLst>
          </p:cNvPr>
          <p:cNvSpPr>
            <a:spLocks noGrp="1"/>
          </p:cNvSpPr>
          <p:nvPr/>
        </p:nvSpPr>
        <p:spPr>
          <a:xfrm>
            <a:off x="5257800" y="60769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112A094-317C-4A53-8821-38B57314DBFC}"/>
              </a:ext>
            </a:extLst>
          </p:cNvPr>
          <p:cNvSpPr>
            <a:spLocks noGrp="1"/>
          </p:cNvSpPr>
          <p:nvPr/>
        </p:nvSpPr>
        <p:spPr>
          <a:xfrm>
            <a:off x="5586413" y="60007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768C490-C518-4A0D-8752-EB54BF3BCDDD}"/>
              </a:ext>
            </a:extLst>
          </p:cNvPr>
          <p:cNvSpPr>
            <a:spLocks noGrp="1"/>
          </p:cNvSpPr>
          <p:nvPr/>
        </p:nvSpPr>
        <p:spPr>
          <a:xfrm>
            <a:off x="5657850" y="60769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projection_key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838B2F8-AEBF-4450-B5E4-9194BE055456}"/>
              </a:ext>
            </a:extLst>
          </p:cNvPr>
          <p:cNvSpPr>
            <a:spLocks noGrp="1"/>
          </p:cNvSpPr>
          <p:nvPr/>
        </p:nvSpPr>
        <p:spPr>
          <a:xfrm>
            <a:off x="5186363" y="62865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9C075E9-E34A-4570-88C4-B53943ED1B56}"/>
              </a:ext>
            </a:extLst>
          </p:cNvPr>
          <p:cNvSpPr>
            <a:spLocks noGrp="1"/>
          </p:cNvSpPr>
          <p:nvPr/>
        </p:nvSpPr>
        <p:spPr>
          <a:xfrm>
            <a:off x="5257800" y="63627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49753B-E223-4669-AFCB-E7ACA9EE6BBF}"/>
              </a:ext>
            </a:extLst>
          </p:cNvPr>
          <p:cNvSpPr>
            <a:spLocks noGrp="1"/>
          </p:cNvSpPr>
          <p:nvPr/>
        </p:nvSpPr>
        <p:spPr>
          <a:xfrm>
            <a:off x="5586413" y="62865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F59435C-CCEC-49B0-9D63-64D8B8A04A87}"/>
              </a:ext>
            </a:extLst>
          </p:cNvPr>
          <p:cNvSpPr>
            <a:spLocks noGrp="1"/>
          </p:cNvSpPr>
          <p:nvPr/>
        </p:nvSpPr>
        <p:spPr>
          <a:xfrm>
            <a:off x="5657850" y="63627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slot_order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58B316C-F1D1-4746-955E-57BBFE793894}"/>
              </a:ext>
            </a:extLst>
          </p:cNvPr>
          <p:cNvSpPr>
            <a:spLocks noGrp="1"/>
          </p:cNvSpPr>
          <p:nvPr/>
        </p:nvSpPr>
        <p:spPr>
          <a:xfrm>
            <a:off x="8763000" y="561975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BA4CB0A-C20F-4551-AF3C-0CAC8CDBF1C0}"/>
              </a:ext>
            </a:extLst>
          </p:cNvPr>
          <p:cNvSpPr>
            <a:spLocks noGrp="1"/>
          </p:cNvSpPr>
          <p:nvPr/>
        </p:nvSpPr>
        <p:spPr>
          <a:xfrm>
            <a:off x="8763000" y="600075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ABB5011-7576-4B42-9C92-9FDDE9970510}"/>
              </a:ext>
            </a:extLst>
          </p:cNvPr>
          <p:cNvSpPr>
            <a:spLocks noGrp="1"/>
          </p:cNvSpPr>
          <p:nvPr/>
        </p:nvSpPr>
        <p:spPr>
          <a:xfrm>
            <a:off x="8763000" y="624840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records</a:t>
            </a:r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7B782521-DC8F-4F67-8F09-09DDE2903149}"/>
              </a:ext>
            </a:extLst>
          </p:cNvPr>
          <p:cNvSpPr>
            <a:spLocks noGrp="1"/>
          </p:cNvSpPr>
          <p:nvPr/>
        </p:nvSpPr>
        <p:spPr>
          <a:xfrm>
            <a:off x="9610725" y="5029200"/>
            <a:ext cx="3490913" cy="20193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49C6C9C-C43F-449C-B9DB-9F7CB315A455}"/>
              </a:ext>
            </a:extLst>
          </p:cNvPr>
          <p:cNvSpPr>
            <a:spLocks noGrp="1"/>
          </p:cNvSpPr>
          <p:nvPr/>
        </p:nvSpPr>
        <p:spPr>
          <a:xfrm>
            <a:off x="9610725" y="5029200"/>
            <a:ext cx="3490913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78EB9108-EE86-478F-BB02-9233C534F5F2}"/>
              </a:ext>
            </a:extLst>
          </p:cNvPr>
          <p:cNvSpPr>
            <a:spLocks noGrp="1"/>
          </p:cNvSpPr>
          <p:nvPr/>
        </p:nvSpPr>
        <p:spPr>
          <a:xfrm>
            <a:off x="9734550" y="51435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attendance_records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57A3D6-B23D-4F93-A5A9-15836A7CF72B}"/>
              </a:ext>
            </a:extLst>
          </p:cNvPr>
          <p:cNvSpPr>
            <a:spLocks noGrp="1"/>
          </p:cNvSpPr>
          <p:nvPr/>
        </p:nvSpPr>
        <p:spPr>
          <a:xfrm>
            <a:off x="9610725" y="54292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E57620E-63B0-4BC6-A386-561584951F7B}"/>
              </a:ext>
            </a:extLst>
          </p:cNvPr>
          <p:cNvSpPr>
            <a:spLocks noGrp="1"/>
          </p:cNvSpPr>
          <p:nvPr/>
        </p:nvSpPr>
        <p:spPr>
          <a:xfrm>
            <a:off x="9677400" y="55054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A024488-2D4D-4B39-ADA6-7AE5FA203719}"/>
              </a:ext>
            </a:extLst>
          </p:cNvPr>
          <p:cNvSpPr>
            <a:spLocks noGrp="1"/>
          </p:cNvSpPr>
          <p:nvPr/>
        </p:nvSpPr>
        <p:spPr>
          <a:xfrm>
            <a:off x="10010775" y="54292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60E653D-D7F0-41D3-B68C-E1D853B26C9C}"/>
              </a:ext>
            </a:extLst>
          </p:cNvPr>
          <p:cNvSpPr>
            <a:spLocks noGrp="1"/>
          </p:cNvSpPr>
          <p:nvPr/>
        </p:nvSpPr>
        <p:spPr>
          <a:xfrm>
            <a:off x="10096500" y="55054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3ED6EA6-9849-4F05-ABDB-74606C3B70FA}"/>
              </a:ext>
            </a:extLst>
          </p:cNvPr>
          <p:cNvSpPr>
            <a:spLocks noGrp="1"/>
          </p:cNvSpPr>
          <p:nvPr/>
        </p:nvSpPr>
        <p:spPr>
          <a:xfrm>
            <a:off x="9610725" y="57150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6D30154-EE02-4D80-BD9A-CB9CC6628CA0}"/>
              </a:ext>
            </a:extLst>
          </p:cNvPr>
          <p:cNvSpPr>
            <a:spLocks noGrp="1"/>
          </p:cNvSpPr>
          <p:nvPr/>
        </p:nvSpPr>
        <p:spPr>
          <a:xfrm>
            <a:off x="9677400" y="57912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829C91C-F82F-4D63-8FDC-A3A2EF03BD8A}"/>
              </a:ext>
            </a:extLst>
          </p:cNvPr>
          <p:cNvSpPr>
            <a:spLocks noGrp="1"/>
          </p:cNvSpPr>
          <p:nvPr/>
        </p:nvSpPr>
        <p:spPr>
          <a:xfrm>
            <a:off x="10010775" y="57150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826A79D-90FE-41EC-8278-60D4ACDFAE13}"/>
              </a:ext>
            </a:extLst>
          </p:cNvPr>
          <p:cNvSpPr>
            <a:spLocks noGrp="1"/>
          </p:cNvSpPr>
          <p:nvPr/>
        </p:nvSpPr>
        <p:spPr>
          <a:xfrm>
            <a:off x="10096500" y="57912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attendance_session_id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7E03159-ED40-47C1-8694-6F52580300AB}"/>
              </a:ext>
            </a:extLst>
          </p:cNvPr>
          <p:cNvSpPr>
            <a:spLocks noGrp="1"/>
          </p:cNvSpPr>
          <p:nvPr/>
        </p:nvSpPr>
        <p:spPr>
          <a:xfrm>
            <a:off x="9610725" y="60007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0B45018-106E-4BF2-9C3F-86FA0692325B}"/>
              </a:ext>
            </a:extLst>
          </p:cNvPr>
          <p:cNvSpPr>
            <a:spLocks noGrp="1"/>
          </p:cNvSpPr>
          <p:nvPr/>
        </p:nvSpPr>
        <p:spPr>
          <a:xfrm>
            <a:off x="9677400" y="60769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BF19694-8C96-4C14-917B-651B42DE2D4E}"/>
              </a:ext>
            </a:extLst>
          </p:cNvPr>
          <p:cNvSpPr>
            <a:spLocks noGrp="1"/>
          </p:cNvSpPr>
          <p:nvPr/>
        </p:nvSpPr>
        <p:spPr>
          <a:xfrm>
            <a:off x="10010775" y="60007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EB340A8-F6DB-4093-ABC8-1C3DB4143316}"/>
              </a:ext>
            </a:extLst>
          </p:cNvPr>
          <p:cNvSpPr>
            <a:spLocks noGrp="1"/>
          </p:cNvSpPr>
          <p:nvPr/>
        </p:nvSpPr>
        <p:spPr>
          <a:xfrm>
            <a:off x="10096500" y="60769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student_user_id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F9EE268-0F30-4BC9-9478-90A087980BEA}"/>
              </a:ext>
            </a:extLst>
          </p:cNvPr>
          <p:cNvSpPr>
            <a:spLocks noGrp="1"/>
          </p:cNvSpPr>
          <p:nvPr/>
        </p:nvSpPr>
        <p:spPr>
          <a:xfrm>
            <a:off x="9610725" y="62865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E42FED8-DBA0-4026-90B6-D4CCCBCB286D}"/>
              </a:ext>
            </a:extLst>
          </p:cNvPr>
          <p:cNvSpPr>
            <a:spLocks noGrp="1"/>
          </p:cNvSpPr>
          <p:nvPr/>
        </p:nvSpPr>
        <p:spPr>
          <a:xfrm>
            <a:off x="9677400" y="63627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397563D-5C7A-4ACC-A6C3-3609FC0714EC}"/>
              </a:ext>
            </a:extLst>
          </p:cNvPr>
          <p:cNvSpPr>
            <a:spLocks noGrp="1"/>
          </p:cNvSpPr>
          <p:nvPr/>
        </p:nvSpPr>
        <p:spPr>
          <a:xfrm>
            <a:off x="10010775" y="62865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444732F-CA81-45D9-A993-8100BD3C78A7}"/>
              </a:ext>
            </a:extLst>
          </p:cNvPr>
          <p:cNvSpPr>
            <a:spLocks noGrp="1"/>
          </p:cNvSpPr>
          <p:nvPr/>
        </p:nvSpPr>
        <p:spPr>
          <a:xfrm>
            <a:off x="10096500" y="63627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final_status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2FF6741-82F0-4B6C-B70A-0ABF6DFFC3FB}"/>
              </a:ext>
            </a:extLst>
          </p:cNvPr>
          <p:cNvSpPr>
            <a:spLocks noGrp="1"/>
          </p:cNvSpPr>
          <p:nvPr/>
        </p:nvSpPr>
        <p:spPr>
          <a:xfrm>
            <a:off x="13182600" y="561975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DF9E29A-3335-4CB2-81F1-4D35479B2C72}"/>
              </a:ext>
            </a:extLst>
          </p:cNvPr>
          <p:cNvSpPr>
            <a:spLocks noGrp="1"/>
          </p:cNvSpPr>
          <p:nvPr/>
        </p:nvSpPr>
        <p:spPr>
          <a:xfrm>
            <a:off x="13182600" y="600075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1E1777D-F4BD-4172-B87E-EDDE255B87E4}"/>
              </a:ext>
            </a:extLst>
          </p:cNvPr>
          <p:cNvSpPr>
            <a:spLocks noGrp="1"/>
          </p:cNvSpPr>
          <p:nvPr/>
        </p:nvSpPr>
        <p:spPr>
          <a:xfrm>
            <a:off x="13182600" y="624840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audits</a:t>
            </a: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D7BB8F5D-100F-44CB-AF8B-BE4E4D03B7E8}"/>
              </a:ext>
            </a:extLst>
          </p:cNvPr>
          <p:cNvSpPr>
            <a:spLocks noGrp="1"/>
          </p:cNvSpPr>
          <p:nvPr/>
        </p:nvSpPr>
        <p:spPr>
          <a:xfrm>
            <a:off x="14035088" y="5029200"/>
            <a:ext cx="3490913" cy="20193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5DDA618-064B-4824-9907-167ED6E5741E}"/>
              </a:ext>
            </a:extLst>
          </p:cNvPr>
          <p:cNvSpPr>
            <a:spLocks noGrp="1"/>
          </p:cNvSpPr>
          <p:nvPr/>
        </p:nvSpPr>
        <p:spPr>
          <a:xfrm>
            <a:off x="14035088" y="5029200"/>
            <a:ext cx="3490913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CFF4D02-520C-4641-B724-A096D12D50FD}"/>
              </a:ext>
            </a:extLst>
          </p:cNvPr>
          <p:cNvSpPr>
            <a:spLocks noGrp="1"/>
          </p:cNvSpPr>
          <p:nvPr/>
        </p:nvSpPr>
        <p:spPr>
          <a:xfrm>
            <a:off x="14154150" y="51435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attendance_status_audit_logs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7D0149E-AC63-44E8-9AA9-8210D96C3F05}"/>
              </a:ext>
            </a:extLst>
          </p:cNvPr>
          <p:cNvSpPr>
            <a:spLocks noGrp="1"/>
          </p:cNvSpPr>
          <p:nvPr/>
        </p:nvSpPr>
        <p:spPr>
          <a:xfrm>
            <a:off x="14035088" y="54292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0F49E06-445E-4BBE-A261-5DB82C8F88C3}"/>
              </a:ext>
            </a:extLst>
          </p:cNvPr>
          <p:cNvSpPr>
            <a:spLocks noGrp="1"/>
          </p:cNvSpPr>
          <p:nvPr/>
        </p:nvSpPr>
        <p:spPr>
          <a:xfrm>
            <a:off x="14097000" y="55054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DF5BC10-F148-4CB9-9332-62F770B52A90}"/>
              </a:ext>
            </a:extLst>
          </p:cNvPr>
          <p:cNvSpPr>
            <a:spLocks noGrp="1"/>
          </p:cNvSpPr>
          <p:nvPr/>
        </p:nvSpPr>
        <p:spPr>
          <a:xfrm>
            <a:off x="14435138" y="54292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922FC4A-A847-4B5A-8D2C-D139256CD073}"/>
              </a:ext>
            </a:extLst>
          </p:cNvPr>
          <p:cNvSpPr>
            <a:spLocks noGrp="1"/>
          </p:cNvSpPr>
          <p:nvPr/>
        </p:nvSpPr>
        <p:spPr>
          <a:xfrm>
            <a:off x="14516100" y="55054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FB92B69-DFE2-4D74-A34C-A1C7F27FB7A8}"/>
              </a:ext>
            </a:extLst>
          </p:cNvPr>
          <p:cNvSpPr>
            <a:spLocks noGrp="1"/>
          </p:cNvSpPr>
          <p:nvPr/>
        </p:nvSpPr>
        <p:spPr>
          <a:xfrm>
            <a:off x="14035088" y="57150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8EF300C-1582-41C2-928B-2FB560A59834}"/>
              </a:ext>
            </a:extLst>
          </p:cNvPr>
          <p:cNvSpPr>
            <a:spLocks noGrp="1"/>
          </p:cNvSpPr>
          <p:nvPr/>
        </p:nvSpPr>
        <p:spPr>
          <a:xfrm>
            <a:off x="14097000" y="57912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EDD26D4-C6A7-4073-9C8A-AE8EA099ECE3}"/>
              </a:ext>
            </a:extLst>
          </p:cNvPr>
          <p:cNvSpPr>
            <a:spLocks noGrp="1"/>
          </p:cNvSpPr>
          <p:nvPr/>
        </p:nvSpPr>
        <p:spPr>
          <a:xfrm>
            <a:off x="14435138" y="57150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E4AD501-967E-46A2-8F1B-7DF3C47B5BF2}"/>
              </a:ext>
            </a:extLst>
          </p:cNvPr>
          <p:cNvSpPr>
            <a:spLocks noGrp="1"/>
          </p:cNvSpPr>
          <p:nvPr/>
        </p:nvSpPr>
        <p:spPr>
          <a:xfrm>
            <a:off x="14516100" y="57912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attendance_session_id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E587690-91EC-4FFB-8D04-AB2926BA854F}"/>
              </a:ext>
            </a:extLst>
          </p:cNvPr>
          <p:cNvSpPr>
            <a:spLocks noGrp="1"/>
          </p:cNvSpPr>
          <p:nvPr/>
        </p:nvSpPr>
        <p:spPr>
          <a:xfrm>
            <a:off x="14035088" y="60007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9169F25-5C53-4CE3-9D90-B1D7E13E4392}"/>
              </a:ext>
            </a:extLst>
          </p:cNvPr>
          <p:cNvSpPr>
            <a:spLocks noGrp="1"/>
          </p:cNvSpPr>
          <p:nvPr/>
        </p:nvSpPr>
        <p:spPr>
          <a:xfrm>
            <a:off x="14097000" y="60769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4CB77F2-D196-435A-80E9-0D8065C1327E}"/>
              </a:ext>
            </a:extLst>
          </p:cNvPr>
          <p:cNvSpPr>
            <a:spLocks noGrp="1"/>
          </p:cNvSpPr>
          <p:nvPr/>
        </p:nvSpPr>
        <p:spPr>
          <a:xfrm>
            <a:off x="14435138" y="600075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9AFDF0D-DA0C-4C88-ABBD-F9BA08AB57B1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previous/new_status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1C71831-B15F-402C-A72A-FBBA2D13331B}"/>
              </a:ext>
            </a:extLst>
          </p:cNvPr>
          <p:cNvSpPr>
            <a:spLocks noGrp="1"/>
          </p:cNvSpPr>
          <p:nvPr/>
        </p:nvSpPr>
        <p:spPr>
          <a:xfrm>
            <a:off x="14035088" y="62865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20C7B07D-4D70-4131-8F2E-27BC8D465F97}"/>
              </a:ext>
            </a:extLst>
          </p:cNvPr>
          <p:cNvSpPr>
            <a:spLocks noGrp="1"/>
          </p:cNvSpPr>
          <p:nvPr/>
        </p:nvSpPr>
        <p:spPr>
          <a:xfrm>
            <a:off x="14097000" y="63627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D0E79ED-1C77-4561-A0DD-1F42423A4098}"/>
              </a:ext>
            </a:extLst>
          </p:cNvPr>
          <p:cNvSpPr>
            <a:spLocks noGrp="1"/>
          </p:cNvSpPr>
          <p:nvPr/>
        </p:nvSpPr>
        <p:spPr>
          <a:xfrm>
            <a:off x="14435138" y="6286500"/>
            <a:ext cx="3090863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45EE917-7A59-4B69-9E2D-7C09472038B8}"/>
              </a:ext>
            </a:extLst>
          </p:cNvPr>
          <p:cNvSpPr>
            <a:spLocks noGrp="1"/>
          </p:cNvSpPr>
          <p:nvPr/>
        </p:nvSpPr>
        <p:spPr>
          <a:xfrm>
            <a:off x="14516100" y="6362700"/>
            <a:ext cx="2933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version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3F51C3E2-7CDD-4EAF-945E-35B9AA009330}"/>
              </a:ext>
            </a:extLst>
          </p:cNvPr>
          <p:cNvSpPr>
            <a:spLocks noGrp="1"/>
          </p:cNvSpPr>
          <p:nvPr/>
        </p:nvSpPr>
        <p:spPr>
          <a:xfrm>
            <a:off x="762000" y="7200900"/>
            <a:ext cx="54737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67A701D7-C8B1-40C3-841B-1C2DA51955C0}"/>
              </a:ext>
            </a:extLst>
          </p:cNvPr>
          <p:cNvSpPr>
            <a:spLocks noGrp="1"/>
          </p:cNvSpPr>
          <p:nvPr/>
        </p:nvSpPr>
        <p:spPr>
          <a:xfrm>
            <a:off x="952500" y="73533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06DEB6C-D8E5-41CF-A6D9-F37CB737239E}"/>
              </a:ext>
            </a:extLst>
          </p:cNvPr>
          <p:cNvSpPr>
            <a:spLocks noGrp="1"/>
          </p:cNvSpPr>
          <p:nvPr/>
        </p:nvSpPr>
        <p:spPr>
          <a:xfrm>
            <a:off x="952500" y="74676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단말 근거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1550185-D21C-40D5-B867-582BC513021A}"/>
              </a:ext>
            </a:extLst>
          </p:cNvPr>
          <p:cNvSpPr>
            <a:spLocks noGrp="1"/>
          </p:cNvSpPr>
          <p:nvPr/>
        </p:nvSpPr>
        <p:spPr>
          <a:xfrm>
            <a:off x="952500" y="78105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users → registered_devices → classroom station evidence</a:t>
            </a:r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7BD0831A-4432-46CF-A61B-9ADC2C7F57DC}"/>
              </a:ext>
            </a:extLst>
          </p:cNvPr>
          <p:cNvSpPr>
            <a:spLocks noGrp="1"/>
          </p:cNvSpPr>
          <p:nvPr/>
        </p:nvSpPr>
        <p:spPr>
          <a:xfrm>
            <a:off x="6407150" y="7200900"/>
            <a:ext cx="54737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82E9B76-B65E-445A-BD88-A61D9596470E}"/>
              </a:ext>
            </a:extLst>
          </p:cNvPr>
          <p:cNvSpPr>
            <a:spLocks noGrp="1"/>
          </p:cNvSpPr>
          <p:nvPr/>
        </p:nvSpPr>
        <p:spPr>
          <a:xfrm>
            <a:off x="6591300" y="735330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19A4959-ABAA-45AC-BD76-4D1A0C710CA4}"/>
              </a:ext>
            </a:extLst>
          </p:cNvPr>
          <p:cNvSpPr>
            <a:spLocks noGrp="1"/>
          </p:cNvSpPr>
          <p:nvPr/>
        </p:nvSpPr>
        <p:spPr>
          <a:xfrm>
            <a:off x="6591300" y="74676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출석 저장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5AF0437-C3A8-4B7A-96B3-A48D48AEB166}"/>
              </a:ext>
            </a:extLst>
          </p:cNvPr>
          <p:cNvSpPr>
            <a:spLocks noGrp="1"/>
          </p:cNvSpPr>
          <p:nvPr/>
        </p:nvSpPr>
        <p:spPr>
          <a:xfrm>
            <a:off x="6591300" y="78105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attendance_sessions → session_slots → records</a:t>
            </a:r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5A052E10-A021-487C-A189-25ADBC6AE65B}"/>
              </a:ext>
            </a:extLst>
          </p:cNvPr>
          <p:cNvSpPr>
            <a:spLocks noGrp="1"/>
          </p:cNvSpPr>
          <p:nvPr/>
        </p:nvSpPr>
        <p:spPr>
          <a:xfrm>
            <a:off x="12052300" y="7200900"/>
            <a:ext cx="54737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347B751-6B30-4561-BDAF-90157648FFC0}"/>
              </a:ext>
            </a:extLst>
          </p:cNvPr>
          <p:cNvSpPr>
            <a:spLocks noGrp="1"/>
          </p:cNvSpPr>
          <p:nvPr/>
        </p:nvSpPr>
        <p:spPr>
          <a:xfrm>
            <a:off x="12249150" y="735330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3D448B8-0A0A-497B-9946-D9421A1AA3BD}"/>
              </a:ext>
            </a:extLst>
          </p:cNvPr>
          <p:cNvSpPr>
            <a:spLocks noGrp="1"/>
          </p:cNvSpPr>
          <p:nvPr/>
        </p:nvSpPr>
        <p:spPr>
          <a:xfrm>
            <a:off x="12249150" y="74676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추적성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3AD3AE4-A887-4507-A27C-CEF926CB1970}"/>
              </a:ext>
            </a:extLst>
          </p:cNvPr>
          <p:cNvSpPr>
            <a:spLocks noGrp="1"/>
          </p:cNvSpPr>
          <p:nvPr/>
        </p:nvSpPr>
        <p:spPr>
          <a:xfrm>
            <a:off x="12249150" y="78105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eligibility logs와 audit logs로 판단 근거를 분리 저장</a:t>
            </a:r>
          </a:p>
        </p:txBody>
      </p:sp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4078BEB9-A340-47CB-BC19-83B6C4846093}"/>
              </a:ext>
            </a:extLst>
          </p:cNvPr>
          <p:cNvSpPr>
            <a:spLocks noGrp="1"/>
          </p:cNvSpPr>
          <p:nvPr/>
        </p:nvSpPr>
        <p:spPr>
          <a:xfrm>
            <a:off x="762000" y="842010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478D08C-EA76-4E35-ACEF-B08EF19FD093}"/>
              </a:ext>
            </a:extLst>
          </p:cNvPr>
          <p:cNvSpPr>
            <a:spLocks noGrp="1"/>
          </p:cNvSpPr>
          <p:nvPr/>
        </p:nvSpPr>
        <p:spPr>
          <a:xfrm>
            <a:off x="971550" y="866775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ERD 의미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39B4433-844B-49AB-A538-5281A33D4371}"/>
              </a:ext>
            </a:extLst>
          </p:cNvPr>
          <p:cNvSpPr>
            <a:spLocks noGrp="1"/>
          </p:cNvSpPr>
          <p:nvPr/>
        </p:nvSpPr>
        <p:spPr>
          <a:xfrm>
            <a:off x="2571750" y="866775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단순 테이블 나열이 아니라 registered device 관측 근거와 slot별 출석 상태 전이가 연결되는 구조를 보여줍니다.</a:t>
            </a:r>
          </a:p>
        </p:txBody>
      </p:sp>
    </p:spTree>
    <p:extLst>
      <p:ext uri="{BB962C8B-B14F-4D97-AF65-F5344CB8AC3E}">
        <p14:creationId xmlns:p14="http://schemas.microsoft.com/office/powerpoint/2010/main" val="533234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74">
            <a:extLst>
              <a:ext uri="{FF2B5EF4-FFF2-40B4-BE49-F238E27FC236}">
                <a16:creationId xmlns:a16="http://schemas.microsoft.com/office/drawing/2014/main" id="{B082277E-CD4F-40D3-816F-980F8F4D9B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1AC49C4-F431-43FD-86C2-8375351913D8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E03A59-D385-4313-94FB-D76AB3C8FFF6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DB 진행상황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885DE5-087F-4C1C-BB26-7D636FE5DE88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시험 MVP는 강의 종속 시험, 문항, 선택지, 제출, 답안을 관계형으로 분리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4EB54A-8BC8-4C84-A520-A39AFBEF6000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F8FFD8-7DB2-4647-81EA-F55203F5188F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70F4F-7C13-4E84-A734-DDB10802A70E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34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017B263-B089-448A-9698-6D34401EFBB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462338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CFFF0D-FCCA-4D07-8310-083F585FD09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462338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D38542-A4A2-4DED-B357-BC21D43DBDDD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3238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courses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48E551-0F81-4DB3-9366-3867AC93DB2B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72AE92-61B5-4A32-A12A-F46C152A339B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FBF81F-80AC-47E0-B238-E6BA75C44326}"/>
              </a:ext>
            </a:extLst>
          </p:cNvPr>
          <p:cNvSpPr>
            <a:spLocks noGrp="1"/>
          </p:cNvSpPr>
          <p:nvPr/>
        </p:nvSpPr>
        <p:spPr>
          <a:xfrm>
            <a:off x="1162050" y="249555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12F5F4-3709-49F9-917D-6F7AD3026699}"/>
              </a:ext>
            </a:extLst>
          </p:cNvPr>
          <p:cNvSpPr>
            <a:spLocks noGrp="1"/>
          </p:cNvSpPr>
          <p:nvPr/>
        </p:nvSpPr>
        <p:spPr>
          <a:xfrm>
            <a:off x="1238250" y="25717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E818E1-01CD-4201-8AF9-3FAE0FB741E4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7F7A3D-7B0D-46AF-9D58-092FBE195339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UK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C05E0B-988E-4D36-83E5-2CEC7EB4AC66}"/>
              </a:ext>
            </a:extLst>
          </p:cNvPr>
          <p:cNvSpPr>
            <a:spLocks noGrp="1"/>
          </p:cNvSpPr>
          <p:nvPr/>
        </p:nvSpPr>
        <p:spPr>
          <a:xfrm>
            <a:off x="1162050" y="278130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B6F4B0-9048-4AC3-9E37-3C40B0D0C49D}"/>
              </a:ext>
            </a:extLst>
          </p:cNvPr>
          <p:cNvSpPr>
            <a:spLocks noGrp="1"/>
          </p:cNvSpPr>
          <p:nvPr/>
        </p:nvSpPr>
        <p:spPr>
          <a:xfrm>
            <a:off x="1238250" y="285750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course_code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3FC46D-7CC4-4E7C-A4BC-3F1E0FE72309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F46925-A5C8-4D30-874E-694433B8E332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1320EE-7943-4B7C-911B-BED488708EA4}"/>
              </a:ext>
            </a:extLst>
          </p:cNvPr>
          <p:cNvSpPr>
            <a:spLocks noGrp="1"/>
          </p:cNvSpPr>
          <p:nvPr/>
        </p:nvSpPr>
        <p:spPr>
          <a:xfrm>
            <a:off x="1162050" y="306705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DD4DFB-8219-4B41-885B-7FB37487661F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professor_user_id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21A27A-7CB3-4A2C-B8E5-1E65C9ED36AE}"/>
              </a:ext>
            </a:extLst>
          </p:cNvPr>
          <p:cNvSpPr>
            <a:spLocks noGrp="1"/>
          </p:cNvSpPr>
          <p:nvPr/>
        </p:nvSpPr>
        <p:spPr>
          <a:xfrm>
            <a:off x="4324350" y="300990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F67F26-53D7-4585-A7B5-6634C6474B66}"/>
              </a:ext>
            </a:extLst>
          </p:cNvPr>
          <p:cNvSpPr>
            <a:spLocks noGrp="1"/>
          </p:cNvSpPr>
          <p:nvPr/>
        </p:nvSpPr>
        <p:spPr>
          <a:xfrm>
            <a:off x="4324350" y="339090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FA5F30-3EF1-473E-B1B7-EA6C39597C24}"/>
              </a:ext>
            </a:extLst>
          </p:cNvPr>
          <p:cNvSpPr>
            <a:spLocks noGrp="1"/>
          </p:cNvSpPr>
          <p:nvPr/>
        </p:nvSpPr>
        <p:spPr>
          <a:xfrm>
            <a:off x="4324350" y="363855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contains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89D1F94-6690-4503-A013-66A2EB881B9F}"/>
              </a:ext>
            </a:extLst>
          </p:cNvPr>
          <p:cNvSpPr>
            <a:spLocks noGrp="1"/>
          </p:cNvSpPr>
          <p:nvPr/>
        </p:nvSpPr>
        <p:spPr>
          <a:xfrm>
            <a:off x="5195888" y="2095500"/>
            <a:ext cx="3462338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D5ADAF-7734-4095-939E-93D7C383F3F9}"/>
              </a:ext>
            </a:extLst>
          </p:cNvPr>
          <p:cNvSpPr>
            <a:spLocks noGrp="1"/>
          </p:cNvSpPr>
          <p:nvPr/>
        </p:nvSpPr>
        <p:spPr>
          <a:xfrm>
            <a:off x="5195888" y="2095500"/>
            <a:ext cx="3462338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CE44D7-AA26-46F0-B169-1A980BEDF848}"/>
              </a:ext>
            </a:extLst>
          </p:cNvPr>
          <p:cNvSpPr>
            <a:spLocks noGrp="1"/>
          </p:cNvSpPr>
          <p:nvPr/>
        </p:nvSpPr>
        <p:spPr>
          <a:xfrm>
            <a:off x="5314950" y="2209800"/>
            <a:ext cx="3238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exams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0D8CF7-3458-42A5-8718-AB78414C9180}"/>
              </a:ext>
            </a:extLst>
          </p:cNvPr>
          <p:cNvSpPr>
            <a:spLocks noGrp="1"/>
          </p:cNvSpPr>
          <p:nvPr/>
        </p:nvSpPr>
        <p:spPr>
          <a:xfrm>
            <a:off x="5195888" y="24955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2A5C07-936A-4E45-9437-9CF48922BB53}"/>
              </a:ext>
            </a:extLst>
          </p:cNvPr>
          <p:cNvSpPr>
            <a:spLocks noGrp="1"/>
          </p:cNvSpPr>
          <p:nvPr/>
        </p:nvSpPr>
        <p:spPr>
          <a:xfrm>
            <a:off x="5257800" y="25717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BEA3193-029B-4903-BCD0-DDA410481E8B}"/>
              </a:ext>
            </a:extLst>
          </p:cNvPr>
          <p:cNvSpPr>
            <a:spLocks noGrp="1"/>
          </p:cNvSpPr>
          <p:nvPr/>
        </p:nvSpPr>
        <p:spPr>
          <a:xfrm>
            <a:off x="5595938" y="249555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ED0290-718D-4F28-A29D-E726C974877A}"/>
              </a:ext>
            </a:extLst>
          </p:cNvPr>
          <p:cNvSpPr>
            <a:spLocks noGrp="1"/>
          </p:cNvSpPr>
          <p:nvPr/>
        </p:nvSpPr>
        <p:spPr>
          <a:xfrm>
            <a:off x="5676900" y="25717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0B33FD-F60C-4299-B164-3E0ADF7994DF}"/>
              </a:ext>
            </a:extLst>
          </p:cNvPr>
          <p:cNvSpPr>
            <a:spLocks noGrp="1"/>
          </p:cNvSpPr>
          <p:nvPr/>
        </p:nvSpPr>
        <p:spPr>
          <a:xfrm>
            <a:off x="5195888" y="27813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ABB828-D531-4A5C-ADC7-9BC100EF8BD7}"/>
              </a:ext>
            </a:extLst>
          </p:cNvPr>
          <p:cNvSpPr>
            <a:spLocks noGrp="1"/>
          </p:cNvSpPr>
          <p:nvPr/>
        </p:nvSpPr>
        <p:spPr>
          <a:xfrm>
            <a:off x="5257800" y="28575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2F83B9-0797-45D2-9C03-9EC624AA4B20}"/>
              </a:ext>
            </a:extLst>
          </p:cNvPr>
          <p:cNvSpPr>
            <a:spLocks noGrp="1"/>
          </p:cNvSpPr>
          <p:nvPr/>
        </p:nvSpPr>
        <p:spPr>
          <a:xfrm>
            <a:off x="5595938" y="278130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BB2722-CADF-427B-8855-3E9F7B66A64C}"/>
              </a:ext>
            </a:extLst>
          </p:cNvPr>
          <p:cNvSpPr>
            <a:spLocks noGrp="1"/>
          </p:cNvSpPr>
          <p:nvPr/>
        </p:nvSpPr>
        <p:spPr>
          <a:xfrm>
            <a:off x="5676900" y="285750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course_id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CBF4D9-DEBC-4336-9AD1-A4FEE49D9E4D}"/>
              </a:ext>
            </a:extLst>
          </p:cNvPr>
          <p:cNvSpPr>
            <a:spLocks noGrp="1"/>
          </p:cNvSpPr>
          <p:nvPr/>
        </p:nvSpPr>
        <p:spPr>
          <a:xfrm>
            <a:off x="5195888" y="30670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BE4CEE-A8FB-4C66-9D81-99A057D32A5E}"/>
              </a:ext>
            </a:extLst>
          </p:cNvPr>
          <p:cNvSpPr>
            <a:spLocks noGrp="1"/>
          </p:cNvSpPr>
          <p:nvPr/>
        </p:nvSpPr>
        <p:spPr>
          <a:xfrm>
            <a:off x="5257800" y="31432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771C74-1837-4F06-8D8D-3C69C3619D91}"/>
              </a:ext>
            </a:extLst>
          </p:cNvPr>
          <p:cNvSpPr>
            <a:spLocks noGrp="1"/>
          </p:cNvSpPr>
          <p:nvPr/>
        </p:nvSpPr>
        <p:spPr>
          <a:xfrm>
            <a:off x="5595938" y="306705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1019BD-12ED-4820-BCFC-7A73D4A2E5E1}"/>
              </a:ext>
            </a:extLst>
          </p:cNvPr>
          <p:cNvSpPr>
            <a:spLocks noGrp="1"/>
          </p:cNvSpPr>
          <p:nvPr/>
        </p:nvSpPr>
        <p:spPr>
          <a:xfrm>
            <a:off x="5676900" y="31432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status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E6E19A-2FFD-450C-8D3D-6E5361A4304F}"/>
              </a:ext>
            </a:extLst>
          </p:cNvPr>
          <p:cNvSpPr>
            <a:spLocks noGrp="1"/>
          </p:cNvSpPr>
          <p:nvPr/>
        </p:nvSpPr>
        <p:spPr>
          <a:xfrm>
            <a:off x="5195888" y="33528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3D3195-D870-4719-B0A1-AA805CDE41F5}"/>
              </a:ext>
            </a:extLst>
          </p:cNvPr>
          <p:cNvSpPr>
            <a:spLocks noGrp="1"/>
          </p:cNvSpPr>
          <p:nvPr/>
        </p:nvSpPr>
        <p:spPr>
          <a:xfrm>
            <a:off x="5257800" y="34290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2C1F43-7AE9-4C8F-9703-A799DCFD18B4}"/>
              </a:ext>
            </a:extLst>
          </p:cNvPr>
          <p:cNvSpPr>
            <a:spLocks noGrp="1"/>
          </p:cNvSpPr>
          <p:nvPr/>
        </p:nvSpPr>
        <p:spPr>
          <a:xfrm>
            <a:off x="5595938" y="335280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74BE9DC-AB00-438E-9919-15D6363E757F}"/>
              </a:ext>
            </a:extLst>
          </p:cNvPr>
          <p:cNvSpPr>
            <a:spLocks noGrp="1"/>
          </p:cNvSpPr>
          <p:nvPr/>
        </p:nvSpPr>
        <p:spPr>
          <a:xfrm>
            <a:off x="5676900" y="342900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starts_at / ends_at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9E28ED-0FD9-42E7-9F3B-A863E459B916}"/>
              </a:ext>
            </a:extLst>
          </p:cNvPr>
          <p:cNvSpPr>
            <a:spLocks noGrp="1"/>
          </p:cNvSpPr>
          <p:nvPr/>
        </p:nvSpPr>
        <p:spPr>
          <a:xfrm>
            <a:off x="5195888" y="36385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D434D7B-74F1-4E34-93D0-0CCD7833233C}"/>
              </a:ext>
            </a:extLst>
          </p:cNvPr>
          <p:cNvSpPr>
            <a:spLocks noGrp="1"/>
          </p:cNvSpPr>
          <p:nvPr/>
        </p:nvSpPr>
        <p:spPr>
          <a:xfrm>
            <a:off x="5257800" y="37147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0363D5C-C783-46BB-9B27-901DA3E76CE4}"/>
              </a:ext>
            </a:extLst>
          </p:cNvPr>
          <p:cNvSpPr>
            <a:spLocks noGrp="1"/>
          </p:cNvSpPr>
          <p:nvPr/>
        </p:nvSpPr>
        <p:spPr>
          <a:xfrm>
            <a:off x="5595938" y="363855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3850157-F7E1-4F0D-B3EA-95D31F54F0E9}"/>
              </a:ext>
            </a:extLst>
          </p:cNvPr>
          <p:cNvSpPr>
            <a:spLocks noGrp="1"/>
          </p:cNvSpPr>
          <p:nvPr/>
        </p:nvSpPr>
        <p:spPr>
          <a:xfrm>
            <a:off x="5676900" y="37147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requires_presence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7F91E5-6252-40E5-B29F-52412AA4E656}"/>
              </a:ext>
            </a:extLst>
          </p:cNvPr>
          <p:cNvSpPr>
            <a:spLocks noGrp="1"/>
          </p:cNvSpPr>
          <p:nvPr/>
        </p:nvSpPr>
        <p:spPr>
          <a:xfrm>
            <a:off x="8763000" y="300990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52E993-302A-4CEB-8776-A688EFFF4D9B}"/>
              </a:ext>
            </a:extLst>
          </p:cNvPr>
          <p:cNvSpPr>
            <a:spLocks noGrp="1"/>
          </p:cNvSpPr>
          <p:nvPr/>
        </p:nvSpPr>
        <p:spPr>
          <a:xfrm>
            <a:off x="8763000" y="339090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4B2F78C-3EE8-4BE7-A67A-524163E6A681}"/>
              </a:ext>
            </a:extLst>
          </p:cNvPr>
          <p:cNvSpPr>
            <a:spLocks noGrp="1"/>
          </p:cNvSpPr>
          <p:nvPr/>
        </p:nvSpPr>
        <p:spPr>
          <a:xfrm>
            <a:off x="8763000" y="363855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has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986CA5B-4E12-448A-8AE8-528A07D6212C}"/>
              </a:ext>
            </a:extLst>
          </p:cNvPr>
          <p:cNvSpPr>
            <a:spLocks noGrp="1"/>
          </p:cNvSpPr>
          <p:nvPr/>
        </p:nvSpPr>
        <p:spPr>
          <a:xfrm>
            <a:off x="9629775" y="2095500"/>
            <a:ext cx="3462338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EF69B6-6343-4F2E-A700-56D806275394}"/>
              </a:ext>
            </a:extLst>
          </p:cNvPr>
          <p:cNvSpPr>
            <a:spLocks noGrp="1"/>
          </p:cNvSpPr>
          <p:nvPr/>
        </p:nvSpPr>
        <p:spPr>
          <a:xfrm>
            <a:off x="9629775" y="2095500"/>
            <a:ext cx="3462338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B239A24-5247-4435-83FE-DC3E8ED1D14E}"/>
              </a:ext>
            </a:extLst>
          </p:cNvPr>
          <p:cNvSpPr>
            <a:spLocks noGrp="1"/>
          </p:cNvSpPr>
          <p:nvPr/>
        </p:nvSpPr>
        <p:spPr>
          <a:xfrm>
            <a:off x="9753600" y="2209800"/>
            <a:ext cx="3238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exam_questions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709662B-C138-4610-96A7-AA32A29F10F8}"/>
              </a:ext>
            </a:extLst>
          </p:cNvPr>
          <p:cNvSpPr>
            <a:spLocks noGrp="1"/>
          </p:cNvSpPr>
          <p:nvPr/>
        </p:nvSpPr>
        <p:spPr>
          <a:xfrm>
            <a:off x="9629775" y="24955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031B85-813C-41D6-B56B-E15BADBF34B4}"/>
              </a:ext>
            </a:extLst>
          </p:cNvPr>
          <p:cNvSpPr>
            <a:spLocks noGrp="1"/>
          </p:cNvSpPr>
          <p:nvPr/>
        </p:nvSpPr>
        <p:spPr>
          <a:xfrm>
            <a:off x="9696450" y="25717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C5EFF97-2E7A-4828-BA3F-CBB9A58787B5}"/>
              </a:ext>
            </a:extLst>
          </p:cNvPr>
          <p:cNvSpPr>
            <a:spLocks noGrp="1"/>
          </p:cNvSpPr>
          <p:nvPr/>
        </p:nvSpPr>
        <p:spPr>
          <a:xfrm>
            <a:off x="10029825" y="249555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0781E73-EB8E-416A-94B4-48AF2D729D19}"/>
              </a:ext>
            </a:extLst>
          </p:cNvPr>
          <p:cNvSpPr>
            <a:spLocks noGrp="1"/>
          </p:cNvSpPr>
          <p:nvPr/>
        </p:nvSpPr>
        <p:spPr>
          <a:xfrm>
            <a:off x="10115550" y="25717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A170E0-06A0-4DFF-9B54-0BF224A0AD87}"/>
              </a:ext>
            </a:extLst>
          </p:cNvPr>
          <p:cNvSpPr>
            <a:spLocks noGrp="1"/>
          </p:cNvSpPr>
          <p:nvPr/>
        </p:nvSpPr>
        <p:spPr>
          <a:xfrm>
            <a:off x="9629775" y="27813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1E8EF18-F206-40AA-A24B-602C2A2F48C2}"/>
              </a:ext>
            </a:extLst>
          </p:cNvPr>
          <p:cNvSpPr>
            <a:spLocks noGrp="1"/>
          </p:cNvSpPr>
          <p:nvPr/>
        </p:nvSpPr>
        <p:spPr>
          <a:xfrm>
            <a:off x="9696450" y="28575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A9BD95-1D47-443C-B01E-AA8BEC2C0988}"/>
              </a:ext>
            </a:extLst>
          </p:cNvPr>
          <p:cNvSpPr>
            <a:spLocks noGrp="1"/>
          </p:cNvSpPr>
          <p:nvPr/>
        </p:nvSpPr>
        <p:spPr>
          <a:xfrm>
            <a:off x="10029825" y="278130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277B15B-F042-4249-A49B-CBF204C9F390}"/>
              </a:ext>
            </a:extLst>
          </p:cNvPr>
          <p:cNvSpPr>
            <a:spLocks noGrp="1"/>
          </p:cNvSpPr>
          <p:nvPr/>
        </p:nvSpPr>
        <p:spPr>
          <a:xfrm>
            <a:off x="10115550" y="285750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exam_id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8566134-A548-4D02-B439-AB90E8628C6D}"/>
              </a:ext>
            </a:extLst>
          </p:cNvPr>
          <p:cNvSpPr>
            <a:spLocks noGrp="1"/>
          </p:cNvSpPr>
          <p:nvPr/>
        </p:nvSpPr>
        <p:spPr>
          <a:xfrm>
            <a:off x="9629775" y="30670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191B5A6-F0B2-4351-95D0-FA825891174E}"/>
              </a:ext>
            </a:extLst>
          </p:cNvPr>
          <p:cNvSpPr>
            <a:spLocks noGrp="1"/>
          </p:cNvSpPr>
          <p:nvPr/>
        </p:nvSpPr>
        <p:spPr>
          <a:xfrm>
            <a:off x="9696450" y="31432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CBC9F8D-DC67-4384-909B-523A3C202762}"/>
              </a:ext>
            </a:extLst>
          </p:cNvPr>
          <p:cNvSpPr>
            <a:spLocks noGrp="1"/>
          </p:cNvSpPr>
          <p:nvPr/>
        </p:nvSpPr>
        <p:spPr>
          <a:xfrm>
            <a:off x="10029825" y="306705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A63EAB5-474D-45DD-8A8C-2814C6DDAAC2}"/>
              </a:ext>
            </a:extLst>
          </p:cNvPr>
          <p:cNvSpPr>
            <a:spLocks noGrp="1"/>
          </p:cNvSpPr>
          <p:nvPr/>
        </p:nvSpPr>
        <p:spPr>
          <a:xfrm>
            <a:off x="10115550" y="31432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question_type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1427702-5F08-49BD-8CE2-E8DAAE2762CC}"/>
              </a:ext>
            </a:extLst>
          </p:cNvPr>
          <p:cNvSpPr>
            <a:spLocks noGrp="1"/>
          </p:cNvSpPr>
          <p:nvPr/>
        </p:nvSpPr>
        <p:spPr>
          <a:xfrm>
            <a:off x="9629775" y="33528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01043BE-3EFD-4A6C-93F2-34C65FA63506}"/>
              </a:ext>
            </a:extLst>
          </p:cNvPr>
          <p:cNvSpPr>
            <a:spLocks noGrp="1"/>
          </p:cNvSpPr>
          <p:nvPr/>
        </p:nvSpPr>
        <p:spPr>
          <a:xfrm>
            <a:off x="9696450" y="34290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41FB1B9-A571-447D-B898-2C02BB989901}"/>
              </a:ext>
            </a:extLst>
          </p:cNvPr>
          <p:cNvSpPr>
            <a:spLocks noGrp="1"/>
          </p:cNvSpPr>
          <p:nvPr/>
        </p:nvSpPr>
        <p:spPr>
          <a:xfrm>
            <a:off x="10029825" y="335280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6EC31B5-5889-4FFB-988D-0187D859E727}"/>
              </a:ext>
            </a:extLst>
          </p:cNvPr>
          <p:cNvSpPr>
            <a:spLocks noGrp="1"/>
          </p:cNvSpPr>
          <p:nvPr/>
        </p:nvSpPr>
        <p:spPr>
          <a:xfrm>
            <a:off x="10115550" y="342900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points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FB310A9-FAE5-4247-9C97-E9AB4FBD8313}"/>
              </a:ext>
            </a:extLst>
          </p:cNvPr>
          <p:cNvSpPr>
            <a:spLocks noGrp="1"/>
          </p:cNvSpPr>
          <p:nvPr/>
        </p:nvSpPr>
        <p:spPr>
          <a:xfrm>
            <a:off x="13201650" y="300990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DD7E511-3F0B-4B7A-892F-AC3E63F0B437}"/>
              </a:ext>
            </a:extLst>
          </p:cNvPr>
          <p:cNvSpPr>
            <a:spLocks noGrp="1"/>
          </p:cNvSpPr>
          <p:nvPr/>
        </p:nvSpPr>
        <p:spPr>
          <a:xfrm>
            <a:off x="13201650" y="339090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A8C489A-A1FA-436C-95D8-4E447242193F}"/>
              </a:ext>
            </a:extLst>
          </p:cNvPr>
          <p:cNvSpPr>
            <a:spLocks noGrp="1"/>
          </p:cNvSpPr>
          <p:nvPr/>
        </p:nvSpPr>
        <p:spPr>
          <a:xfrm>
            <a:off x="13201650" y="363855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offers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9B8CF243-3149-4A47-93F4-3F590AD00FAE}"/>
              </a:ext>
            </a:extLst>
          </p:cNvPr>
          <p:cNvSpPr>
            <a:spLocks noGrp="1"/>
          </p:cNvSpPr>
          <p:nvPr/>
        </p:nvSpPr>
        <p:spPr>
          <a:xfrm>
            <a:off x="14063663" y="2095500"/>
            <a:ext cx="3462338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7DA03DB-F74B-4644-9139-1F6B4054C0D2}"/>
              </a:ext>
            </a:extLst>
          </p:cNvPr>
          <p:cNvSpPr>
            <a:spLocks noGrp="1"/>
          </p:cNvSpPr>
          <p:nvPr/>
        </p:nvSpPr>
        <p:spPr>
          <a:xfrm>
            <a:off x="14063663" y="2095500"/>
            <a:ext cx="3462338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B341445-C0E4-4832-B1D2-0D1F197559CA}"/>
              </a:ext>
            </a:extLst>
          </p:cNvPr>
          <p:cNvSpPr>
            <a:spLocks noGrp="1"/>
          </p:cNvSpPr>
          <p:nvPr/>
        </p:nvSpPr>
        <p:spPr>
          <a:xfrm>
            <a:off x="14173200" y="2209800"/>
            <a:ext cx="3238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exam_question_options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823F341-94A5-4D5B-9A17-E750933B816A}"/>
              </a:ext>
            </a:extLst>
          </p:cNvPr>
          <p:cNvSpPr>
            <a:spLocks noGrp="1"/>
          </p:cNvSpPr>
          <p:nvPr/>
        </p:nvSpPr>
        <p:spPr>
          <a:xfrm>
            <a:off x="14063663" y="249555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1F02A0C-336C-4409-8292-237EEEA14689}"/>
              </a:ext>
            </a:extLst>
          </p:cNvPr>
          <p:cNvSpPr>
            <a:spLocks noGrp="1"/>
          </p:cNvSpPr>
          <p:nvPr/>
        </p:nvSpPr>
        <p:spPr>
          <a:xfrm>
            <a:off x="14135100" y="25717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BB8A819-C5C6-461C-B2B1-872298B35D9A}"/>
              </a:ext>
            </a:extLst>
          </p:cNvPr>
          <p:cNvSpPr>
            <a:spLocks noGrp="1"/>
          </p:cNvSpPr>
          <p:nvPr/>
        </p:nvSpPr>
        <p:spPr>
          <a:xfrm>
            <a:off x="14463713" y="249555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F09D7E0-9AA5-41E4-A4C6-716A473BA9AB}"/>
              </a:ext>
            </a:extLst>
          </p:cNvPr>
          <p:cNvSpPr>
            <a:spLocks noGrp="1"/>
          </p:cNvSpPr>
          <p:nvPr/>
        </p:nvSpPr>
        <p:spPr>
          <a:xfrm>
            <a:off x="14535150" y="25717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DBC706D-0AA4-42AE-B08D-0B90D342137B}"/>
              </a:ext>
            </a:extLst>
          </p:cNvPr>
          <p:cNvSpPr>
            <a:spLocks noGrp="1"/>
          </p:cNvSpPr>
          <p:nvPr/>
        </p:nvSpPr>
        <p:spPr>
          <a:xfrm>
            <a:off x="14063663" y="27813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C41E2F9-4106-4FC3-94DC-1CDB4A75F5A4}"/>
              </a:ext>
            </a:extLst>
          </p:cNvPr>
          <p:cNvSpPr>
            <a:spLocks noGrp="1"/>
          </p:cNvSpPr>
          <p:nvPr/>
        </p:nvSpPr>
        <p:spPr>
          <a:xfrm>
            <a:off x="14135100" y="28575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DB413E5-6893-45AE-A83D-55E9F9C572CD}"/>
              </a:ext>
            </a:extLst>
          </p:cNvPr>
          <p:cNvSpPr>
            <a:spLocks noGrp="1"/>
          </p:cNvSpPr>
          <p:nvPr/>
        </p:nvSpPr>
        <p:spPr>
          <a:xfrm>
            <a:off x="14463713" y="278130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3B4D25E-072E-46FA-B053-AF30AA51D9D7}"/>
              </a:ext>
            </a:extLst>
          </p:cNvPr>
          <p:cNvSpPr>
            <a:spLocks noGrp="1"/>
          </p:cNvSpPr>
          <p:nvPr/>
        </p:nvSpPr>
        <p:spPr>
          <a:xfrm>
            <a:off x="14535150" y="285750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question_id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5A18CE2-E6AA-4B3C-B3E5-D29A5BCF4DA4}"/>
              </a:ext>
            </a:extLst>
          </p:cNvPr>
          <p:cNvSpPr>
            <a:spLocks noGrp="1"/>
          </p:cNvSpPr>
          <p:nvPr/>
        </p:nvSpPr>
        <p:spPr>
          <a:xfrm>
            <a:off x="14063663" y="30670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33B4678-96A1-4502-A5DA-6F0D395935A1}"/>
              </a:ext>
            </a:extLst>
          </p:cNvPr>
          <p:cNvSpPr>
            <a:spLocks noGrp="1"/>
          </p:cNvSpPr>
          <p:nvPr/>
        </p:nvSpPr>
        <p:spPr>
          <a:xfrm>
            <a:off x="14135100" y="31432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291DA2A-4E02-442B-B02B-2CF1B6797B49}"/>
              </a:ext>
            </a:extLst>
          </p:cNvPr>
          <p:cNvSpPr>
            <a:spLocks noGrp="1"/>
          </p:cNvSpPr>
          <p:nvPr/>
        </p:nvSpPr>
        <p:spPr>
          <a:xfrm>
            <a:off x="14463713" y="306705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8554BD4-E280-4235-85D4-6A8FB06292AB}"/>
              </a:ext>
            </a:extLst>
          </p:cNvPr>
          <p:cNvSpPr>
            <a:spLocks noGrp="1"/>
          </p:cNvSpPr>
          <p:nvPr/>
        </p:nvSpPr>
        <p:spPr>
          <a:xfrm>
            <a:off x="14535150" y="31432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option_order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433533B-5DEB-45EF-A798-D6E478A0D6CA}"/>
              </a:ext>
            </a:extLst>
          </p:cNvPr>
          <p:cNvSpPr>
            <a:spLocks noGrp="1"/>
          </p:cNvSpPr>
          <p:nvPr/>
        </p:nvSpPr>
        <p:spPr>
          <a:xfrm>
            <a:off x="14063663" y="33528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B43B4CD-88B9-40A7-9B73-9B11E675AFDF}"/>
              </a:ext>
            </a:extLst>
          </p:cNvPr>
          <p:cNvSpPr>
            <a:spLocks noGrp="1"/>
          </p:cNvSpPr>
          <p:nvPr/>
        </p:nvSpPr>
        <p:spPr>
          <a:xfrm>
            <a:off x="14135100" y="34290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F7C0FA4-A2B4-4343-A63A-13C978615814}"/>
              </a:ext>
            </a:extLst>
          </p:cNvPr>
          <p:cNvSpPr>
            <a:spLocks noGrp="1"/>
          </p:cNvSpPr>
          <p:nvPr/>
        </p:nvSpPr>
        <p:spPr>
          <a:xfrm>
            <a:off x="14463713" y="3352800"/>
            <a:ext cx="30622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A5FDB4A-88E9-4484-A9E6-2A7A60E3901A}"/>
              </a:ext>
            </a:extLst>
          </p:cNvPr>
          <p:cNvSpPr>
            <a:spLocks noGrp="1"/>
          </p:cNvSpPr>
          <p:nvPr/>
        </p:nvSpPr>
        <p:spPr>
          <a:xfrm>
            <a:off x="14535150" y="342900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is_correct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00529C93-6DB1-4076-A936-3F83D8B81076}"/>
              </a:ext>
            </a:extLst>
          </p:cNvPr>
          <p:cNvSpPr>
            <a:spLocks noGrp="1"/>
          </p:cNvSpPr>
          <p:nvPr/>
        </p:nvSpPr>
        <p:spPr>
          <a:xfrm>
            <a:off x="762000" y="4933950"/>
            <a:ext cx="3676650" cy="20193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39F81C4-0419-4099-99ED-6ABBA1A5D174}"/>
              </a:ext>
            </a:extLst>
          </p:cNvPr>
          <p:cNvSpPr>
            <a:spLocks noGrp="1"/>
          </p:cNvSpPr>
          <p:nvPr/>
        </p:nvSpPr>
        <p:spPr>
          <a:xfrm>
            <a:off x="762000" y="4933950"/>
            <a:ext cx="3676650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2EAA9D9-B75B-49D8-A141-58EA4F55C66B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users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94F7195-055B-410A-8380-4D81D4688A8F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D04BF28-644F-4600-AADC-6A9B3E79B423}"/>
              </a:ext>
            </a:extLst>
          </p:cNvPr>
          <p:cNvSpPr>
            <a:spLocks noGrp="1"/>
          </p:cNvSpPr>
          <p:nvPr/>
        </p:nvSpPr>
        <p:spPr>
          <a:xfrm>
            <a:off x="838200" y="54102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0614BD7-D52A-468A-BAF0-1A65CAA32AB1}"/>
              </a:ext>
            </a:extLst>
          </p:cNvPr>
          <p:cNvSpPr>
            <a:spLocks noGrp="1"/>
          </p:cNvSpPr>
          <p:nvPr/>
        </p:nvSpPr>
        <p:spPr>
          <a:xfrm>
            <a:off x="1162050" y="533400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B5CCB5E-2713-43FC-9FF6-942C1E005F32}"/>
              </a:ext>
            </a:extLst>
          </p:cNvPr>
          <p:cNvSpPr>
            <a:spLocks noGrp="1"/>
          </p:cNvSpPr>
          <p:nvPr/>
        </p:nvSpPr>
        <p:spPr>
          <a:xfrm>
            <a:off x="1238250" y="541020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F90CAB6-7A6D-49E8-8FD4-BFB9A0648CE8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07CB4E6-06A5-48F2-B0CE-464D4C95B30C}"/>
              </a:ext>
            </a:extLst>
          </p:cNvPr>
          <p:cNvSpPr>
            <a:spLocks noGrp="1"/>
          </p:cNvSpPr>
          <p:nvPr/>
        </p:nvSpPr>
        <p:spPr>
          <a:xfrm>
            <a:off x="838200" y="56959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29114E6-ECF7-4A27-9DEB-3D11361915D8}"/>
              </a:ext>
            </a:extLst>
          </p:cNvPr>
          <p:cNvSpPr>
            <a:spLocks noGrp="1"/>
          </p:cNvSpPr>
          <p:nvPr/>
        </p:nvSpPr>
        <p:spPr>
          <a:xfrm>
            <a:off x="1162050" y="561975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BC615BC-089F-46F1-ABF2-6EEF2BEF117D}"/>
              </a:ext>
            </a:extLst>
          </p:cNvPr>
          <p:cNvSpPr>
            <a:spLocks noGrp="1"/>
          </p:cNvSpPr>
          <p:nvPr/>
        </p:nvSpPr>
        <p:spPr>
          <a:xfrm>
            <a:off x="1238250" y="569595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student role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FFE496D-150E-4300-8FF9-45FC11CD1C42}"/>
              </a:ext>
            </a:extLst>
          </p:cNvPr>
          <p:cNvSpPr>
            <a:spLocks noGrp="1"/>
          </p:cNvSpPr>
          <p:nvPr/>
        </p:nvSpPr>
        <p:spPr>
          <a:xfrm>
            <a:off x="4552950" y="552450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2CD5FE6-D789-4970-8E6F-21C399A2032B}"/>
              </a:ext>
            </a:extLst>
          </p:cNvPr>
          <p:cNvSpPr>
            <a:spLocks noGrp="1"/>
          </p:cNvSpPr>
          <p:nvPr/>
        </p:nvSpPr>
        <p:spPr>
          <a:xfrm>
            <a:off x="4552950" y="590550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40634AA-5083-4C29-A08A-D3D11351411B}"/>
              </a:ext>
            </a:extLst>
          </p:cNvPr>
          <p:cNvSpPr>
            <a:spLocks noGrp="1"/>
          </p:cNvSpPr>
          <p:nvPr/>
        </p:nvSpPr>
        <p:spPr>
          <a:xfrm>
            <a:off x="4552950" y="615315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submits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C0EF409A-FFBA-4D93-945C-13F09E21072C}"/>
              </a:ext>
            </a:extLst>
          </p:cNvPr>
          <p:cNvSpPr>
            <a:spLocks noGrp="1"/>
          </p:cNvSpPr>
          <p:nvPr/>
        </p:nvSpPr>
        <p:spPr>
          <a:xfrm>
            <a:off x="5410200" y="4933950"/>
            <a:ext cx="3676650" cy="20193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4F9F5E4-C09F-4DC3-BB5B-BB32DAF4FF46}"/>
              </a:ext>
            </a:extLst>
          </p:cNvPr>
          <p:cNvSpPr>
            <a:spLocks noGrp="1"/>
          </p:cNvSpPr>
          <p:nvPr/>
        </p:nvSpPr>
        <p:spPr>
          <a:xfrm>
            <a:off x="5410200" y="4933950"/>
            <a:ext cx="3676650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85DE1B-F8B1-4977-BFEC-0E58DAB520D1}"/>
              </a:ext>
            </a:extLst>
          </p:cNvPr>
          <p:cNvSpPr>
            <a:spLocks noGrp="1"/>
          </p:cNvSpPr>
          <p:nvPr/>
        </p:nvSpPr>
        <p:spPr>
          <a:xfrm>
            <a:off x="5524500" y="504825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exam_submissions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2C4BCF8-ED0E-4583-8BDF-BF7B5978D620}"/>
              </a:ext>
            </a:extLst>
          </p:cNvPr>
          <p:cNvSpPr>
            <a:spLocks noGrp="1"/>
          </p:cNvSpPr>
          <p:nvPr/>
        </p:nvSpPr>
        <p:spPr>
          <a:xfrm>
            <a:off x="5410200" y="533400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C8E0BDB-5F43-477D-B974-D6B5CF02B41C}"/>
              </a:ext>
            </a:extLst>
          </p:cNvPr>
          <p:cNvSpPr>
            <a:spLocks noGrp="1"/>
          </p:cNvSpPr>
          <p:nvPr/>
        </p:nvSpPr>
        <p:spPr>
          <a:xfrm>
            <a:off x="5486400" y="54102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85EECF2-B38B-45DB-B1F2-D4E407E25EBB}"/>
              </a:ext>
            </a:extLst>
          </p:cNvPr>
          <p:cNvSpPr>
            <a:spLocks noGrp="1"/>
          </p:cNvSpPr>
          <p:nvPr/>
        </p:nvSpPr>
        <p:spPr>
          <a:xfrm>
            <a:off x="5810250" y="533400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4E6FEEC-B64D-4EB9-9190-A3191401D26E}"/>
              </a:ext>
            </a:extLst>
          </p:cNvPr>
          <p:cNvSpPr>
            <a:spLocks noGrp="1"/>
          </p:cNvSpPr>
          <p:nvPr/>
        </p:nvSpPr>
        <p:spPr>
          <a:xfrm>
            <a:off x="5886450" y="541020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9414919-804C-4D31-9D67-437767787733}"/>
              </a:ext>
            </a:extLst>
          </p:cNvPr>
          <p:cNvSpPr>
            <a:spLocks noGrp="1"/>
          </p:cNvSpPr>
          <p:nvPr/>
        </p:nvSpPr>
        <p:spPr>
          <a:xfrm>
            <a:off x="5410200" y="56197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5558B30-4EDB-40BB-A43B-31958A3A2FED}"/>
              </a:ext>
            </a:extLst>
          </p:cNvPr>
          <p:cNvSpPr>
            <a:spLocks noGrp="1"/>
          </p:cNvSpPr>
          <p:nvPr/>
        </p:nvSpPr>
        <p:spPr>
          <a:xfrm>
            <a:off x="5486400" y="56959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109E98C-E393-41F1-BA64-74DE9F9B458B}"/>
              </a:ext>
            </a:extLst>
          </p:cNvPr>
          <p:cNvSpPr>
            <a:spLocks noGrp="1"/>
          </p:cNvSpPr>
          <p:nvPr/>
        </p:nvSpPr>
        <p:spPr>
          <a:xfrm>
            <a:off x="5810250" y="561975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C4E7B77-B382-4A75-AE71-17945FA53E62}"/>
              </a:ext>
            </a:extLst>
          </p:cNvPr>
          <p:cNvSpPr>
            <a:spLocks noGrp="1"/>
          </p:cNvSpPr>
          <p:nvPr/>
        </p:nvSpPr>
        <p:spPr>
          <a:xfrm>
            <a:off x="5886450" y="569595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exam_id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54DB862-843E-4C12-92FE-D11293EF578B}"/>
              </a:ext>
            </a:extLst>
          </p:cNvPr>
          <p:cNvSpPr>
            <a:spLocks noGrp="1"/>
          </p:cNvSpPr>
          <p:nvPr/>
        </p:nvSpPr>
        <p:spPr>
          <a:xfrm>
            <a:off x="5410200" y="59055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EF19D31-0DF9-4389-81A9-F4BAB9AEA621}"/>
              </a:ext>
            </a:extLst>
          </p:cNvPr>
          <p:cNvSpPr>
            <a:spLocks noGrp="1"/>
          </p:cNvSpPr>
          <p:nvPr/>
        </p:nvSpPr>
        <p:spPr>
          <a:xfrm>
            <a:off x="5486400" y="59817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1542696-3FF1-4A69-9F3D-3ECC77F03C56}"/>
              </a:ext>
            </a:extLst>
          </p:cNvPr>
          <p:cNvSpPr>
            <a:spLocks noGrp="1"/>
          </p:cNvSpPr>
          <p:nvPr/>
        </p:nvSpPr>
        <p:spPr>
          <a:xfrm>
            <a:off x="5810250" y="590550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C9AAE21-7BC1-431F-A1BA-CCDAC3ADFD18}"/>
              </a:ext>
            </a:extLst>
          </p:cNvPr>
          <p:cNvSpPr>
            <a:spLocks noGrp="1"/>
          </p:cNvSpPr>
          <p:nvPr/>
        </p:nvSpPr>
        <p:spPr>
          <a:xfrm>
            <a:off x="5886450" y="598170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student_user_id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F005733-6624-4FA6-A3C1-748FC5D82091}"/>
              </a:ext>
            </a:extLst>
          </p:cNvPr>
          <p:cNvSpPr>
            <a:spLocks noGrp="1"/>
          </p:cNvSpPr>
          <p:nvPr/>
        </p:nvSpPr>
        <p:spPr>
          <a:xfrm>
            <a:off x="5410200" y="61912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52529F3-C902-43BC-98D1-ECF027575A68}"/>
              </a:ext>
            </a:extLst>
          </p:cNvPr>
          <p:cNvSpPr>
            <a:spLocks noGrp="1"/>
          </p:cNvSpPr>
          <p:nvPr/>
        </p:nvSpPr>
        <p:spPr>
          <a:xfrm>
            <a:off x="5486400" y="62674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C964CF9-5A5E-4DAC-AF8D-B071E70ACC7B}"/>
              </a:ext>
            </a:extLst>
          </p:cNvPr>
          <p:cNvSpPr>
            <a:spLocks noGrp="1"/>
          </p:cNvSpPr>
          <p:nvPr/>
        </p:nvSpPr>
        <p:spPr>
          <a:xfrm>
            <a:off x="5810250" y="619125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3365B88-4845-480D-A1DF-E79CC965F4CB}"/>
              </a:ext>
            </a:extLst>
          </p:cNvPr>
          <p:cNvSpPr>
            <a:spLocks noGrp="1"/>
          </p:cNvSpPr>
          <p:nvPr/>
        </p:nvSpPr>
        <p:spPr>
          <a:xfrm>
            <a:off x="5886450" y="626745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status / score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0A82119-CB74-4D1A-9C01-DAE35BB8A13B}"/>
              </a:ext>
            </a:extLst>
          </p:cNvPr>
          <p:cNvSpPr>
            <a:spLocks noGrp="1"/>
          </p:cNvSpPr>
          <p:nvPr/>
        </p:nvSpPr>
        <p:spPr>
          <a:xfrm>
            <a:off x="5410200" y="64770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527D4BF-4505-47F0-A83F-FEEF54DD1FBF}"/>
              </a:ext>
            </a:extLst>
          </p:cNvPr>
          <p:cNvSpPr>
            <a:spLocks noGrp="1"/>
          </p:cNvSpPr>
          <p:nvPr/>
        </p:nvSpPr>
        <p:spPr>
          <a:xfrm>
            <a:off x="5486400" y="65532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FBF8A85-A897-45AB-98B4-0712F03D391E}"/>
              </a:ext>
            </a:extLst>
          </p:cNvPr>
          <p:cNvSpPr>
            <a:spLocks noGrp="1"/>
          </p:cNvSpPr>
          <p:nvPr/>
        </p:nvSpPr>
        <p:spPr>
          <a:xfrm>
            <a:off x="5810250" y="647700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C552C05-1BEA-404C-B23A-69F413BE7AAA}"/>
              </a:ext>
            </a:extLst>
          </p:cNvPr>
          <p:cNvSpPr>
            <a:spLocks noGrp="1"/>
          </p:cNvSpPr>
          <p:nvPr/>
        </p:nvSpPr>
        <p:spPr>
          <a:xfrm>
            <a:off x="5886450" y="655320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expires_at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C8AF171-15F1-4399-86DF-3AA9AD9C081B}"/>
              </a:ext>
            </a:extLst>
          </p:cNvPr>
          <p:cNvSpPr>
            <a:spLocks noGrp="1"/>
          </p:cNvSpPr>
          <p:nvPr/>
        </p:nvSpPr>
        <p:spPr>
          <a:xfrm>
            <a:off x="9201150" y="552450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3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4642F92-F18D-4E56-942A-85BA960732DD}"/>
              </a:ext>
            </a:extLst>
          </p:cNvPr>
          <p:cNvSpPr>
            <a:spLocks noGrp="1"/>
          </p:cNvSpPr>
          <p:nvPr/>
        </p:nvSpPr>
        <p:spPr>
          <a:xfrm>
            <a:off x="9201150" y="5905500"/>
            <a:ext cx="762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E51AB1D-6E72-4FD7-8B5B-6763AEBB5E2C}"/>
              </a:ext>
            </a:extLst>
          </p:cNvPr>
          <p:cNvSpPr>
            <a:spLocks noGrp="1"/>
          </p:cNvSpPr>
          <p:nvPr/>
        </p:nvSpPr>
        <p:spPr>
          <a:xfrm>
            <a:off x="9201150" y="6153150"/>
            <a:ext cx="76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contains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88053C20-347E-4929-A1C9-5EAC91D065B8}"/>
              </a:ext>
            </a:extLst>
          </p:cNvPr>
          <p:cNvSpPr>
            <a:spLocks noGrp="1"/>
          </p:cNvSpPr>
          <p:nvPr/>
        </p:nvSpPr>
        <p:spPr>
          <a:xfrm>
            <a:off x="10058400" y="4933950"/>
            <a:ext cx="3676650" cy="20193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DDE87B7-1CB6-4B13-A8D1-C6A4193B41CC}"/>
              </a:ext>
            </a:extLst>
          </p:cNvPr>
          <p:cNvSpPr>
            <a:spLocks noGrp="1"/>
          </p:cNvSpPr>
          <p:nvPr/>
        </p:nvSpPr>
        <p:spPr>
          <a:xfrm>
            <a:off x="10058400" y="4933950"/>
            <a:ext cx="3676650" cy="400050"/>
          </a:xfrm>
          <a:prstGeom prst="rect">
            <a:avLst/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6F2A62C-D4EA-4F9A-934B-BD54EE489447}"/>
              </a:ext>
            </a:extLst>
          </p:cNvPr>
          <p:cNvSpPr>
            <a:spLocks noGrp="1"/>
          </p:cNvSpPr>
          <p:nvPr/>
        </p:nvSpPr>
        <p:spPr>
          <a:xfrm>
            <a:off x="10172700" y="504825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exam_submission_answers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3E24542-CFC4-4BA8-A586-127BAEADC452}"/>
              </a:ext>
            </a:extLst>
          </p:cNvPr>
          <p:cNvSpPr>
            <a:spLocks noGrp="1"/>
          </p:cNvSpPr>
          <p:nvPr/>
        </p:nvSpPr>
        <p:spPr>
          <a:xfrm>
            <a:off x="10058400" y="5334000"/>
            <a:ext cx="400050" cy="285750"/>
          </a:xfrm>
          <a:prstGeom prst="rect">
            <a:avLst/>
          </a:prstGeom>
          <a:solidFill>
            <a:srgbClr val="EAF4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36EEA6B-A54D-4ED2-B1C3-ED6FFF99D984}"/>
              </a:ext>
            </a:extLst>
          </p:cNvPr>
          <p:cNvSpPr>
            <a:spLocks noGrp="1"/>
          </p:cNvSpPr>
          <p:nvPr/>
        </p:nvSpPr>
        <p:spPr>
          <a:xfrm>
            <a:off x="10134600" y="54102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PK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1E62EC4-2C31-4563-B887-44753EDE8717}"/>
              </a:ext>
            </a:extLst>
          </p:cNvPr>
          <p:cNvSpPr>
            <a:spLocks noGrp="1"/>
          </p:cNvSpPr>
          <p:nvPr/>
        </p:nvSpPr>
        <p:spPr>
          <a:xfrm>
            <a:off x="10458450" y="533400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7968206-B21A-4D54-8AAB-B4114E113C14}"/>
              </a:ext>
            </a:extLst>
          </p:cNvPr>
          <p:cNvSpPr>
            <a:spLocks noGrp="1"/>
          </p:cNvSpPr>
          <p:nvPr/>
        </p:nvSpPr>
        <p:spPr>
          <a:xfrm>
            <a:off x="10534650" y="541020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9F81FD2-1AF3-4CF8-B0EE-AA5BF29766B1}"/>
              </a:ext>
            </a:extLst>
          </p:cNvPr>
          <p:cNvSpPr>
            <a:spLocks noGrp="1"/>
          </p:cNvSpPr>
          <p:nvPr/>
        </p:nvSpPr>
        <p:spPr>
          <a:xfrm>
            <a:off x="10058400" y="56197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DFFA0CF-5A80-4642-A014-30B7A312FB18}"/>
              </a:ext>
            </a:extLst>
          </p:cNvPr>
          <p:cNvSpPr>
            <a:spLocks noGrp="1"/>
          </p:cNvSpPr>
          <p:nvPr/>
        </p:nvSpPr>
        <p:spPr>
          <a:xfrm>
            <a:off x="10134600" y="56959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BD04E86-0045-4EC1-9329-9E058CE2D8C3}"/>
              </a:ext>
            </a:extLst>
          </p:cNvPr>
          <p:cNvSpPr>
            <a:spLocks noGrp="1"/>
          </p:cNvSpPr>
          <p:nvPr/>
        </p:nvSpPr>
        <p:spPr>
          <a:xfrm>
            <a:off x="10458450" y="561975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6CE3660-89F9-4C10-9282-C6C827EA2072}"/>
              </a:ext>
            </a:extLst>
          </p:cNvPr>
          <p:cNvSpPr>
            <a:spLocks noGrp="1"/>
          </p:cNvSpPr>
          <p:nvPr/>
        </p:nvSpPr>
        <p:spPr>
          <a:xfrm>
            <a:off x="10534650" y="569595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submission_id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222A797-4884-439B-A251-A2916E3AA49F}"/>
              </a:ext>
            </a:extLst>
          </p:cNvPr>
          <p:cNvSpPr>
            <a:spLocks noGrp="1"/>
          </p:cNvSpPr>
          <p:nvPr/>
        </p:nvSpPr>
        <p:spPr>
          <a:xfrm>
            <a:off x="10058400" y="59055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E0DDEF1-8FC3-4837-9B4D-278E86668AF8}"/>
              </a:ext>
            </a:extLst>
          </p:cNvPr>
          <p:cNvSpPr>
            <a:spLocks noGrp="1"/>
          </p:cNvSpPr>
          <p:nvPr/>
        </p:nvSpPr>
        <p:spPr>
          <a:xfrm>
            <a:off x="10134600" y="59817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C17D2D3-4A6B-4A9F-881F-46C8FC96F583}"/>
              </a:ext>
            </a:extLst>
          </p:cNvPr>
          <p:cNvSpPr>
            <a:spLocks noGrp="1"/>
          </p:cNvSpPr>
          <p:nvPr/>
        </p:nvSpPr>
        <p:spPr>
          <a:xfrm>
            <a:off x="10458450" y="590550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6028654-0E8C-46FC-96BC-586E28EC2288}"/>
              </a:ext>
            </a:extLst>
          </p:cNvPr>
          <p:cNvSpPr>
            <a:spLocks noGrp="1"/>
          </p:cNvSpPr>
          <p:nvPr/>
        </p:nvSpPr>
        <p:spPr>
          <a:xfrm>
            <a:off x="10534650" y="598170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question_id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1DBA1E8-6927-4FE9-8806-C4A643552B84}"/>
              </a:ext>
            </a:extLst>
          </p:cNvPr>
          <p:cNvSpPr>
            <a:spLocks noGrp="1"/>
          </p:cNvSpPr>
          <p:nvPr/>
        </p:nvSpPr>
        <p:spPr>
          <a:xfrm>
            <a:off x="10058400" y="619125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BF2A925-3344-4037-B17B-35BEC403E94D}"/>
              </a:ext>
            </a:extLst>
          </p:cNvPr>
          <p:cNvSpPr>
            <a:spLocks noGrp="1"/>
          </p:cNvSpPr>
          <p:nvPr/>
        </p:nvSpPr>
        <p:spPr>
          <a:xfrm>
            <a:off x="10134600" y="626745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 b="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FK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1B007D8-34AD-4C57-B66B-6335702183CA}"/>
              </a:ext>
            </a:extLst>
          </p:cNvPr>
          <p:cNvSpPr>
            <a:spLocks noGrp="1"/>
          </p:cNvSpPr>
          <p:nvPr/>
        </p:nvSpPr>
        <p:spPr>
          <a:xfrm>
            <a:off x="10458450" y="619125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2EB5C2A-D1EE-4E93-B2EE-72FC374EF0AC}"/>
              </a:ext>
            </a:extLst>
          </p:cNvPr>
          <p:cNvSpPr>
            <a:spLocks noGrp="1"/>
          </p:cNvSpPr>
          <p:nvPr/>
        </p:nvSpPr>
        <p:spPr>
          <a:xfrm>
            <a:off x="10534650" y="626745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selected_option_id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F313B95-B3F4-45AB-A9D1-F4C6148839EF}"/>
              </a:ext>
            </a:extLst>
          </p:cNvPr>
          <p:cNvSpPr>
            <a:spLocks noGrp="1"/>
          </p:cNvSpPr>
          <p:nvPr/>
        </p:nvSpPr>
        <p:spPr>
          <a:xfrm>
            <a:off x="10058400" y="6477000"/>
            <a:ext cx="4000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3CAF3E0-4BBD-4BCC-9287-D86116190B43}"/>
              </a:ext>
            </a:extLst>
          </p:cNvPr>
          <p:cNvSpPr>
            <a:spLocks noGrp="1"/>
          </p:cNvSpPr>
          <p:nvPr/>
        </p:nvSpPr>
        <p:spPr>
          <a:xfrm>
            <a:off x="10134600" y="6553200"/>
            <a:ext cx="266700" cy="20955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ABA2C8B-E0C2-471C-952D-D077A2E64F39}"/>
              </a:ext>
            </a:extLst>
          </p:cNvPr>
          <p:cNvSpPr>
            <a:spLocks noGrp="1"/>
          </p:cNvSpPr>
          <p:nvPr/>
        </p:nvSpPr>
        <p:spPr>
          <a:xfrm>
            <a:off x="10458450" y="6477000"/>
            <a:ext cx="32766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A5EF5C2-F5F8-4F56-918B-61D5F04FAE80}"/>
              </a:ext>
            </a:extLst>
          </p:cNvPr>
          <p:cNvSpPr>
            <a:spLocks noGrp="1"/>
          </p:cNvSpPr>
          <p:nvPr/>
        </p:nvSpPr>
        <p:spPr>
          <a:xfrm>
            <a:off x="10534650" y="6553200"/>
            <a:ext cx="3124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is_correct / score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2B517858-24B2-4AD3-A6AD-95ED70C02939}"/>
              </a:ext>
            </a:extLst>
          </p:cNvPr>
          <p:cNvSpPr>
            <a:spLocks noGrp="1"/>
          </p:cNvSpPr>
          <p:nvPr/>
        </p:nvSpPr>
        <p:spPr>
          <a:xfrm>
            <a:off x="13849350" y="4933950"/>
            <a:ext cx="3676650" cy="2019300"/>
          </a:xfrm>
          <a:prstGeom prst="roundRect">
            <a:avLst>
              <a:gd name="adj" fmla="val 3774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5E3E1FF-8C91-43E8-847C-D69D16AAA52A}"/>
              </a:ext>
            </a:extLst>
          </p:cNvPr>
          <p:cNvSpPr>
            <a:spLocks noGrp="1"/>
          </p:cNvSpPr>
          <p:nvPr/>
        </p:nvSpPr>
        <p:spPr>
          <a:xfrm>
            <a:off x="13982700" y="5048250"/>
            <a:ext cx="34099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선택형 문항은 option 관계로 자동 채점 근거를 남깁니다.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837964C4-3D4A-4E2F-A55C-8A08BF8C0194}"/>
              </a:ext>
            </a:extLst>
          </p:cNvPr>
          <p:cNvSpPr>
            <a:spLocks noGrp="1"/>
          </p:cNvSpPr>
          <p:nvPr/>
        </p:nvSpPr>
        <p:spPr>
          <a:xfrm>
            <a:off x="762000" y="7105650"/>
            <a:ext cx="54737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ECA843B6-8D0D-461F-BBA3-183A1729AB2C}"/>
              </a:ext>
            </a:extLst>
          </p:cNvPr>
          <p:cNvSpPr>
            <a:spLocks noGrp="1"/>
          </p:cNvSpPr>
          <p:nvPr/>
        </p:nvSpPr>
        <p:spPr>
          <a:xfrm>
            <a:off x="952500" y="72580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9732F3B-0EA4-462E-8EE6-94CABA5B7CA8}"/>
              </a:ext>
            </a:extLst>
          </p:cNvPr>
          <p:cNvSpPr>
            <a:spLocks noGrp="1"/>
          </p:cNvSpPr>
          <p:nvPr/>
        </p:nvSpPr>
        <p:spPr>
          <a:xfrm>
            <a:off x="952500" y="7372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시험 구조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795684D-669B-4347-A9AB-6598890A5469}"/>
              </a:ext>
            </a:extLst>
          </p:cNvPr>
          <p:cNvSpPr>
            <a:spLocks noGrp="1"/>
          </p:cNvSpPr>
          <p:nvPr/>
        </p:nvSpPr>
        <p:spPr>
          <a:xfrm>
            <a:off x="952500" y="77152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courses → exams → questions → options</a:t>
            </a: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96165784-4100-45AB-9142-92DC00AE4C7C}"/>
              </a:ext>
            </a:extLst>
          </p:cNvPr>
          <p:cNvSpPr>
            <a:spLocks noGrp="1"/>
          </p:cNvSpPr>
          <p:nvPr/>
        </p:nvSpPr>
        <p:spPr>
          <a:xfrm>
            <a:off x="6407150" y="7105650"/>
            <a:ext cx="54737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6040829-35C5-484C-8E61-1B98A8FF0E26}"/>
              </a:ext>
            </a:extLst>
          </p:cNvPr>
          <p:cNvSpPr>
            <a:spLocks noGrp="1"/>
          </p:cNvSpPr>
          <p:nvPr/>
        </p:nvSpPr>
        <p:spPr>
          <a:xfrm>
            <a:off x="6591300" y="72580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1B676D0-1594-4CB1-847E-66BF7CCDAA9A}"/>
              </a:ext>
            </a:extLst>
          </p:cNvPr>
          <p:cNvSpPr>
            <a:spLocks noGrp="1"/>
          </p:cNvSpPr>
          <p:nvPr/>
        </p:nvSpPr>
        <p:spPr>
          <a:xfrm>
            <a:off x="6591300" y="7372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응시 구조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CECB0C6-1C63-45EA-9738-23765ACFBBF6}"/>
              </a:ext>
            </a:extLst>
          </p:cNvPr>
          <p:cNvSpPr>
            <a:spLocks noGrp="1"/>
          </p:cNvSpPr>
          <p:nvPr/>
        </p:nvSpPr>
        <p:spPr>
          <a:xfrm>
            <a:off x="6591300" y="77152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users → submissions → submission_answers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EE8E494B-0A78-4599-A29F-3208A7733920}"/>
              </a:ext>
            </a:extLst>
          </p:cNvPr>
          <p:cNvSpPr>
            <a:spLocks noGrp="1"/>
          </p:cNvSpPr>
          <p:nvPr/>
        </p:nvSpPr>
        <p:spPr>
          <a:xfrm>
            <a:off x="12052300" y="7105650"/>
            <a:ext cx="54737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A4BC9A5-A457-4E58-8B93-8D9DDECF2683}"/>
              </a:ext>
            </a:extLst>
          </p:cNvPr>
          <p:cNvSpPr>
            <a:spLocks noGrp="1"/>
          </p:cNvSpPr>
          <p:nvPr/>
        </p:nvSpPr>
        <p:spPr>
          <a:xfrm>
            <a:off x="12249150" y="72580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FE7AC73-51D8-46E8-8E83-35D740D09184}"/>
              </a:ext>
            </a:extLst>
          </p:cNvPr>
          <p:cNvSpPr>
            <a:spLocks noGrp="1"/>
          </p:cNvSpPr>
          <p:nvPr/>
        </p:nvSpPr>
        <p:spPr>
          <a:xfrm>
            <a:off x="12249150" y="7372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채점 근거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FE143B9-89CA-4BF2-8591-D8B7D07182EE}"/>
              </a:ext>
            </a:extLst>
          </p:cNvPr>
          <p:cNvSpPr>
            <a:spLocks noGrp="1"/>
          </p:cNvSpPr>
          <p:nvPr/>
        </p:nvSpPr>
        <p:spPr>
          <a:xfrm>
            <a:off x="12249150" y="77152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선택지와 답안 관계로 객관식/진위형 자동 채점</a:t>
            </a: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6B5F1A40-0968-475C-9D9F-36117C56F1B3}"/>
              </a:ext>
            </a:extLst>
          </p:cNvPr>
          <p:cNvSpPr>
            <a:spLocks noGrp="1"/>
          </p:cNvSpPr>
          <p:nvPr/>
        </p:nvSpPr>
        <p:spPr>
          <a:xfrm>
            <a:off x="762000" y="8277225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C1679C4-9C8C-4DA7-A798-9E1E3E4A289C}"/>
              </a:ext>
            </a:extLst>
          </p:cNvPr>
          <p:cNvSpPr>
            <a:spLocks noGrp="1"/>
          </p:cNvSpPr>
          <p:nvPr/>
        </p:nvSpPr>
        <p:spPr>
          <a:xfrm>
            <a:off x="971550" y="85344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시험 정책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8A456D1-27E2-4729-ADB3-58B928AC776E}"/>
              </a:ext>
            </a:extLst>
          </p:cNvPr>
          <p:cNvSpPr>
            <a:spLocks noGrp="1"/>
          </p:cNvSpPr>
          <p:nvPr/>
        </p:nvSpPr>
        <p:spPr>
          <a:xfrm>
            <a:off x="2571750" y="85344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로컬 MVP는 objective exam workflow와 start guard를 구현하며, 운영 수준 재실성 강제 정책은 후속 결정으로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2045410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4C1145EA-E9FA-4E0E-BA7E-CC38993A19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938E8D7-B567-41DE-857D-1288C7007E1B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4E02EA-05C1-458E-ADD0-3EE977D13769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CI/CD 설계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29E95-BD96-461A-9184-85051AD4845C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PR 검증을 통과한 변경만 이미지·릴리스·시연 배포 흐름으로 진행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3C720-EF68-4BEC-AD79-407B023C8C82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8431DB-06C4-46F4-82B5-FC9FE55645DF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91A613-9E9B-4CE3-9F1A-2EA7FBDC9D6F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35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1CB1E9-B876-4332-9F47-B94F82BF44C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619250" cy="99060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9525">
            <a:solidFill>
              <a:srgbClr val="102A4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4006AE-4D8B-4497-A388-B18333B5252A}"/>
              </a:ext>
            </a:extLst>
          </p:cNvPr>
          <p:cNvSpPr>
            <a:spLocks noGrp="1"/>
          </p:cNvSpPr>
          <p:nvPr/>
        </p:nvSpPr>
        <p:spPr>
          <a:xfrm>
            <a:off x="895350" y="2362200"/>
            <a:ext cx="1352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PR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F1638F-3F72-46F8-AABB-E8AEE44AD354}"/>
              </a:ext>
            </a:extLst>
          </p:cNvPr>
          <p:cNvSpPr>
            <a:spLocks noGrp="1"/>
          </p:cNvSpPr>
          <p:nvPr/>
        </p:nvSpPr>
        <p:spPr>
          <a:xfrm>
            <a:off x="895350" y="2609850"/>
            <a:ext cx="1352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변경 제안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73CA22-433E-40AD-ACE3-AA969D0FE956}"/>
              </a:ext>
            </a:extLst>
          </p:cNvPr>
          <p:cNvSpPr>
            <a:spLocks noGrp="1"/>
          </p:cNvSpPr>
          <p:nvPr/>
        </p:nvSpPr>
        <p:spPr>
          <a:xfrm>
            <a:off x="2476500" y="2266950"/>
            <a:ext cx="800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E7249F-43E3-4EAA-BDBC-BC2203B2DF04}"/>
              </a:ext>
            </a:extLst>
          </p:cNvPr>
          <p:cNvSpPr>
            <a:spLocks noGrp="1"/>
          </p:cNvSpPr>
          <p:nvPr/>
        </p:nvSpPr>
        <p:spPr>
          <a:xfrm>
            <a:off x="2476500" y="2705100"/>
            <a:ext cx="80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checks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AC20105-72A6-4F09-A05B-CEFB7763119E}"/>
              </a:ext>
            </a:extLst>
          </p:cNvPr>
          <p:cNvSpPr>
            <a:spLocks noGrp="1"/>
          </p:cNvSpPr>
          <p:nvPr/>
        </p:nvSpPr>
        <p:spPr>
          <a:xfrm>
            <a:off x="3352800" y="2095500"/>
            <a:ext cx="2095500" cy="990600"/>
          </a:xfrm>
          <a:prstGeom prst="roundRect">
            <a:avLst>
              <a:gd name="adj" fmla="val 7692"/>
            </a:avLst>
          </a:prstGeom>
          <a:solidFill>
            <a:srgbClr val="ECF8F1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211EE2-74F2-4FCE-B45B-CF4B10403535}"/>
              </a:ext>
            </a:extLst>
          </p:cNvPr>
          <p:cNvSpPr>
            <a:spLocks noGrp="1"/>
          </p:cNvSpPr>
          <p:nvPr/>
        </p:nvSpPr>
        <p:spPr>
          <a:xfrm>
            <a:off x="3486150" y="2362200"/>
            <a:ext cx="1828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Review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A9965A-F37C-4CB0-B0D6-0D7C7CA8838E}"/>
              </a:ext>
            </a:extLst>
          </p:cNvPr>
          <p:cNvSpPr>
            <a:spLocks noGrp="1"/>
          </p:cNvSpPr>
          <p:nvPr/>
        </p:nvSpPr>
        <p:spPr>
          <a:xfrm>
            <a:off x="3486150" y="2609850"/>
            <a:ext cx="1828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CI 통과 + 코드 리뷰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FEB33-7E0B-463F-95F9-7CB3206B0205}"/>
              </a:ext>
            </a:extLst>
          </p:cNvPr>
          <p:cNvSpPr>
            <a:spLocks noGrp="1"/>
          </p:cNvSpPr>
          <p:nvPr/>
        </p:nvSpPr>
        <p:spPr>
          <a:xfrm>
            <a:off x="5543550" y="2266950"/>
            <a:ext cx="800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F71363-F63A-4B2A-8EBC-D1F2AD25C8FC}"/>
              </a:ext>
            </a:extLst>
          </p:cNvPr>
          <p:cNvSpPr>
            <a:spLocks noGrp="1"/>
          </p:cNvSpPr>
          <p:nvPr/>
        </p:nvSpPr>
        <p:spPr>
          <a:xfrm>
            <a:off x="5543550" y="2705100"/>
            <a:ext cx="80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merge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4AB5B96-45B9-4A9C-88D8-EFAFA6590348}"/>
              </a:ext>
            </a:extLst>
          </p:cNvPr>
          <p:cNvSpPr>
            <a:spLocks noGrp="1"/>
          </p:cNvSpPr>
          <p:nvPr/>
        </p:nvSpPr>
        <p:spPr>
          <a:xfrm>
            <a:off x="6419850" y="2095500"/>
            <a:ext cx="2000250" cy="990600"/>
          </a:xfrm>
          <a:prstGeom prst="roundRect">
            <a:avLst>
              <a:gd name="adj" fmla="val 7692"/>
            </a:avLst>
          </a:prstGeom>
          <a:solidFill>
            <a:srgbClr val="ECF8F1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813280-9D8F-421F-BFA2-CED93C840978}"/>
              </a:ext>
            </a:extLst>
          </p:cNvPr>
          <p:cNvSpPr>
            <a:spLocks noGrp="1"/>
          </p:cNvSpPr>
          <p:nvPr/>
        </p:nvSpPr>
        <p:spPr>
          <a:xfrm>
            <a:off x="6553200" y="2362200"/>
            <a:ext cx="1733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main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0E4556-DE58-4B50-995E-84AC048DF3F5}"/>
              </a:ext>
            </a:extLst>
          </p:cNvPr>
          <p:cNvSpPr>
            <a:spLocks noGrp="1"/>
          </p:cNvSpPr>
          <p:nvPr/>
        </p:nvSpPr>
        <p:spPr>
          <a:xfrm>
            <a:off x="6553200" y="2609850"/>
            <a:ext cx="1733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릴리스 기준 브랜치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A8C31A-83FC-4B62-9A43-4AB2FF5CB81D}"/>
              </a:ext>
            </a:extLst>
          </p:cNvPr>
          <p:cNvSpPr>
            <a:spLocks noGrp="1"/>
          </p:cNvSpPr>
          <p:nvPr/>
        </p:nvSpPr>
        <p:spPr>
          <a:xfrm>
            <a:off x="8515350" y="2266950"/>
            <a:ext cx="800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A2E537-A7EC-4C2F-845F-3E4892AB6AD1}"/>
              </a:ext>
            </a:extLst>
          </p:cNvPr>
          <p:cNvSpPr>
            <a:spLocks noGrp="1"/>
          </p:cNvSpPr>
          <p:nvPr/>
        </p:nvSpPr>
        <p:spPr>
          <a:xfrm>
            <a:off x="8515350" y="2705100"/>
            <a:ext cx="80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build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EC491C2-8969-4008-A9BC-B517F13E231E}"/>
              </a:ext>
            </a:extLst>
          </p:cNvPr>
          <p:cNvSpPr>
            <a:spLocks noGrp="1"/>
          </p:cNvSpPr>
          <p:nvPr/>
        </p:nvSpPr>
        <p:spPr>
          <a:xfrm>
            <a:off x="9391650" y="2095500"/>
            <a:ext cx="2667000" cy="990600"/>
          </a:xfrm>
          <a:prstGeom prst="roundRect">
            <a:avLst>
              <a:gd name="adj" fmla="val 7692"/>
            </a:avLst>
          </a:prstGeom>
          <a:solidFill>
            <a:srgbClr val="EEF5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BE8580-635B-4992-BBF4-23C34BD31AE2}"/>
              </a:ext>
            </a:extLst>
          </p:cNvPr>
          <p:cNvSpPr>
            <a:spLocks noGrp="1"/>
          </p:cNvSpPr>
          <p:nvPr/>
        </p:nvSpPr>
        <p:spPr>
          <a:xfrm>
            <a:off x="9525000" y="2362200"/>
            <a:ext cx="2400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Component Images Build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C724BD-D21F-4654-AC5E-DFF80960D994}"/>
              </a:ext>
            </a:extLst>
          </p:cNvPr>
          <p:cNvSpPr>
            <a:spLocks noGrp="1"/>
          </p:cNvSpPr>
          <p:nvPr/>
        </p:nvSpPr>
        <p:spPr>
          <a:xfrm>
            <a:off x="9525000" y="2609850"/>
            <a:ext cx="24003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서비스별 Docker image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8C1900-AC61-4C4A-8D70-91DE178DDE10}"/>
              </a:ext>
            </a:extLst>
          </p:cNvPr>
          <p:cNvSpPr>
            <a:spLocks noGrp="1"/>
          </p:cNvSpPr>
          <p:nvPr/>
        </p:nvSpPr>
        <p:spPr>
          <a:xfrm>
            <a:off x="12153900" y="2266950"/>
            <a:ext cx="800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AACCE8-7E46-4F5C-91D3-D4D8F6CCCF1B}"/>
              </a:ext>
            </a:extLst>
          </p:cNvPr>
          <p:cNvSpPr>
            <a:spLocks noGrp="1"/>
          </p:cNvSpPr>
          <p:nvPr/>
        </p:nvSpPr>
        <p:spPr>
          <a:xfrm>
            <a:off x="12153900" y="2705100"/>
            <a:ext cx="80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publish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68C8EA1-817F-4AF4-A5C6-2A561BD77CA4}"/>
              </a:ext>
            </a:extLst>
          </p:cNvPr>
          <p:cNvSpPr>
            <a:spLocks noGrp="1"/>
          </p:cNvSpPr>
          <p:nvPr/>
        </p:nvSpPr>
        <p:spPr>
          <a:xfrm>
            <a:off x="13030200" y="2095500"/>
            <a:ext cx="18097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7267E6-9CBF-432E-B24C-A03A545636E2}"/>
              </a:ext>
            </a:extLst>
          </p:cNvPr>
          <p:cNvSpPr>
            <a:spLocks noGrp="1"/>
          </p:cNvSpPr>
          <p:nvPr/>
        </p:nvSpPr>
        <p:spPr>
          <a:xfrm>
            <a:off x="13163550" y="2266950"/>
            <a:ext cx="1543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GHCR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5E0D51-7A37-436C-9148-A85FCCAECD8A}"/>
              </a:ext>
            </a:extLst>
          </p:cNvPr>
          <p:cNvSpPr>
            <a:spLocks noGrp="1"/>
          </p:cNvSpPr>
          <p:nvPr/>
        </p:nvSpPr>
        <p:spPr>
          <a:xfrm>
            <a:off x="13163550" y="2495550"/>
            <a:ext cx="1543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public image registry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AA72105-F074-4A76-9BCC-547F187D6589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18097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9D2E78-AB74-475E-9009-F8AD0DBCC7EB}"/>
              </a:ext>
            </a:extLst>
          </p:cNvPr>
          <p:cNvSpPr>
            <a:spLocks noGrp="1"/>
          </p:cNvSpPr>
          <p:nvPr/>
        </p:nvSpPr>
        <p:spPr>
          <a:xfrm>
            <a:off x="895350" y="3505200"/>
            <a:ext cx="1543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GHCR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421448-919D-48BC-9DF3-CFBE2968C053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1543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published image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D94740-61C2-46BE-A7FF-A89FE737622D}"/>
              </a:ext>
            </a:extLst>
          </p:cNvPr>
          <p:cNvSpPr>
            <a:spLocks noGrp="1"/>
          </p:cNvSpPr>
          <p:nvPr/>
        </p:nvSpPr>
        <p:spPr>
          <a:xfrm>
            <a:off x="2667000" y="3409950"/>
            <a:ext cx="800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CB2175-E359-4738-8D41-8DCDF6F73CD5}"/>
              </a:ext>
            </a:extLst>
          </p:cNvPr>
          <p:cNvSpPr>
            <a:spLocks noGrp="1"/>
          </p:cNvSpPr>
          <p:nvPr/>
        </p:nvSpPr>
        <p:spPr>
          <a:xfrm>
            <a:off x="2667000" y="3848100"/>
            <a:ext cx="80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release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D116324-BFA5-4D14-A2BA-4CAF3627E1F8}"/>
              </a:ext>
            </a:extLst>
          </p:cNvPr>
          <p:cNvSpPr>
            <a:spLocks noGrp="1"/>
          </p:cNvSpPr>
          <p:nvPr/>
        </p:nvSpPr>
        <p:spPr>
          <a:xfrm>
            <a:off x="3543300" y="323850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ECF8F1"/>
          </a:solidFill>
          <a:ln w="9525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2EA722-7B70-4006-96C7-B3868394C17C}"/>
              </a:ext>
            </a:extLst>
          </p:cNvPr>
          <p:cNvSpPr>
            <a:spLocks noGrp="1"/>
          </p:cNvSpPr>
          <p:nvPr/>
        </p:nvSpPr>
        <p:spPr>
          <a:xfrm>
            <a:off x="3676650" y="3505200"/>
            <a:ext cx="2209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Release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AD98B4-2758-4995-B085-354F270D86E2}"/>
              </a:ext>
            </a:extLst>
          </p:cNvPr>
          <p:cNvSpPr>
            <a:spLocks noGrp="1"/>
          </p:cNvSpPr>
          <p:nvPr/>
        </p:nvSpPr>
        <p:spPr>
          <a:xfrm>
            <a:off x="3676650" y="3752850"/>
            <a:ext cx="2209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version / changelog / tag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4FFA652-F664-4AA4-8F62-B5B6F854EC1E}"/>
              </a:ext>
            </a:extLst>
          </p:cNvPr>
          <p:cNvSpPr>
            <a:spLocks noGrp="1"/>
          </p:cNvSpPr>
          <p:nvPr/>
        </p:nvSpPr>
        <p:spPr>
          <a:xfrm>
            <a:off x="6115050" y="3409950"/>
            <a:ext cx="800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90156FD-62C4-4DE7-A6B3-811E2FE181AE}"/>
              </a:ext>
            </a:extLst>
          </p:cNvPr>
          <p:cNvSpPr>
            <a:spLocks noGrp="1"/>
          </p:cNvSpPr>
          <p:nvPr/>
        </p:nvSpPr>
        <p:spPr>
          <a:xfrm>
            <a:off x="6115050" y="3848100"/>
            <a:ext cx="80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pin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70AED20-F8B2-47FA-8A32-9240149F8F95}"/>
              </a:ext>
            </a:extLst>
          </p:cNvPr>
          <p:cNvSpPr>
            <a:spLocks noGrp="1"/>
          </p:cNvSpPr>
          <p:nvPr/>
        </p:nvSpPr>
        <p:spPr>
          <a:xfrm>
            <a:off x="6991350" y="3238500"/>
            <a:ext cx="2667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102A4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4BAAB89-AAD8-42AD-A7DE-39762ADD3F2C}"/>
              </a:ext>
            </a:extLst>
          </p:cNvPr>
          <p:cNvSpPr>
            <a:spLocks noGrp="1"/>
          </p:cNvSpPr>
          <p:nvPr/>
        </p:nvSpPr>
        <p:spPr>
          <a:xfrm>
            <a:off x="7124700" y="3505200"/>
            <a:ext cx="2400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Service Manifest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975E9B6-9D91-4EFF-8C69-286D663FD668}"/>
              </a:ext>
            </a:extLst>
          </p:cNvPr>
          <p:cNvSpPr>
            <a:spLocks noGrp="1"/>
          </p:cNvSpPr>
          <p:nvPr/>
        </p:nvSpPr>
        <p:spPr>
          <a:xfrm>
            <a:off x="7124700" y="3752850"/>
            <a:ext cx="24003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image ref + digest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2CBB76-4C41-435B-A8AF-ED95486E860A}"/>
              </a:ext>
            </a:extLst>
          </p:cNvPr>
          <p:cNvSpPr>
            <a:spLocks noGrp="1"/>
          </p:cNvSpPr>
          <p:nvPr/>
        </p:nvSpPr>
        <p:spPr>
          <a:xfrm>
            <a:off x="9753600" y="3409950"/>
            <a:ext cx="800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26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39E182-F255-46E9-9978-4B14093374CF}"/>
              </a:ext>
            </a:extLst>
          </p:cNvPr>
          <p:cNvSpPr>
            <a:spLocks noGrp="1"/>
          </p:cNvSpPr>
          <p:nvPr/>
        </p:nvSpPr>
        <p:spPr>
          <a:xfrm>
            <a:off x="9753600" y="3848100"/>
            <a:ext cx="80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deploy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3ED439C-EAE2-43B7-86B1-65185796C9E8}"/>
              </a:ext>
            </a:extLst>
          </p:cNvPr>
          <p:cNvSpPr>
            <a:spLocks noGrp="1"/>
          </p:cNvSpPr>
          <p:nvPr/>
        </p:nvSpPr>
        <p:spPr>
          <a:xfrm>
            <a:off x="10629900" y="3238500"/>
            <a:ext cx="2381250" cy="990600"/>
          </a:xfrm>
          <a:prstGeom prst="roundRect">
            <a:avLst>
              <a:gd name="adj" fmla="val 7692"/>
            </a:avLst>
          </a:prstGeom>
          <a:solidFill>
            <a:srgbClr val="FFF7E8"/>
          </a:solidFill>
          <a:ln w="9525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64783A2-EAA4-4E6E-8B3D-0DAFEB5377B9}"/>
              </a:ext>
            </a:extLst>
          </p:cNvPr>
          <p:cNvSpPr>
            <a:spLocks noGrp="1"/>
          </p:cNvSpPr>
          <p:nvPr/>
        </p:nvSpPr>
        <p:spPr>
          <a:xfrm>
            <a:off x="10763250" y="3505200"/>
            <a:ext cx="2114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Demo Deploy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64F740-2DDD-47A9-9DF9-0717C6B447B2}"/>
              </a:ext>
            </a:extLst>
          </p:cNvPr>
          <p:cNvSpPr>
            <a:spLocks noGrp="1"/>
          </p:cNvSpPr>
          <p:nvPr/>
        </p:nvSpPr>
        <p:spPr>
          <a:xfrm>
            <a:off x="10763250" y="3752850"/>
            <a:ext cx="2114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render + healthcheck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3643F4F-80DF-4F72-865D-A37B92DAEB7A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54737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DF4415D-42BB-49E5-AA69-E9657E7B27BC}"/>
              </a:ext>
            </a:extLst>
          </p:cNvPr>
          <p:cNvSpPr>
            <a:spLocks noGrp="1"/>
          </p:cNvSpPr>
          <p:nvPr/>
        </p:nvSpPr>
        <p:spPr>
          <a:xfrm>
            <a:off x="952500" y="4705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PR gate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ACF176B-C225-4D01-8D2C-6104D03659C5}"/>
              </a:ext>
            </a:extLst>
          </p:cNvPr>
          <p:cNvSpPr>
            <a:spLocks noGrp="1"/>
          </p:cNvSpPr>
          <p:nvPr/>
        </p:nvSpPr>
        <p:spPr>
          <a:xfrm>
            <a:off x="952500" y="5086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4BC6BCD-0631-43EA-8A84-D81760802FDB}"/>
              </a:ext>
            </a:extLst>
          </p:cNvPr>
          <p:cNvSpPr>
            <a:spLocks noGrp="1"/>
          </p:cNvSpPr>
          <p:nvPr/>
        </p:nvSpPr>
        <p:spPr>
          <a:xfrm>
            <a:off x="1200150" y="508635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문서 검증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51A709D-8BEF-4794-873E-D43FED5171FB}"/>
              </a:ext>
            </a:extLst>
          </p:cNvPr>
          <p:cNvSpPr>
            <a:spLocks noGrp="1"/>
          </p:cNvSpPr>
          <p:nvPr/>
        </p:nvSpPr>
        <p:spPr>
          <a:xfrm>
            <a:off x="952500" y="5410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D375D58-2257-4704-B1D3-5B01B8C09F41}"/>
              </a:ext>
            </a:extLst>
          </p:cNvPr>
          <p:cNvSpPr>
            <a:spLocks noGrp="1"/>
          </p:cNvSpPr>
          <p:nvPr/>
        </p:nvSpPr>
        <p:spPr>
          <a:xfrm>
            <a:off x="1200150" y="541020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API/서비스 테스트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9267050-DFF1-41B3-AFA8-C2895960A6E0}"/>
              </a:ext>
            </a:extLst>
          </p:cNvPr>
          <p:cNvSpPr>
            <a:spLocks noGrp="1"/>
          </p:cNvSpPr>
          <p:nvPr/>
        </p:nvSpPr>
        <p:spPr>
          <a:xfrm>
            <a:off x="952500" y="5734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313C00A-21E6-4FF7-8EAE-1AB1FEA65CD8}"/>
              </a:ext>
            </a:extLst>
          </p:cNvPr>
          <p:cNvSpPr>
            <a:spLocks noGrp="1"/>
          </p:cNvSpPr>
          <p:nvPr/>
        </p:nvSpPr>
        <p:spPr>
          <a:xfrm>
            <a:off x="1200150" y="573405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Front lint/build/e2e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3289393-C39E-451B-BAAA-25DE0C7B8D30}"/>
              </a:ext>
            </a:extLst>
          </p:cNvPr>
          <p:cNvSpPr>
            <a:spLocks noGrp="1"/>
          </p:cNvSpPr>
          <p:nvPr/>
        </p:nvSpPr>
        <p:spPr>
          <a:xfrm>
            <a:off x="952500" y="6057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3FA9B36-8830-4379-80DF-4D091A5EE472}"/>
              </a:ext>
            </a:extLst>
          </p:cNvPr>
          <p:cNvSpPr>
            <a:spLocks noGrp="1"/>
          </p:cNvSpPr>
          <p:nvPr/>
        </p:nvSpPr>
        <p:spPr>
          <a:xfrm>
            <a:off x="1200150" y="605790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DB init smoke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630068DC-95FE-41A8-A633-582EE834983A}"/>
              </a:ext>
            </a:extLst>
          </p:cNvPr>
          <p:cNvSpPr>
            <a:spLocks noGrp="1"/>
          </p:cNvSpPr>
          <p:nvPr/>
        </p:nvSpPr>
        <p:spPr>
          <a:xfrm>
            <a:off x="6407150" y="4552950"/>
            <a:ext cx="54737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8470C25-3BC0-4A25-AD4B-E01A782EBA08}"/>
              </a:ext>
            </a:extLst>
          </p:cNvPr>
          <p:cNvSpPr>
            <a:spLocks noGrp="1"/>
          </p:cNvSpPr>
          <p:nvPr/>
        </p:nvSpPr>
        <p:spPr>
          <a:xfrm>
            <a:off x="6591300" y="4705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Artifact gate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07EDE0-BA13-4529-A55F-8E297A8B742A}"/>
              </a:ext>
            </a:extLst>
          </p:cNvPr>
          <p:cNvSpPr>
            <a:spLocks noGrp="1"/>
          </p:cNvSpPr>
          <p:nvPr/>
        </p:nvSpPr>
        <p:spPr>
          <a:xfrm>
            <a:off x="6591300" y="5086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68CB980-F85E-446E-907C-1C2A05FABC9A}"/>
              </a:ext>
            </a:extLst>
          </p:cNvPr>
          <p:cNvSpPr>
            <a:spLocks noGrp="1"/>
          </p:cNvSpPr>
          <p:nvPr/>
        </p:nvSpPr>
        <p:spPr>
          <a:xfrm>
            <a:off x="6838950" y="508635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component image build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94DCC2F-86B9-4DE8-BE3D-AD4616B494A6}"/>
              </a:ext>
            </a:extLst>
          </p:cNvPr>
          <p:cNvSpPr>
            <a:spLocks noGrp="1"/>
          </p:cNvSpPr>
          <p:nvPr/>
        </p:nvSpPr>
        <p:spPr>
          <a:xfrm>
            <a:off x="6591300" y="5410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E3FED9B-2530-4EAC-BB71-C5358AD22726}"/>
              </a:ext>
            </a:extLst>
          </p:cNvPr>
          <p:cNvSpPr>
            <a:spLocks noGrp="1"/>
          </p:cNvSpPr>
          <p:nvPr/>
        </p:nvSpPr>
        <p:spPr>
          <a:xfrm>
            <a:off x="6838950" y="541020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GHCR public pull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0A1DB5-4211-4472-BD12-642516744B14}"/>
              </a:ext>
            </a:extLst>
          </p:cNvPr>
          <p:cNvSpPr>
            <a:spLocks noGrp="1"/>
          </p:cNvSpPr>
          <p:nvPr/>
        </p:nvSpPr>
        <p:spPr>
          <a:xfrm>
            <a:off x="6591300" y="5734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9F10A11-01EF-4FC6-A130-955DDE0E0A1D}"/>
              </a:ext>
            </a:extLst>
          </p:cNvPr>
          <p:cNvSpPr>
            <a:spLocks noGrp="1"/>
          </p:cNvSpPr>
          <p:nvPr/>
        </p:nvSpPr>
        <p:spPr>
          <a:xfrm>
            <a:off x="6838950" y="573405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digest 포함 manifest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E2A62BA1-191B-4642-A54A-088A1AC5E029}"/>
              </a:ext>
            </a:extLst>
          </p:cNvPr>
          <p:cNvSpPr>
            <a:spLocks noGrp="1"/>
          </p:cNvSpPr>
          <p:nvPr/>
        </p:nvSpPr>
        <p:spPr>
          <a:xfrm>
            <a:off x="12052300" y="4552950"/>
            <a:ext cx="54737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FF1A3D5-9A57-4AB9-9656-7D029C9B4CD8}"/>
              </a:ext>
            </a:extLst>
          </p:cNvPr>
          <p:cNvSpPr>
            <a:spLocks noGrp="1"/>
          </p:cNvSpPr>
          <p:nvPr/>
        </p:nvSpPr>
        <p:spPr>
          <a:xfrm>
            <a:off x="12249150" y="4705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Demo gate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00FDE50-951C-4C3B-9DAD-1999F477A2FE}"/>
              </a:ext>
            </a:extLst>
          </p:cNvPr>
          <p:cNvSpPr>
            <a:spLocks noGrp="1"/>
          </p:cNvSpPr>
          <p:nvPr/>
        </p:nvSpPr>
        <p:spPr>
          <a:xfrm>
            <a:off x="12249150" y="5086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0518D39-41B7-41AA-8D95-8502A5366172}"/>
              </a:ext>
            </a:extLst>
          </p:cNvPr>
          <p:cNvSpPr>
            <a:spLocks noGrp="1"/>
          </p:cNvSpPr>
          <p:nvPr/>
        </p:nvSpPr>
        <p:spPr>
          <a:xfrm>
            <a:off x="12496800" y="508635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manifest render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8761625-D5A7-491A-9EB5-75ADE1DFE818}"/>
              </a:ext>
            </a:extLst>
          </p:cNvPr>
          <p:cNvSpPr>
            <a:spLocks noGrp="1"/>
          </p:cNvSpPr>
          <p:nvPr/>
        </p:nvSpPr>
        <p:spPr>
          <a:xfrm>
            <a:off x="12249150" y="5410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78CCA82-45EA-489E-A6E5-5DE5614995A2}"/>
              </a:ext>
            </a:extLst>
          </p:cNvPr>
          <p:cNvSpPr>
            <a:spLocks noGrp="1"/>
          </p:cNvSpPr>
          <p:nvPr/>
        </p:nvSpPr>
        <p:spPr>
          <a:xfrm>
            <a:off x="12496800" y="541020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DB reset guard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AD6C4C5-8BC8-4DD0-8EAA-BC8503F5CE2A}"/>
              </a:ext>
            </a:extLst>
          </p:cNvPr>
          <p:cNvSpPr>
            <a:spLocks noGrp="1"/>
          </p:cNvSpPr>
          <p:nvPr/>
        </p:nvSpPr>
        <p:spPr>
          <a:xfrm>
            <a:off x="12249150" y="57340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027BB22-E5CB-45AC-A7B1-E60EB370461F}"/>
              </a:ext>
            </a:extLst>
          </p:cNvPr>
          <p:cNvSpPr>
            <a:spLocks noGrp="1"/>
          </p:cNvSpPr>
          <p:nvPr/>
        </p:nvSpPr>
        <p:spPr>
          <a:xfrm>
            <a:off x="12496800" y="573405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healthcheck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93708E1-2E4F-403E-AC5E-6E6075F4899F}"/>
              </a:ext>
            </a:extLst>
          </p:cNvPr>
          <p:cNvSpPr>
            <a:spLocks noGrp="1"/>
          </p:cNvSpPr>
          <p:nvPr/>
        </p:nvSpPr>
        <p:spPr>
          <a:xfrm>
            <a:off x="12249150" y="6057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ECB8394-0E52-45FF-9248-4D8621D0D05B}"/>
              </a:ext>
            </a:extLst>
          </p:cNvPr>
          <p:cNvSpPr>
            <a:spLocks noGrp="1"/>
          </p:cNvSpPr>
          <p:nvPr/>
        </p:nvSpPr>
        <p:spPr>
          <a:xfrm>
            <a:off x="12496800" y="6057900"/>
            <a:ext cx="4838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workflow/server evidence 수집 필요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74193487-3825-46EB-90F5-37D28F64C4A4}"/>
              </a:ext>
            </a:extLst>
          </p:cNvPr>
          <p:cNvSpPr>
            <a:spLocks noGrp="1"/>
          </p:cNvSpPr>
          <p:nvPr/>
        </p:nvSpPr>
        <p:spPr>
          <a:xfrm>
            <a:off x="762000" y="69151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06D4943-B0F3-4F58-8A5F-847F70BE7048}"/>
              </a:ext>
            </a:extLst>
          </p:cNvPr>
          <p:cNvSpPr>
            <a:spLocks noGrp="1"/>
          </p:cNvSpPr>
          <p:nvPr/>
        </p:nvSpPr>
        <p:spPr>
          <a:xfrm>
            <a:off x="971550" y="71628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운영 경계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5016B3F-C4F3-4278-ADF0-D12EABD18C1F}"/>
              </a:ext>
            </a:extLst>
          </p:cNvPr>
          <p:cNvSpPr>
            <a:spLocks noGrp="1"/>
          </p:cNvSpPr>
          <p:nvPr/>
        </p:nvSpPr>
        <p:spPr>
          <a:xfrm>
            <a:off x="2571750" y="71628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Service repository가 local source mode, GHCR image mode, demo deployment mode를 분리해 실행 조합을 관리합니다.</a:t>
            </a:r>
          </a:p>
        </p:txBody>
      </p:sp>
      <p:sp>
        <p:nvSpPr>
          <p:cNvPr id="83" name="4-Point Star 82">
            <a:extLst>
              <a:ext uri="{FF2B5EF4-FFF2-40B4-BE49-F238E27FC236}">
                <a16:creationId xmlns:a16="http://schemas.microsoft.com/office/drawing/2014/main" id="{639B5865-A513-CF52-FE87-1658F4FA9706}"/>
              </a:ext>
            </a:extLst>
          </p:cNvPr>
          <p:cNvSpPr/>
          <p:nvPr/>
        </p:nvSpPr>
        <p:spPr>
          <a:xfrm>
            <a:off x="17665543" y="95003"/>
            <a:ext cx="520421" cy="520420"/>
          </a:xfrm>
          <a:prstGeom prst="star4">
            <a:avLst>
              <a:gd name="adj" fmla="val 2047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33218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B0FF679-EFB8-491E-80AE-C3BB5DEAF6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D5FFC8-9738-4F9A-81D5-555D49ADCFA6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F0BDC7-FB83-4018-81CD-52F4401E954C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CI/CD 구현 상태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5236AE-D356-4E7C-9D32-E7998675159A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컴포넌트 이미지와 Service manifest 검증은 시연 환경 재현성을 높이는 핵심 증거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ABE6CE-CC3D-486D-BEA9-617D63A53935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36D5C6D-C008-426D-B3D5-04B57DBE6290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905399-6D11-4BB1-9939-112E437611C8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36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9613090-A72F-4687-AACE-8086F8F611F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67640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aphicFrame>
        <p:nvGraphicFramePr>
          <p:cNvPr id="11" name="Table 10"/>
          <p:cNvGraphicFramePr/>
          <p:nvPr/>
        </p:nvGraphicFramePr>
        <p:xfrm>
          <a:off x="762000" y="2095500"/>
          <a:ext cx="16764000" cy="3714750"/>
        </p:xfrm>
        <a:graphic>
          <a:graphicData uri="http://schemas.openxmlformats.org/drawingml/2006/table">
            <a:tbl>
              <a:tblPr firstRow="1" firstCol="1" bandRow="1"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Component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Version / manifest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Artifact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Anonymous pull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v0.2.0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public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통과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v0.2.1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public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통과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PresenceService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v0.2.0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public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통과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v0.2.0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public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통과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v0.1.0 manifest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digest-pinned refs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통과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9135C69-4B11-4FC8-9A22-08B32EBD93C8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54737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57993E-DBE3-4927-97D4-4A7E4983B7DC}"/>
              </a:ext>
            </a:extLst>
          </p:cNvPr>
          <p:cNvSpPr>
            <a:spLocks noGrp="1"/>
          </p:cNvSpPr>
          <p:nvPr/>
        </p:nvSpPr>
        <p:spPr>
          <a:xfrm>
            <a:off x="952500" y="61341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보안 경계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143DAC-4FAC-4BF9-9082-8A165EA4D7B6}"/>
              </a:ext>
            </a:extLst>
          </p:cNvPr>
          <p:cNvSpPr>
            <a:spLocks noGrp="1"/>
          </p:cNvSpPr>
          <p:nvPr/>
        </p:nvSpPr>
        <p:spPr>
          <a:xfrm>
            <a:off x="952500" y="65151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B01D1F-344A-481D-86C2-F66ACCC244E7}"/>
              </a:ext>
            </a:extLst>
          </p:cNvPr>
          <p:cNvSpPr>
            <a:spLocks noGrp="1"/>
          </p:cNvSpPr>
          <p:nvPr/>
        </p:nvSpPr>
        <p:spPr>
          <a:xfrm>
            <a:off x="1200150" y="6515100"/>
            <a:ext cx="48387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GitHub Secrets로 DB password, JWT secret, sync token 관리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BEDAE2-CB8B-45DE-AEC0-ED7A4211C162}"/>
              </a:ext>
            </a:extLst>
          </p:cNvPr>
          <p:cNvSpPr>
            <a:spLocks noGrp="1"/>
          </p:cNvSpPr>
          <p:nvPr/>
        </p:nvSpPr>
        <p:spPr>
          <a:xfrm>
            <a:off x="952500" y="70485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A1A958-0FD0-4942-A992-60620EF334A7}"/>
              </a:ext>
            </a:extLst>
          </p:cNvPr>
          <p:cNvSpPr>
            <a:spLocks noGrp="1"/>
          </p:cNvSpPr>
          <p:nvPr/>
        </p:nvSpPr>
        <p:spPr>
          <a:xfrm>
            <a:off x="1200150" y="70485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PresenceService는 public ingress로 노출하지 않음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F3B39B-0A2F-4C1F-AE36-032F8FA620B9}"/>
              </a:ext>
            </a:extLst>
          </p:cNvPr>
          <p:cNvSpPr>
            <a:spLocks noGrp="1"/>
          </p:cNvSpPr>
          <p:nvPr/>
        </p:nvSpPr>
        <p:spPr>
          <a:xfrm>
            <a:off x="6407150" y="5981700"/>
            <a:ext cx="54737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CA55DA-7E36-42C4-B022-BEBB254AFCB0}"/>
              </a:ext>
            </a:extLst>
          </p:cNvPr>
          <p:cNvSpPr>
            <a:spLocks noGrp="1"/>
          </p:cNvSpPr>
          <p:nvPr/>
        </p:nvSpPr>
        <p:spPr>
          <a:xfrm>
            <a:off x="6591300" y="61341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Nginx 정책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F670FD-CD19-46BA-B373-54C5DD51EDE9}"/>
              </a:ext>
            </a:extLst>
          </p:cNvPr>
          <p:cNvSpPr>
            <a:spLocks noGrp="1"/>
          </p:cNvSpPr>
          <p:nvPr/>
        </p:nvSpPr>
        <p:spPr>
          <a:xfrm>
            <a:off x="6591300" y="65151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52D5EA-5925-450A-96FD-021FABF05726}"/>
              </a:ext>
            </a:extLst>
          </p:cNvPr>
          <p:cNvSpPr>
            <a:spLocks noGrp="1"/>
          </p:cNvSpPr>
          <p:nvPr/>
        </p:nvSpPr>
        <p:spPr>
          <a:xfrm>
            <a:off x="6838950" y="65151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/api/internal 외부 차단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2196FE-33B1-4FF6-A710-9B2749CC8C55}"/>
              </a:ext>
            </a:extLst>
          </p:cNvPr>
          <p:cNvSpPr>
            <a:spLocks noGrp="1"/>
          </p:cNvSpPr>
          <p:nvPr/>
        </p:nvSpPr>
        <p:spPr>
          <a:xfrm>
            <a:off x="6591300" y="68389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0CEBB2-7B99-46FC-A5C4-39C29888DDED}"/>
              </a:ext>
            </a:extLst>
          </p:cNvPr>
          <p:cNvSpPr>
            <a:spLocks noGrp="1"/>
          </p:cNvSpPr>
          <p:nvPr/>
        </p:nvSpPr>
        <p:spPr>
          <a:xfrm>
            <a:off x="6838950" y="68389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단일 origin으로 CORS 복잡도 감소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0E46566-B7B1-4507-AF42-0AB9DA1FD65A}"/>
              </a:ext>
            </a:extLst>
          </p:cNvPr>
          <p:cNvSpPr>
            <a:spLocks noGrp="1"/>
          </p:cNvSpPr>
          <p:nvPr/>
        </p:nvSpPr>
        <p:spPr>
          <a:xfrm>
            <a:off x="12052300" y="5981700"/>
            <a:ext cx="54737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8F9896-AAB2-4507-B1DE-507191A93DBF}"/>
              </a:ext>
            </a:extLst>
          </p:cNvPr>
          <p:cNvSpPr>
            <a:spLocks noGrp="1"/>
          </p:cNvSpPr>
          <p:nvPr/>
        </p:nvSpPr>
        <p:spPr>
          <a:xfrm>
            <a:off x="12249150" y="61341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남은 증거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B24F9-034B-4AA9-85AE-64E0D4904733}"/>
              </a:ext>
            </a:extLst>
          </p:cNvPr>
          <p:cNvSpPr>
            <a:spLocks noGrp="1"/>
          </p:cNvSpPr>
          <p:nvPr/>
        </p:nvSpPr>
        <p:spPr>
          <a:xfrm>
            <a:off x="12249150" y="65151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89D54D-E310-4831-AE05-909D1EAF4BB2}"/>
              </a:ext>
            </a:extLst>
          </p:cNvPr>
          <p:cNvSpPr>
            <a:spLocks noGrp="1"/>
          </p:cNvSpPr>
          <p:nvPr/>
        </p:nvSpPr>
        <p:spPr>
          <a:xfrm>
            <a:off x="12496800" y="65151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demo deploy workflow run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1DD633-E764-456E-895A-5ACA1F75B125}"/>
              </a:ext>
            </a:extLst>
          </p:cNvPr>
          <p:cNvSpPr>
            <a:spLocks noGrp="1"/>
          </p:cNvSpPr>
          <p:nvPr/>
        </p:nvSpPr>
        <p:spPr>
          <a:xfrm>
            <a:off x="12249150" y="68389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C3CF28-AC24-4A4E-9771-AC02AACF61BE}"/>
              </a:ext>
            </a:extLst>
          </p:cNvPr>
          <p:cNvSpPr>
            <a:spLocks noGrp="1"/>
          </p:cNvSpPr>
          <p:nvPr/>
        </p:nvSpPr>
        <p:spPr>
          <a:xfrm>
            <a:off x="12496800" y="68389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서버 provenance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A66A00-72F9-4858-90EF-27AD80AD43CD}"/>
              </a:ext>
            </a:extLst>
          </p:cNvPr>
          <p:cNvSpPr>
            <a:spLocks noGrp="1"/>
          </p:cNvSpPr>
          <p:nvPr/>
        </p:nvSpPr>
        <p:spPr>
          <a:xfrm>
            <a:off x="12249150" y="7162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E26AFF-7ED2-4FCA-8A5C-6E930420959C}"/>
              </a:ext>
            </a:extLst>
          </p:cNvPr>
          <p:cNvSpPr>
            <a:spLocks noGrp="1"/>
          </p:cNvSpPr>
          <p:nvPr/>
        </p:nvSpPr>
        <p:spPr>
          <a:xfrm>
            <a:off x="12496800" y="71628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최종 healthcheck 캡처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F7228E4-9DB1-4255-B0B2-7A6A7B94F09B}"/>
              </a:ext>
            </a:extLst>
          </p:cNvPr>
          <p:cNvSpPr>
            <a:spLocks noGrp="1"/>
          </p:cNvSpPr>
          <p:nvPr/>
        </p:nvSpPr>
        <p:spPr>
          <a:xfrm>
            <a:off x="762000" y="84391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B3C675-EBF8-4655-80EF-ED31F726B172}"/>
              </a:ext>
            </a:extLst>
          </p:cNvPr>
          <p:cNvSpPr>
            <a:spLocks noGrp="1"/>
          </p:cNvSpPr>
          <p:nvPr/>
        </p:nvSpPr>
        <p:spPr>
          <a:xfrm>
            <a:off x="971550" y="86868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발표 메시지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183EC7-903D-40BA-A158-D4AA6243401E}"/>
              </a:ext>
            </a:extLst>
          </p:cNvPr>
          <p:cNvSpPr>
            <a:spLocks noGrp="1"/>
          </p:cNvSpPr>
          <p:nvPr/>
        </p:nvSpPr>
        <p:spPr>
          <a:xfrm>
            <a:off x="2571750" y="86868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CI/CD는 단순 부가 항목이 아니라 같은 manifest로 누구나 동일한 시연 환경을 재현하게 만드는 장치입니다.</a:t>
            </a:r>
          </a:p>
        </p:txBody>
      </p:sp>
      <p:sp>
        <p:nvSpPr>
          <p:cNvPr id="36" name="4-Point Star 35">
            <a:extLst>
              <a:ext uri="{FF2B5EF4-FFF2-40B4-BE49-F238E27FC236}">
                <a16:creationId xmlns:a16="http://schemas.microsoft.com/office/drawing/2014/main" id="{9AD7BC10-DA57-F22D-B24E-E41D0D26FACC}"/>
              </a:ext>
            </a:extLst>
          </p:cNvPr>
          <p:cNvSpPr/>
          <p:nvPr/>
        </p:nvSpPr>
        <p:spPr>
          <a:xfrm>
            <a:off x="17665543" y="95003"/>
            <a:ext cx="520421" cy="520420"/>
          </a:xfrm>
          <a:prstGeom prst="star4">
            <a:avLst>
              <a:gd name="adj" fmla="val 2047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875450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C69AA20-223D-4CDC-ADB8-B78511237F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009AD1-C267-4A01-99AA-5A72E4B0A34F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E9944B-8A3F-4F03-B2E3-00E64F6E1B0E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산출물 관리 상태 - GitHub /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7260A-4862-4A8B-AB72-A412D39711D6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코드와 실행 환경은 repo 분리와 Service runtime 기준으로 관리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7828F4-EBB0-49AE-921E-7090C1FBE7F8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629AB21-BC11-448D-A7FD-4A57DC7FEEC7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625E1-A46A-4008-8E1B-A8DD85658916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37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3ACDB28-1F41-4DF3-8C5F-66B3D8AEB6A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4062413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C96156-F782-4A52-9B9A-DDCCA16981A8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9534B8-FB0B-4964-8B6B-81DC120260D8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Front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6A748A-0E43-4BE8-A590-9E1901B92336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React/Vite 역할별 UI</a:t>
            </a:r>
          </a:p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build/lint 검증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63B2F4D-D4CA-40B7-9395-498EA222C61E}"/>
              </a:ext>
            </a:extLst>
          </p:cNvPr>
          <p:cNvSpPr>
            <a:spLocks noGrp="1"/>
          </p:cNvSpPr>
          <p:nvPr/>
        </p:nvSpPr>
        <p:spPr>
          <a:xfrm>
            <a:off x="4995863" y="2095500"/>
            <a:ext cx="4062413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5059E7-D1B8-4BF7-B57A-7DBA8ED1A428}"/>
              </a:ext>
            </a:extLst>
          </p:cNvPr>
          <p:cNvSpPr>
            <a:spLocks noGrp="1"/>
          </p:cNvSpPr>
          <p:nvPr/>
        </p:nvSpPr>
        <p:spPr>
          <a:xfrm>
            <a:off x="5181600" y="224790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CFCB81-AE11-4DC6-8140-00AE9AE6AA66}"/>
              </a:ext>
            </a:extLst>
          </p:cNvPr>
          <p:cNvSpPr>
            <a:spLocks noGrp="1"/>
          </p:cNvSpPr>
          <p:nvPr/>
        </p:nvSpPr>
        <p:spPr>
          <a:xfrm>
            <a:off x="518160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Backend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05FBB-762B-41A2-A879-2CCE93F97460}"/>
              </a:ext>
            </a:extLst>
          </p:cNvPr>
          <p:cNvSpPr>
            <a:spLocks noGrp="1"/>
          </p:cNvSpPr>
          <p:nvPr/>
        </p:nvSpPr>
        <p:spPr>
          <a:xfrm>
            <a:off x="518160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FastAPI auth/LMS/attendance/exam</a:t>
            </a:r>
          </a:p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60 tests 통과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161E52-5CA0-43BA-944D-A8110DF6A716}"/>
              </a:ext>
            </a:extLst>
          </p:cNvPr>
          <p:cNvSpPr>
            <a:spLocks noGrp="1"/>
          </p:cNvSpPr>
          <p:nvPr/>
        </p:nvSpPr>
        <p:spPr>
          <a:xfrm>
            <a:off x="9229725" y="2095500"/>
            <a:ext cx="4062413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35D6E3-B734-4035-9EAF-A290AF88F5C8}"/>
              </a:ext>
            </a:extLst>
          </p:cNvPr>
          <p:cNvSpPr>
            <a:spLocks noGrp="1"/>
          </p:cNvSpPr>
          <p:nvPr/>
        </p:nvSpPr>
        <p:spPr>
          <a:xfrm>
            <a:off x="9429750" y="224790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896A03-905D-402A-8573-3C985EEFC444}"/>
              </a:ext>
            </a:extLst>
          </p:cNvPr>
          <p:cNvSpPr>
            <a:spLocks noGrp="1"/>
          </p:cNvSpPr>
          <p:nvPr/>
        </p:nvSpPr>
        <p:spPr>
          <a:xfrm>
            <a:off x="942975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PresenceService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77C3C2-9106-473F-8AD3-3BC502B60522}"/>
              </a:ext>
            </a:extLst>
          </p:cNvPr>
          <p:cNvSpPr>
            <a:spLocks noGrp="1"/>
          </p:cNvSpPr>
          <p:nvPr/>
        </p:nvSpPr>
        <p:spPr>
          <a:xfrm>
            <a:off x="942975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snapshot/cache/overlay/eligibility</a:t>
            </a:r>
          </a:p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8 tests 통과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307E74-00A4-47B0-B128-1BB82A2AFC19}"/>
              </a:ext>
            </a:extLst>
          </p:cNvPr>
          <p:cNvSpPr>
            <a:spLocks noGrp="1"/>
          </p:cNvSpPr>
          <p:nvPr/>
        </p:nvSpPr>
        <p:spPr>
          <a:xfrm>
            <a:off x="13463588" y="2095500"/>
            <a:ext cx="4062413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45DD99-7806-4CAD-A4EF-5CF73B358B2D}"/>
              </a:ext>
            </a:extLst>
          </p:cNvPr>
          <p:cNvSpPr>
            <a:spLocks noGrp="1"/>
          </p:cNvSpPr>
          <p:nvPr/>
        </p:nvSpPr>
        <p:spPr>
          <a:xfrm>
            <a:off x="13658850" y="224790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8F95A0-B2D4-40E9-BFE1-C9FCB8D647E7}"/>
              </a:ext>
            </a:extLst>
          </p:cNvPr>
          <p:cNvSpPr>
            <a:spLocks noGrp="1"/>
          </p:cNvSpPr>
          <p:nvPr/>
        </p:nvSpPr>
        <p:spPr>
          <a:xfrm>
            <a:off x="13658850" y="236220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DB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73D489-4355-489E-AC15-EA1D2F3FDDB0}"/>
              </a:ext>
            </a:extLst>
          </p:cNvPr>
          <p:cNvSpPr>
            <a:spLocks noGrp="1"/>
          </p:cNvSpPr>
          <p:nvPr/>
        </p:nvSpPr>
        <p:spPr>
          <a:xfrm>
            <a:off x="13658850" y="2705100"/>
            <a:ext cx="3676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schema/seed, attendance, exam</a:t>
            </a:r>
          </a:p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init asset 관리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6626CD3-1075-4733-A984-45E5322AB26F}"/>
              </a:ext>
            </a:extLst>
          </p:cNvPr>
          <p:cNvSpPr>
            <a:spLocks noGrp="1"/>
          </p:cNvSpPr>
          <p:nvPr/>
        </p:nvSpPr>
        <p:spPr>
          <a:xfrm>
            <a:off x="762000" y="4743450"/>
            <a:ext cx="7919172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2D6604-E52A-4D8F-A5C8-34C60DDAF785}"/>
              </a:ext>
            </a:extLst>
          </p:cNvPr>
          <p:cNvSpPr>
            <a:spLocks noGrp="1"/>
          </p:cNvSpPr>
          <p:nvPr/>
        </p:nvSpPr>
        <p:spPr>
          <a:xfrm>
            <a:off x="952500" y="4895850"/>
            <a:ext cx="7543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Service runtime proof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F04917-554E-4B98-B9E9-B1965D7A30FC}"/>
              </a:ext>
            </a:extLst>
          </p:cNvPr>
          <p:cNvSpPr>
            <a:spLocks noGrp="1"/>
          </p:cNvSpPr>
          <p:nvPr/>
        </p:nvSpPr>
        <p:spPr>
          <a:xfrm>
            <a:off x="952500" y="52768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3A6A40-1140-4DEE-B9F6-2F8D5D72CCEE}"/>
              </a:ext>
            </a:extLst>
          </p:cNvPr>
          <p:cNvSpPr>
            <a:spLocks noGrp="1"/>
          </p:cNvSpPr>
          <p:nvPr/>
        </p:nvSpPr>
        <p:spPr>
          <a:xfrm>
            <a:off x="1200150" y="527685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Nginx 단일 origin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12AA3E-1A71-44DE-A0EB-DC22541666BB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A185DE-4D45-45E4-8F37-F3B36C35441A}"/>
              </a:ext>
            </a:extLst>
          </p:cNvPr>
          <p:cNvSpPr>
            <a:spLocks noGrp="1"/>
          </p:cNvSpPr>
          <p:nvPr/>
        </p:nvSpPr>
        <p:spPr>
          <a:xfrm>
            <a:off x="1200150" y="560070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local source mode / GHCR image mode 분리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C67C44-9EA6-46AB-89A0-E3C585BCD231}"/>
              </a:ext>
            </a:extLst>
          </p:cNvPr>
          <p:cNvSpPr>
            <a:spLocks noGrp="1"/>
          </p:cNvSpPr>
          <p:nvPr/>
        </p:nvSpPr>
        <p:spPr>
          <a:xfrm>
            <a:off x="952500" y="59245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899700-D331-413A-B9D3-FDB2D9235A61}"/>
              </a:ext>
            </a:extLst>
          </p:cNvPr>
          <p:cNvSpPr>
            <a:spLocks noGrp="1"/>
          </p:cNvSpPr>
          <p:nvPr/>
        </p:nvSpPr>
        <p:spPr>
          <a:xfrm>
            <a:off x="1200150" y="592455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release manifest로 component image ref와 digest 고정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B5068E-1377-4A74-A2EE-FAF067F7E69F}"/>
              </a:ext>
            </a:extLst>
          </p:cNvPr>
          <p:cNvSpPr>
            <a:spLocks noGrp="1"/>
          </p:cNvSpPr>
          <p:nvPr/>
        </p:nvSpPr>
        <p:spPr>
          <a:xfrm>
            <a:off x="952500" y="62484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14F395-DC59-4943-941C-37D8B7A7B86C}"/>
              </a:ext>
            </a:extLst>
          </p:cNvPr>
          <p:cNvSpPr>
            <a:spLocks noGrp="1"/>
          </p:cNvSpPr>
          <p:nvPr/>
        </p:nvSpPr>
        <p:spPr>
          <a:xfrm>
            <a:off x="1200150" y="624840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demo deploy는 manifest render와 healthcheck 증거 수집 필요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57E9DE6-8C60-4030-BDA5-E8D56F37BEF2}"/>
              </a:ext>
            </a:extLst>
          </p:cNvPr>
          <p:cNvSpPr>
            <a:spLocks noGrp="1"/>
          </p:cNvSpPr>
          <p:nvPr/>
        </p:nvSpPr>
        <p:spPr>
          <a:xfrm>
            <a:off x="8852622" y="4743450"/>
            <a:ext cx="8673378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aphicFrame>
        <p:nvGraphicFramePr>
          <p:cNvPr id="37" name="Table 36"/>
          <p:cNvGraphicFramePr/>
          <p:nvPr/>
        </p:nvGraphicFramePr>
        <p:xfrm>
          <a:off x="8852622" y="4743450"/>
          <a:ext cx="8673378" cy="3724275"/>
        </p:xfrm>
        <a:graphic>
          <a:graphicData uri="http://schemas.openxmlformats.org/drawingml/2006/table">
            <a:tbl>
              <a:tblPr firstRow="1" firstCol="1" bandRow="1"/>
              <a:tblGrid>
                <a:gridCol w="2891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1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1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Component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Current artifact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Evidence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v0.2.0 public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anonymous manifest inspect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v0.2.1 public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anonymous manifest inspect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PresenceService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v0.2.0 public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anonymous manifest inspect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v0.2.0 public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anonymous manifest inspect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release manifest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validate/render scripts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12E06AC-9B4A-4C58-B449-4CFAE101640D}"/>
              </a:ext>
            </a:extLst>
          </p:cNvPr>
          <p:cNvSpPr>
            <a:spLocks noGrp="1"/>
          </p:cNvSpPr>
          <p:nvPr/>
        </p:nvSpPr>
        <p:spPr>
          <a:xfrm>
            <a:off x="762000" y="80581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FE31A8-D577-43E6-928D-D522D0818867}"/>
              </a:ext>
            </a:extLst>
          </p:cNvPr>
          <p:cNvSpPr>
            <a:spLocks noGrp="1"/>
          </p:cNvSpPr>
          <p:nvPr/>
        </p:nvSpPr>
        <p:spPr>
          <a:xfrm>
            <a:off x="971550" y="83058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운영 의미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1C0AD4-C481-4BD1-A3BB-80637D9F8B60}"/>
              </a:ext>
            </a:extLst>
          </p:cNvPr>
          <p:cNvSpPr>
            <a:spLocks noGrp="1"/>
          </p:cNvSpPr>
          <p:nvPr/>
        </p:nvSpPr>
        <p:spPr>
          <a:xfrm>
            <a:off x="2571750" y="83058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컴포넌트 이미지를 공개 GHCR로 배포하고 Service manifest가 실행 가능한 조합을 고정합니다.</a:t>
            </a:r>
          </a:p>
        </p:txBody>
      </p:sp>
    </p:spTree>
    <p:extLst>
      <p:ext uri="{BB962C8B-B14F-4D97-AF65-F5344CB8AC3E}">
        <p14:creationId xmlns:p14="http://schemas.microsoft.com/office/powerpoint/2010/main" val="2010806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6CA78D0-0FD7-47AD-A50C-177C5054B1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A64E09-EF05-47C3-B122-AC95C29B5110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A32C9E-E5FC-4349-8BE8-A6C51BCEC8E7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검증 및 테스트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5DBD52-8F42-459C-AEFE-9CA5D8BE199E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서비스별 테스트와 통합 시나리오를 함께 사용해 화면/API/DB 상태를 검증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41308A-2E90-474F-9645-8519197904B0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9AC32B-72CC-482F-859E-6349AC9C5D40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879527-A269-4539-8319-A7B843101032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38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07ADD43-635C-4C09-960D-413F5E639D78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6764000" cy="41910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aphicFrame>
        <p:nvGraphicFramePr>
          <p:cNvPr id="11" name="Table 10"/>
          <p:cNvGraphicFramePr/>
          <p:nvPr/>
        </p:nvGraphicFramePr>
        <p:xfrm>
          <a:off x="762000" y="2095500"/>
          <a:ext cx="16764000" cy="4191000"/>
        </p:xfrm>
        <a:graphic>
          <a:graphicData uri="http://schemas.openxmlformats.org/drawingml/2006/table">
            <a:tbl>
              <a:tblPr firstRow="1" firstCol="1" bandRow="1"/>
              <a:tblGrid>
                <a:gridCol w="55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검증 방식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핵심 범위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pytest, compileall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auth/session, device guard, attendance, exam contract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PresenceService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pytest, compileall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cache hit/miss, refresh lock, overlay, reason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lint, build, Playwright e2e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login, route guard, presence demo, attendance, exam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container init smoke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schema, seed, FK/unique, demo tuple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scenario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attendance records/audit, exam start/save/submit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31C406D-FD1E-490E-8E27-64D5CE29E245}"/>
              </a:ext>
            </a:extLst>
          </p:cNvPr>
          <p:cNvSpPr>
            <a:spLocks noGrp="1"/>
          </p:cNvSpPr>
          <p:nvPr/>
        </p:nvSpPr>
        <p:spPr>
          <a:xfrm>
            <a:off x="762000" y="6457950"/>
            <a:ext cx="54737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350B26-68C2-46B0-B9FF-F629D44DD2AF}"/>
              </a:ext>
            </a:extLst>
          </p:cNvPr>
          <p:cNvSpPr>
            <a:spLocks noGrp="1"/>
          </p:cNvSpPr>
          <p:nvPr/>
        </p:nvSpPr>
        <p:spPr>
          <a:xfrm>
            <a:off x="952500" y="66103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D5B8C8-AE13-4903-9561-49578A54D459}"/>
              </a:ext>
            </a:extLst>
          </p:cNvPr>
          <p:cNvSpPr>
            <a:spLocks noGrp="1"/>
          </p:cNvSpPr>
          <p:nvPr/>
        </p:nvSpPr>
        <p:spPr>
          <a:xfrm>
            <a:off x="952500" y="67246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출석 시나리오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625052-2458-43F6-9F6B-B20AFB075308}"/>
              </a:ext>
            </a:extLst>
          </p:cNvPr>
          <p:cNvSpPr>
            <a:spLocks noGrp="1"/>
          </p:cNvSpPr>
          <p:nvPr/>
        </p:nvSpPr>
        <p:spPr>
          <a:xfrm>
            <a:off x="952500" y="7067550"/>
            <a:ext cx="5086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강의실 AP 확인 → 학생 단말 → 출석 세션 → eligibility → record/audit 저장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8E21DF4-F432-471C-90FF-182D6BACDA6D}"/>
              </a:ext>
            </a:extLst>
          </p:cNvPr>
          <p:cNvSpPr>
            <a:spLocks noGrp="1"/>
          </p:cNvSpPr>
          <p:nvPr/>
        </p:nvSpPr>
        <p:spPr>
          <a:xfrm>
            <a:off x="6407150" y="6457950"/>
            <a:ext cx="54737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23D0AF-4BD0-4A3E-BC77-495AA9C8576C}"/>
              </a:ext>
            </a:extLst>
          </p:cNvPr>
          <p:cNvSpPr>
            <a:spLocks noGrp="1"/>
          </p:cNvSpPr>
          <p:nvPr/>
        </p:nvSpPr>
        <p:spPr>
          <a:xfrm>
            <a:off x="6591300" y="66103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0D31F9-EB33-422C-8E76-D12B9959585F}"/>
              </a:ext>
            </a:extLst>
          </p:cNvPr>
          <p:cNvSpPr>
            <a:spLocks noGrp="1"/>
          </p:cNvSpPr>
          <p:nvPr/>
        </p:nvSpPr>
        <p:spPr>
          <a:xfrm>
            <a:off x="6591300" y="67246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시험 시나리오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DD43EA-6C7B-4691-81C9-7608EE782D12}"/>
              </a:ext>
            </a:extLst>
          </p:cNvPr>
          <p:cNvSpPr>
            <a:spLocks noGrp="1"/>
          </p:cNvSpPr>
          <p:nvPr/>
        </p:nvSpPr>
        <p:spPr>
          <a:xfrm>
            <a:off x="6591300" y="70675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시험 초안 → 게시 → 학생 시작 → 답안 저장 → 제출 → 자동 채점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61400C7-B51E-43C5-BC79-A3ABDA41B3EE}"/>
              </a:ext>
            </a:extLst>
          </p:cNvPr>
          <p:cNvSpPr>
            <a:spLocks noGrp="1"/>
          </p:cNvSpPr>
          <p:nvPr/>
        </p:nvSpPr>
        <p:spPr>
          <a:xfrm>
            <a:off x="12052300" y="6457950"/>
            <a:ext cx="54737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96EC52-30E0-4239-BD29-7C805EFC15A1}"/>
              </a:ext>
            </a:extLst>
          </p:cNvPr>
          <p:cNvSpPr>
            <a:spLocks noGrp="1"/>
          </p:cNvSpPr>
          <p:nvPr/>
        </p:nvSpPr>
        <p:spPr>
          <a:xfrm>
            <a:off x="12249150" y="66103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035CD8-2C58-4FB7-8428-E473E0DEA273}"/>
              </a:ext>
            </a:extLst>
          </p:cNvPr>
          <p:cNvSpPr>
            <a:spLocks noGrp="1"/>
          </p:cNvSpPr>
          <p:nvPr/>
        </p:nvSpPr>
        <p:spPr>
          <a:xfrm>
            <a:off x="12249150" y="67246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인프라 시나리오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1E1FFD-FBDE-4D5B-952C-D376AA023929}"/>
              </a:ext>
            </a:extLst>
          </p:cNvPr>
          <p:cNvSpPr>
            <a:spLocks noGrp="1"/>
          </p:cNvSpPr>
          <p:nvPr/>
        </p:nvSpPr>
        <p:spPr>
          <a:xfrm>
            <a:off x="12249150" y="7067550"/>
            <a:ext cx="50863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7314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273142"/>
                </a:solidFill>
                <a:latin typeface="Pretendard"/>
                <a:ea typeface="Pretendard"/>
                <a:cs typeface="Pretendard"/>
              </a:rPr>
              <a:t>compose config, manifest validation, public image pull, healthcheck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2E327C1-BC7C-436B-B781-FEF0D2BF571B}"/>
              </a:ext>
            </a:extLst>
          </p:cNvPr>
          <p:cNvSpPr>
            <a:spLocks noGrp="1"/>
          </p:cNvSpPr>
          <p:nvPr/>
        </p:nvSpPr>
        <p:spPr>
          <a:xfrm>
            <a:off x="762000" y="84391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913C6F-C35A-41D2-AB0C-4FD3B35D8095}"/>
              </a:ext>
            </a:extLst>
          </p:cNvPr>
          <p:cNvSpPr>
            <a:spLocks noGrp="1"/>
          </p:cNvSpPr>
          <p:nvPr/>
        </p:nvSpPr>
        <p:spPr>
          <a:xfrm>
            <a:off x="971550" y="86868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검증 관점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33D84B-ED1E-4115-A174-428C87E661FF}"/>
              </a:ext>
            </a:extLst>
          </p:cNvPr>
          <p:cNvSpPr>
            <a:spLocks noGrp="1"/>
          </p:cNvSpPr>
          <p:nvPr/>
        </p:nvSpPr>
        <p:spPr>
          <a:xfrm>
            <a:off x="2571750" y="86868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각 기능은 화면만 확인하지 않고 Backend 판단, Presence evidence, DB 기록까지 연결해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6463642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EFFCCD-6551-447B-AF2A-32200DAA70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65CAF2-2A9C-4D0A-9E7C-D72ECD285E39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76200" cy="7543800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" y="685800"/>
            <a:ext cx="476250" cy="476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59E876-349C-44FB-805C-004177CB2BB0}"/>
              </a:ext>
            </a:extLst>
          </p:cNvPr>
          <p:cNvSpPr>
            <a:spLocks noGrp="1"/>
          </p:cNvSpPr>
          <p:nvPr/>
        </p:nvSpPr>
        <p:spPr>
          <a:xfrm>
            <a:off x="1714500" y="81915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C8FE5-745D-4F68-B909-DEF29B9464BB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1049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6F59ED-D095-4124-BFCC-A4A66FCFC8AC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110490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향후 진행 방향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DE2802-AB57-4252-A7F3-480E48B7EAD7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1104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1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2026-05-04 기준으로 남은 검증과 확장 범위를 재정리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CD5EF0-A875-4F0A-8452-2F72F2733F84}"/>
              </a:ext>
            </a:extLst>
          </p:cNvPr>
          <p:cNvSpPr>
            <a:spLocks noGrp="1"/>
          </p:cNvSpPr>
          <p:nvPr/>
        </p:nvSpPr>
        <p:spPr>
          <a:xfrm>
            <a:off x="11049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123A63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CF45A3-51BF-46F1-9570-C3AE56C7F2E2}"/>
              </a:ext>
            </a:extLst>
          </p:cNvPr>
          <p:cNvSpPr>
            <a:spLocks noGrp="1"/>
          </p:cNvSpPr>
          <p:nvPr/>
        </p:nvSpPr>
        <p:spPr>
          <a:xfrm>
            <a:off x="129540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D9A9FA-71B2-496F-9A72-0FD3206B1EEE}"/>
              </a:ext>
            </a:extLst>
          </p:cNvPr>
          <p:cNvSpPr>
            <a:spLocks noGrp="1"/>
          </p:cNvSpPr>
          <p:nvPr/>
        </p:nvSpPr>
        <p:spPr>
          <a:xfrm>
            <a:off x="129540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현장 검증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EB0374-962B-49BD-AB54-AAC38619F82C}"/>
              </a:ext>
            </a:extLst>
          </p:cNvPr>
          <p:cNvSpPr>
            <a:spLocks noGrp="1"/>
          </p:cNvSpPr>
          <p:nvPr/>
        </p:nvSpPr>
        <p:spPr>
          <a:xfrm>
            <a:off x="129540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OpenWrt adapter와 테스트베드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5C2E1F5-61B7-49AB-B056-044D993D44A3}"/>
              </a:ext>
            </a:extLst>
          </p:cNvPr>
          <p:cNvSpPr>
            <a:spLocks noGrp="1"/>
          </p:cNvSpPr>
          <p:nvPr/>
        </p:nvSpPr>
        <p:spPr>
          <a:xfrm>
            <a:off x="49022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E3154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30BD62-5FC4-4DB9-BED4-982C1DAC2DA4}"/>
              </a:ext>
            </a:extLst>
          </p:cNvPr>
          <p:cNvSpPr>
            <a:spLocks noGrp="1"/>
          </p:cNvSpPr>
          <p:nvPr/>
        </p:nvSpPr>
        <p:spPr>
          <a:xfrm>
            <a:off x="508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F5407-1FC2-48E6-8EB4-496C1F039AD1}"/>
              </a:ext>
            </a:extLst>
          </p:cNvPr>
          <p:cNvSpPr>
            <a:spLocks noGrp="1"/>
          </p:cNvSpPr>
          <p:nvPr/>
        </p:nvSpPr>
        <p:spPr>
          <a:xfrm>
            <a:off x="508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 전환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61CE8D-C2DA-4497-9612-541BB684AFAC}"/>
              </a:ext>
            </a:extLst>
          </p:cNvPr>
          <p:cNvSpPr>
            <a:spLocks noGrp="1"/>
          </p:cNvSpPr>
          <p:nvPr/>
        </p:nvSpPr>
        <p:spPr>
          <a:xfrm>
            <a:off x="508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관리자 도구·정책·배포 증거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5955FFE-2DCB-4B02-B1AE-7D4372DD64C8}"/>
              </a:ext>
            </a:extLst>
          </p:cNvPr>
          <p:cNvSpPr>
            <a:spLocks noGrp="1"/>
          </p:cNvSpPr>
          <p:nvPr/>
        </p:nvSpPr>
        <p:spPr>
          <a:xfrm>
            <a:off x="86995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A2947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E998FF-5866-4A7C-B6E7-A0F7A0A28B2C}"/>
              </a:ext>
            </a:extLst>
          </p:cNvPr>
          <p:cNvSpPr>
            <a:spLocks noGrp="1"/>
          </p:cNvSpPr>
          <p:nvPr/>
        </p:nvSpPr>
        <p:spPr>
          <a:xfrm>
            <a:off x="889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AD2165-C567-4531-B1A7-6E53C2B287D1}"/>
              </a:ext>
            </a:extLst>
          </p:cNvPr>
          <p:cNvSpPr>
            <a:spLocks noGrp="1"/>
          </p:cNvSpPr>
          <p:nvPr/>
        </p:nvSpPr>
        <p:spPr>
          <a:xfrm>
            <a:off x="889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 확장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1237C6-F33E-496D-A9B2-F2421E8A63EE}"/>
              </a:ext>
            </a:extLst>
          </p:cNvPr>
          <p:cNvSpPr>
            <a:spLocks noGrp="1"/>
          </p:cNvSpPr>
          <p:nvPr/>
        </p:nvSpPr>
        <p:spPr>
          <a:xfrm>
            <a:off x="889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출석 통계·시험·LMS 저장 구조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0106BB-E195-4EA6-8761-A59A31AB9C68}"/>
              </a:ext>
            </a:extLst>
          </p:cNvPr>
          <p:cNvSpPr>
            <a:spLocks noGrp="1"/>
          </p:cNvSpPr>
          <p:nvPr/>
        </p:nvSpPr>
        <p:spPr>
          <a:xfrm>
            <a:off x="16383000" y="9772650"/>
            <a:ext cx="857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39 / 42</a:t>
            </a:r>
          </a:p>
        </p:txBody>
      </p:sp>
    </p:spTree>
    <p:extLst>
      <p:ext uri="{BB962C8B-B14F-4D97-AF65-F5344CB8AC3E}">
        <p14:creationId xmlns:p14="http://schemas.microsoft.com/office/powerpoint/2010/main" val="284234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D83D4C5D-F501-429C-95FC-C5ECB13C7F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76200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8600"/>
            <a:ext cx="323850" cy="323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BC5AFD-A2E0-4136-821E-BBCE871DB3C6}"/>
              </a:ext>
            </a:extLst>
          </p:cNvPr>
          <p:cNvSpPr>
            <a:spLocks noGrp="1"/>
          </p:cNvSpPr>
          <p:nvPr/>
        </p:nvSpPr>
        <p:spPr>
          <a:xfrm>
            <a:off x="1181100" y="285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93D61-6567-48F8-B6E4-4702EE040EE9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4287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향후 진행 방향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D1B0EF-EDFB-49FC-9D4C-0C454B70F5D7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1428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7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2026-05-04 기준으로 현장 검증, 운영 전환, 기능 확장, 배포 증거를 보강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21914-E71B-4ADA-81FD-2C8FFFE1499F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6764000" cy="9525"/>
          </a:xfrm>
          <a:prstGeom prst="rect">
            <a:avLst/>
          </a:prstGeom>
          <a:solidFill>
            <a:srgbClr val="DDE5EF"/>
          </a:solidFill>
        </p:spPr>
        <p:txBody>
          <a:bodyPr/>
          <a:lstStyle/>
          <a:p>
            <a:endParaRPr lang="en-K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9829800"/>
            <a:ext cx="209550" cy="2095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412FF1-B97B-44C8-9982-4488DBEB4B4E}"/>
              </a:ext>
            </a:extLst>
          </p:cNvPr>
          <p:cNvSpPr>
            <a:spLocks noGrp="1"/>
          </p:cNvSpPr>
          <p:nvPr/>
        </p:nvSpPr>
        <p:spPr>
          <a:xfrm>
            <a:off x="1047750" y="9848850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SMART CLASS | 강의실영역전개(4조)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B61C44-C0C0-479F-86F9-98FB2BB43E55}"/>
              </a:ext>
            </a:extLst>
          </p:cNvPr>
          <p:cNvSpPr>
            <a:spLocks noGrp="1"/>
          </p:cNvSpPr>
          <p:nvPr/>
        </p:nvSpPr>
        <p:spPr>
          <a:xfrm>
            <a:off x="16668750" y="9829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40 / 42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1A581B-EC41-4A68-9FB6-3000162CA3CE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40767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13945-8473-439A-9E01-F6CED7AE7D2A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현장 네트워크 검증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4CE88C-42BD-41F0-8D1D-08FC38481EF9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75B608-7DD3-4391-B9F0-CB7FA8A4FFF4}"/>
              </a:ext>
            </a:extLst>
          </p:cNvPr>
          <p:cNvSpPr>
            <a:spLocks noGrp="1"/>
          </p:cNvSpPr>
          <p:nvPr/>
        </p:nvSpPr>
        <p:spPr>
          <a:xfrm>
            <a:off x="1200150" y="262890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OpenWrt AP별 station 출력 확인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0A467A-691A-4D4A-915A-BC9F98AB7C00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CEF49A-4E55-4A78-8948-42F95AFA5FEC}"/>
              </a:ext>
            </a:extLst>
          </p:cNvPr>
          <p:cNvSpPr>
            <a:spLocks noGrp="1"/>
          </p:cNvSpPr>
          <p:nvPr/>
        </p:nvSpPr>
        <p:spPr>
          <a:xfrm>
            <a:off x="1200150" y="295275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수집 adapter 또는 push collector 구현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CD242F-2D53-4553-813C-07DFDB083640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84055A-5180-4194-9072-C982BF977EA5}"/>
              </a:ext>
            </a:extLst>
          </p:cNvPr>
          <p:cNvSpPr>
            <a:spLocks noGrp="1"/>
          </p:cNvSpPr>
          <p:nvPr/>
        </p:nvSpPr>
        <p:spPr>
          <a:xfrm>
            <a:off x="1200150" y="327660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조선대 테스트베드 운영 결과 수집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6A6F291-8A48-46C6-8FFB-FBFC293165FB}"/>
              </a:ext>
            </a:extLst>
          </p:cNvPr>
          <p:cNvSpPr>
            <a:spLocks noGrp="1"/>
          </p:cNvSpPr>
          <p:nvPr/>
        </p:nvSpPr>
        <p:spPr>
          <a:xfrm>
            <a:off x="4991100" y="2095500"/>
            <a:ext cx="40767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8E8192-1E29-4F06-9407-CCFF803BEC4A}"/>
              </a:ext>
            </a:extLst>
          </p:cNvPr>
          <p:cNvSpPr>
            <a:spLocks noGrp="1"/>
          </p:cNvSpPr>
          <p:nvPr/>
        </p:nvSpPr>
        <p:spPr>
          <a:xfrm>
            <a:off x="5181600" y="2247900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관리자 운영 도구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B4D615-7B36-4206-A385-BB2AA13BCC58}"/>
              </a:ext>
            </a:extLst>
          </p:cNvPr>
          <p:cNvSpPr>
            <a:spLocks noGrp="1"/>
          </p:cNvSpPr>
          <p:nvPr/>
        </p:nvSpPr>
        <p:spPr>
          <a:xfrm>
            <a:off x="5181600" y="2628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509599-6732-4AA8-B230-0C07193FF5E1}"/>
              </a:ext>
            </a:extLst>
          </p:cNvPr>
          <p:cNvSpPr>
            <a:spLocks noGrp="1"/>
          </p:cNvSpPr>
          <p:nvPr/>
        </p:nvSpPr>
        <p:spPr>
          <a:xfrm>
            <a:off x="5429250" y="262890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router registration/token UI 완성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7F7C04-A6A9-4992-B3D2-5433A07608EA}"/>
              </a:ext>
            </a:extLst>
          </p:cNvPr>
          <p:cNvSpPr>
            <a:spLocks noGrp="1"/>
          </p:cNvSpPr>
          <p:nvPr/>
        </p:nvSpPr>
        <p:spPr>
          <a:xfrm>
            <a:off x="5181600" y="2952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6DE784-349A-4A94-9FDD-26DD483D4905}"/>
              </a:ext>
            </a:extLst>
          </p:cNvPr>
          <p:cNvSpPr>
            <a:spLocks noGrp="1"/>
          </p:cNvSpPr>
          <p:nvPr/>
        </p:nvSpPr>
        <p:spPr>
          <a:xfrm>
            <a:off x="5429250" y="295275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retry/backoff와 장애 알림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D77BA4-9E76-4B84-809E-F9B6492A0D21}"/>
              </a:ext>
            </a:extLst>
          </p:cNvPr>
          <p:cNvSpPr>
            <a:spLocks noGrp="1"/>
          </p:cNvSpPr>
          <p:nvPr/>
        </p:nvSpPr>
        <p:spPr>
          <a:xfrm>
            <a:off x="5181600" y="3276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A0D508-CE1A-46B3-8689-E60A3B7E2485}"/>
              </a:ext>
            </a:extLst>
          </p:cNvPr>
          <p:cNvSpPr>
            <a:spLocks noGrp="1"/>
          </p:cNvSpPr>
          <p:nvPr/>
        </p:nvSpPr>
        <p:spPr>
          <a:xfrm>
            <a:off x="5429250" y="327660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수동 출석 대체 절차 정리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6EBF9D3-E8BF-4173-9EEF-83F279E32830}"/>
              </a:ext>
            </a:extLst>
          </p:cNvPr>
          <p:cNvSpPr>
            <a:spLocks noGrp="1"/>
          </p:cNvSpPr>
          <p:nvPr/>
        </p:nvSpPr>
        <p:spPr>
          <a:xfrm>
            <a:off x="9220200" y="2095500"/>
            <a:ext cx="40767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CFE9C0-1F5D-4DCB-A286-BF93BDCD9639}"/>
              </a:ext>
            </a:extLst>
          </p:cNvPr>
          <p:cNvSpPr>
            <a:spLocks noGrp="1"/>
          </p:cNvSpPr>
          <p:nvPr/>
        </p:nvSpPr>
        <p:spPr>
          <a:xfrm>
            <a:off x="9410700" y="2247900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출석·시험 확장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218D77-841F-499B-8487-D912C1CB7695}"/>
              </a:ext>
            </a:extLst>
          </p:cNvPr>
          <p:cNvSpPr>
            <a:spLocks noGrp="1"/>
          </p:cNvSpPr>
          <p:nvPr/>
        </p:nvSpPr>
        <p:spPr>
          <a:xfrm>
            <a:off x="9410700" y="2628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D370F0-4339-4AF5-AD4E-11AB95C0A8BC}"/>
              </a:ext>
            </a:extLst>
          </p:cNvPr>
          <p:cNvSpPr>
            <a:spLocks noGrp="1"/>
          </p:cNvSpPr>
          <p:nvPr/>
        </p:nvSpPr>
        <p:spPr>
          <a:xfrm>
            <a:off x="9658350" y="262890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출석 리포트와 통계 고도화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8CFDCC-8B36-47C5-8D44-3FF2137F4186}"/>
              </a:ext>
            </a:extLst>
          </p:cNvPr>
          <p:cNvSpPr>
            <a:spLocks noGrp="1"/>
          </p:cNvSpPr>
          <p:nvPr/>
        </p:nvSpPr>
        <p:spPr>
          <a:xfrm>
            <a:off x="9410700" y="2952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6FF300-5EDA-4F92-A24C-548FAD668C49}"/>
              </a:ext>
            </a:extLst>
          </p:cNvPr>
          <p:cNvSpPr>
            <a:spLocks noGrp="1"/>
          </p:cNvSpPr>
          <p:nvPr/>
        </p:nvSpPr>
        <p:spPr>
          <a:xfrm>
            <a:off x="9658350" y="295275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시험 문제 유형 확장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55550D-44D8-403D-9F28-0FB4166AE8A7}"/>
              </a:ext>
            </a:extLst>
          </p:cNvPr>
          <p:cNvSpPr>
            <a:spLocks noGrp="1"/>
          </p:cNvSpPr>
          <p:nvPr/>
        </p:nvSpPr>
        <p:spPr>
          <a:xfrm>
            <a:off x="9410700" y="3276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79BDEF-D71B-4C26-ACA4-381887A6CC8A}"/>
              </a:ext>
            </a:extLst>
          </p:cNvPr>
          <p:cNvSpPr>
            <a:spLocks noGrp="1"/>
          </p:cNvSpPr>
          <p:nvPr/>
        </p:nvSpPr>
        <p:spPr>
          <a:xfrm>
            <a:off x="9658350" y="327660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수동 채점과 성적 공개 흐름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E990ED0-4D8E-4837-8051-44846AFDB634}"/>
              </a:ext>
            </a:extLst>
          </p:cNvPr>
          <p:cNvSpPr>
            <a:spLocks noGrp="1"/>
          </p:cNvSpPr>
          <p:nvPr/>
        </p:nvSpPr>
        <p:spPr>
          <a:xfrm>
            <a:off x="13449300" y="2095500"/>
            <a:ext cx="40767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B45608-DC16-46F7-9F8E-421C85B064CA}"/>
              </a:ext>
            </a:extLst>
          </p:cNvPr>
          <p:cNvSpPr>
            <a:spLocks noGrp="1"/>
          </p:cNvSpPr>
          <p:nvPr/>
        </p:nvSpPr>
        <p:spPr>
          <a:xfrm>
            <a:off x="13639800" y="2247900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LMS 정식 API/DB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6D6F64-0369-48A5-A3AA-85F978C68B9F}"/>
              </a:ext>
            </a:extLst>
          </p:cNvPr>
          <p:cNvSpPr>
            <a:spLocks noGrp="1"/>
          </p:cNvSpPr>
          <p:nvPr/>
        </p:nvSpPr>
        <p:spPr>
          <a:xfrm>
            <a:off x="13639800" y="26289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64AC6D-27BB-4455-99A9-C3E1316728DA}"/>
              </a:ext>
            </a:extLst>
          </p:cNvPr>
          <p:cNvSpPr>
            <a:spLocks noGrp="1"/>
          </p:cNvSpPr>
          <p:nvPr/>
        </p:nvSpPr>
        <p:spPr>
          <a:xfrm>
            <a:off x="13887450" y="262890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과제 제출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473462-6FBD-49DB-A0F9-CE9C7DC2C89D}"/>
              </a:ext>
            </a:extLst>
          </p:cNvPr>
          <p:cNvSpPr>
            <a:spLocks noGrp="1"/>
          </p:cNvSpPr>
          <p:nvPr/>
        </p:nvSpPr>
        <p:spPr>
          <a:xfrm>
            <a:off x="13639800" y="29527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FF5711-78E8-493B-AE35-3529D1CFE22A}"/>
              </a:ext>
            </a:extLst>
          </p:cNvPr>
          <p:cNvSpPr>
            <a:spLocks noGrp="1"/>
          </p:cNvSpPr>
          <p:nvPr/>
        </p:nvSpPr>
        <p:spPr>
          <a:xfrm>
            <a:off x="13887450" y="295275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강의자료·동영상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FF564EF-0680-4D66-9005-EA0939854D92}"/>
              </a:ext>
            </a:extLst>
          </p:cNvPr>
          <p:cNvSpPr>
            <a:spLocks noGrp="1"/>
          </p:cNvSpPr>
          <p:nvPr/>
        </p:nvSpPr>
        <p:spPr>
          <a:xfrm>
            <a:off x="13639800" y="32766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6DFC1FA-7618-42BC-93E4-8476E6D72D79}"/>
              </a:ext>
            </a:extLst>
          </p:cNvPr>
          <p:cNvSpPr>
            <a:spLocks noGrp="1"/>
          </p:cNvSpPr>
          <p:nvPr/>
        </p:nvSpPr>
        <p:spPr>
          <a:xfrm>
            <a:off x="13887450" y="3276600"/>
            <a:ext cx="344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질문/문의 기능 저장 구조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FB90E62-4D67-4771-A9C1-E492979EFFE8}"/>
              </a:ext>
            </a:extLst>
          </p:cNvPr>
          <p:cNvSpPr>
            <a:spLocks noGrp="1"/>
          </p:cNvSpPr>
          <p:nvPr/>
        </p:nvSpPr>
        <p:spPr>
          <a:xfrm>
            <a:off x="762000" y="4610100"/>
            <a:ext cx="54737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067D3E-708F-4CA3-984F-8F40396EF2F4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CI/CD 증거 보강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040376E-A85D-4BC1-90C1-8CE1781A30D8}"/>
              </a:ext>
            </a:extLst>
          </p:cNvPr>
          <p:cNvSpPr>
            <a:spLocks noGrp="1"/>
          </p:cNvSpPr>
          <p:nvPr/>
        </p:nvSpPr>
        <p:spPr>
          <a:xfrm>
            <a:off x="952500" y="51435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600560-1B09-4FDA-8355-846C7747B3BC}"/>
              </a:ext>
            </a:extLst>
          </p:cNvPr>
          <p:cNvSpPr>
            <a:spLocks noGrp="1"/>
          </p:cNvSpPr>
          <p:nvPr/>
        </p:nvSpPr>
        <p:spPr>
          <a:xfrm>
            <a:off x="1200150" y="51435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GitHub Actions workflow run 증거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07B9A79-E710-40C4-B836-2ED5ED4FE55C}"/>
              </a:ext>
            </a:extLst>
          </p:cNvPr>
          <p:cNvSpPr>
            <a:spLocks noGrp="1"/>
          </p:cNvSpPr>
          <p:nvPr/>
        </p:nvSpPr>
        <p:spPr>
          <a:xfrm>
            <a:off x="952500" y="5467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1CFF28-56D8-4E54-86AC-ADE2135ADBFF}"/>
              </a:ext>
            </a:extLst>
          </p:cNvPr>
          <p:cNvSpPr>
            <a:spLocks noGrp="1"/>
          </p:cNvSpPr>
          <p:nvPr/>
        </p:nvSpPr>
        <p:spPr>
          <a:xfrm>
            <a:off x="1200150" y="54673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demo deploy summary와 서버 provenance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B09602F-C5F6-4D19-9E35-5976376CFADF}"/>
              </a:ext>
            </a:extLst>
          </p:cNvPr>
          <p:cNvSpPr>
            <a:spLocks noGrp="1"/>
          </p:cNvSpPr>
          <p:nvPr/>
        </p:nvSpPr>
        <p:spPr>
          <a:xfrm>
            <a:off x="952500" y="5791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B763C52-7EB8-42B8-9BD4-11F1AC3235AD}"/>
              </a:ext>
            </a:extLst>
          </p:cNvPr>
          <p:cNvSpPr>
            <a:spLocks noGrp="1"/>
          </p:cNvSpPr>
          <p:nvPr/>
        </p:nvSpPr>
        <p:spPr>
          <a:xfrm>
            <a:off x="1200150" y="57912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staging/prod 분리와 secret 정책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7B0487D-68DA-4773-876F-B4D6C85EFA7F}"/>
              </a:ext>
            </a:extLst>
          </p:cNvPr>
          <p:cNvSpPr>
            <a:spLocks noGrp="1"/>
          </p:cNvSpPr>
          <p:nvPr/>
        </p:nvSpPr>
        <p:spPr>
          <a:xfrm>
            <a:off x="6407150" y="4610100"/>
            <a:ext cx="5473700" cy="1905000"/>
          </a:xfrm>
          <a:prstGeom prst="roundRect">
            <a:avLst>
              <a:gd name="adj" fmla="val 4000"/>
            </a:avLst>
          </a:prstGeom>
          <a:solidFill>
            <a:srgbClr val="FFF1F1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4F7A6E-7045-47E0-9D63-387B87EA8B07}"/>
              </a:ext>
            </a:extLst>
          </p:cNvPr>
          <p:cNvSpPr>
            <a:spLocks noGrp="1"/>
          </p:cNvSpPr>
          <p:nvPr/>
        </p:nvSpPr>
        <p:spPr>
          <a:xfrm>
            <a:off x="6591300" y="47625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D64545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D64545"/>
                </a:solidFill>
                <a:latin typeface="Pretendard"/>
                <a:ea typeface="Pretendard"/>
                <a:cs typeface="Pretendard"/>
              </a:rPr>
              <a:t>개인정보·정책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A00765-6155-4EBA-9968-456D13D80042}"/>
              </a:ext>
            </a:extLst>
          </p:cNvPr>
          <p:cNvSpPr>
            <a:spLocks noGrp="1"/>
          </p:cNvSpPr>
          <p:nvPr/>
        </p:nvSpPr>
        <p:spPr>
          <a:xfrm>
            <a:off x="6591300" y="51435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885E37E-8B6D-4F6B-9B8F-D084207DE15A}"/>
              </a:ext>
            </a:extLst>
          </p:cNvPr>
          <p:cNvSpPr>
            <a:spLocks noGrp="1"/>
          </p:cNvSpPr>
          <p:nvPr/>
        </p:nvSpPr>
        <p:spPr>
          <a:xfrm>
            <a:off x="6838950" y="51435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MAC 저장 고지와 동의 절차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4399880-992B-4D0D-9CE0-EC769521275F}"/>
              </a:ext>
            </a:extLst>
          </p:cNvPr>
          <p:cNvSpPr>
            <a:spLocks noGrp="1"/>
          </p:cNvSpPr>
          <p:nvPr/>
        </p:nvSpPr>
        <p:spPr>
          <a:xfrm>
            <a:off x="6591300" y="5467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197943-052D-4F1D-9979-00859F8ADB96}"/>
              </a:ext>
            </a:extLst>
          </p:cNvPr>
          <p:cNvSpPr>
            <a:spLocks noGrp="1"/>
          </p:cNvSpPr>
          <p:nvPr/>
        </p:nvSpPr>
        <p:spPr>
          <a:xfrm>
            <a:off x="6838950" y="54673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Random MAC 해제 안내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5A0FDB-0D42-4EA1-BE74-5D9B102DBEC8}"/>
              </a:ext>
            </a:extLst>
          </p:cNvPr>
          <p:cNvSpPr>
            <a:spLocks noGrp="1"/>
          </p:cNvSpPr>
          <p:nvPr/>
        </p:nvSpPr>
        <p:spPr>
          <a:xfrm>
            <a:off x="6591300" y="5791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D64545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55BFD75-5C97-4117-BBE0-56F1246D3CD0}"/>
              </a:ext>
            </a:extLst>
          </p:cNvPr>
          <p:cNvSpPr>
            <a:spLocks noGrp="1"/>
          </p:cNvSpPr>
          <p:nvPr/>
        </p:nvSpPr>
        <p:spPr>
          <a:xfrm>
            <a:off x="6838950" y="57912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교수 수동 수정 권한과 감사 로그 보존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DDE1F29F-4CD7-42B3-92AB-8FB51810B951}"/>
              </a:ext>
            </a:extLst>
          </p:cNvPr>
          <p:cNvSpPr>
            <a:spLocks noGrp="1"/>
          </p:cNvSpPr>
          <p:nvPr/>
        </p:nvSpPr>
        <p:spPr>
          <a:xfrm>
            <a:off x="12052300" y="4610100"/>
            <a:ext cx="54737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A883491-506B-4DDC-9F45-3A9A3399DF60}"/>
              </a:ext>
            </a:extLst>
          </p:cNvPr>
          <p:cNvSpPr>
            <a:spLocks noGrp="1"/>
          </p:cNvSpPr>
          <p:nvPr/>
        </p:nvSpPr>
        <p:spPr>
          <a:xfrm>
            <a:off x="12249150" y="47625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9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타 학교 확장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1F9112B-3113-43F2-870E-0A5C26DE132E}"/>
              </a:ext>
            </a:extLst>
          </p:cNvPr>
          <p:cNvSpPr>
            <a:spLocks noGrp="1"/>
          </p:cNvSpPr>
          <p:nvPr/>
        </p:nvSpPr>
        <p:spPr>
          <a:xfrm>
            <a:off x="12249150" y="51435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891F2E2-7AB3-4E7B-A616-904B5331CEF9}"/>
              </a:ext>
            </a:extLst>
          </p:cNvPr>
          <p:cNvSpPr>
            <a:spLocks noGrp="1"/>
          </p:cNvSpPr>
          <p:nvPr/>
        </p:nvSpPr>
        <p:spPr>
          <a:xfrm>
            <a:off x="12496800" y="51435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AP/학사 데이터 연동 차이 흡수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6419DD-2CF3-4427-80E0-194157975295}"/>
              </a:ext>
            </a:extLst>
          </p:cNvPr>
          <p:cNvSpPr>
            <a:spLocks noGrp="1"/>
          </p:cNvSpPr>
          <p:nvPr/>
        </p:nvSpPr>
        <p:spPr>
          <a:xfrm>
            <a:off x="12249150" y="546735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17A8E24-4C85-4737-98C1-6D00D8230DD3}"/>
              </a:ext>
            </a:extLst>
          </p:cNvPr>
          <p:cNvSpPr>
            <a:spLocks noGrp="1"/>
          </p:cNvSpPr>
          <p:nvPr/>
        </p:nvSpPr>
        <p:spPr>
          <a:xfrm>
            <a:off x="12496800" y="546735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adapter/config 기반 설정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BBFADE1-ADA6-43D0-A185-24301FEC052E}"/>
              </a:ext>
            </a:extLst>
          </p:cNvPr>
          <p:cNvSpPr>
            <a:spLocks noGrp="1"/>
          </p:cNvSpPr>
          <p:nvPr/>
        </p:nvSpPr>
        <p:spPr>
          <a:xfrm>
            <a:off x="12249150" y="57912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•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078AE9A-69DC-405A-9224-A27E75160C38}"/>
              </a:ext>
            </a:extLst>
          </p:cNvPr>
          <p:cNvSpPr>
            <a:spLocks noGrp="1"/>
          </p:cNvSpPr>
          <p:nvPr/>
        </p:nvSpPr>
        <p:spPr>
          <a:xfrm>
            <a:off x="12496800" y="5791200"/>
            <a:ext cx="483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도입 가이드 작성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0B8E0027-7D64-4F56-9075-EBD30153BB56}"/>
              </a:ext>
            </a:extLst>
          </p:cNvPr>
          <p:cNvSpPr>
            <a:spLocks noGrp="1"/>
          </p:cNvSpPr>
          <p:nvPr/>
        </p:nvSpPr>
        <p:spPr>
          <a:xfrm>
            <a:off x="762000" y="6648450"/>
            <a:ext cx="5473700" cy="1238250"/>
          </a:xfrm>
          <a:prstGeom prst="roundRect">
            <a:avLst>
              <a:gd name="adj" fmla="val 6154"/>
            </a:avLst>
          </a:prstGeom>
          <a:solidFill>
            <a:srgbClr val="ECF8F1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512DD5B-FB4F-4556-A2AF-8E18C8510A61}"/>
              </a:ext>
            </a:extLst>
          </p:cNvPr>
          <p:cNvSpPr>
            <a:spLocks noGrp="1"/>
          </p:cNvSpPr>
          <p:nvPr/>
        </p:nvSpPr>
        <p:spPr>
          <a:xfrm>
            <a:off x="952500" y="6800850"/>
            <a:ext cx="628650" cy="381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4709B7C-8751-4011-8613-E7BDAC5C4B57}"/>
              </a:ext>
            </a:extLst>
          </p:cNvPr>
          <p:cNvSpPr>
            <a:spLocks noGrp="1"/>
          </p:cNvSpPr>
          <p:nvPr/>
        </p:nvSpPr>
        <p:spPr>
          <a:xfrm>
            <a:off x="952500" y="6915150"/>
            <a:ext cx="5086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 b="1">
                <a:solidFill>
                  <a:srgbClr val="1F8A5B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1F8A5B"/>
                </a:solidFill>
                <a:latin typeface="Pretendard"/>
                <a:ea typeface="Pretendard"/>
                <a:cs typeface="Pretendard"/>
              </a:rPr>
              <a:t>1순위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5B6016B-0086-46C8-BB09-F1835E74B47C}"/>
              </a:ext>
            </a:extLst>
          </p:cNvPr>
          <p:cNvSpPr>
            <a:spLocks noGrp="1"/>
          </p:cNvSpPr>
          <p:nvPr/>
        </p:nvSpPr>
        <p:spPr>
          <a:xfrm>
            <a:off x="952500" y="72390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실 AP 수집 결과와 출석 판정 evidence를 같은 시나리오로 검증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DDE7072-009E-44C4-9F36-2D2E572B41FB}"/>
              </a:ext>
            </a:extLst>
          </p:cNvPr>
          <p:cNvSpPr>
            <a:spLocks noGrp="1"/>
          </p:cNvSpPr>
          <p:nvPr/>
        </p:nvSpPr>
        <p:spPr>
          <a:xfrm>
            <a:off x="6407150" y="6648450"/>
            <a:ext cx="5473700" cy="1238250"/>
          </a:xfrm>
          <a:prstGeom prst="roundRect">
            <a:avLst>
              <a:gd name="adj" fmla="val 6154"/>
            </a:avLst>
          </a:prstGeom>
          <a:solidFill>
            <a:srgbClr val="EEF5FF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1C0D6CA-91C4-46A3-BFA6-986F81B28DF7}"/>
              </a:ext>
            </a:extLst>
          </p:cNvPr>
          <p:cNvSpPr>
            <a:spLocks noGrp="1"/>
          </p:cNvSpPr>
          <p:nvPr/>
        </p:nvSpPr>
        <p:spPr>
          <a:xfrm>
            <a:off x="6591300" y="6800850"/>
            <a:ext cx="628650" cy="38100"/>
          </a:xfrm>
          <a:prstGeom prst="rect">
            <a:avLst/>
          </a:prstGeom>
          <a:solidFill>
            <a:srgbClr val="0066CC"/>
          </a:solidFill>
          <a:ln w="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1614C39-5310-424E-B2FA-D8E4AC629E81}"/>
              </a:ext>
            </a:extLst>
          </p:cNvPr>
          <p:cNvSpPr>
            <a:spLocks noGrp="1"/>
          </p:cNvSpPr>
          <p:nvPr/>
        </p:nvSpPr>
        <p:spPr>
          <a:xfrm>
            <a:off x="6591300" y="6915150"/>
            <a:ext cx="5086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2순위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12E2420-2852-48F0-95A6-76F5D8E4F568}"/>
              </a:ext>
            </a:extLst>
          </p:cNvPr>
          <p:cNvSpPr>
            <a:spLocks noGrp="1"/>
          </p:cNvSpPr>
          <p:nvPr/>
        </p:nvSpPr>
        <p:spPr>
          <a:xfrm>
            <a:off x="6591300" y="7239000"/>
            <a:ext cx="50863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demo deploy 실행 이력, 서버 provenance, health evidence를 제출 자료에 연결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A9C68575-C01E-4419-A032-C0B20E3D7F49}"/>
              </a:ext>
            </a:extLst>
          </p:cNvPr>
          <p:cNvSpPr>
            <a:spLocks noGrp="1"/>
          </p:cNvSpPr>
          <p:nvPr/>
        </p:nvSpPr>
        <p:spPr>
          <a:xfrm>
            <a:off x="12052300" y="6648450"/>
            <a:ext cx="5473700" cy="1238250"/>
          </a:xfrm>
          <a:prstGeom prst="roundRect">
            <a:avLst>
              <a:gd name="adj" fmla="val 6154"/>
            </a:avLst>
          </a:prstGeom>
          <a:solidFill>
            <a:srgbClr val="FFF7E8"/>
          </a:solidFill>
          <a:ln w="9525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8DCC1A8-826C-4397-A2D5-D9767E4C4F45}"/>
              </a:ext>
            </a:extLst>
          </p:cNvPr>
          <p:cNvSpPr>
            <a:spLocks noGrp="1"/>
          </p:cNvSpPr>
          <p:nvPr/>
        </p:nvSpPr>
        <p:spPr>
          <a:xfrm>
            <a:off x="12249150" y="6800850"/>
            <a:ext cx="628650" cy="38100"/>
          </a:xfrm>
          <a:prstGeom prst="rect">
            <a:avLst/>
          </a:prstGeom>
          <a:solidFill>
            <a:srgbClr val="C88719"/>
          </a:solidFill>
          <a:ln w="0">
            <a:solidFill>
              <a:srgbClr val="C8871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C6DB5DD-0DD0-48D5-B762-2EC00D81F512}"/>
              </a:ext>
            </a:extLst>
          </p:cNvPr>
          <p:cNvSpPr>
            <a:spLocks noGrp="1"/>
          </p:cNvSpPr>
          <p:nvPr/>
        </p:nvSpPr>
        <p:spPr>
          <a:xfrm>
            <a:off x="12249150" y="6915150"/>
            <a:ext cx="5086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 b="1">
                <a:solidFill>
                  <a:srgbClr val="C88719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C88719"/>
                </a:solidFill>
                <a:latin typeface="Pretendard"/>
                <a:ea typeface="Pretendard"/>
                <a:cs typeface="Pretendard"/>
              </a:rPr>
              <a:t>3순위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5ABBF00-E217-40D0-9338-465D48F26030}"/>
              </a:ext>
            </a:extLst>
          </p:cNvPr>
          <p:cNvSpPr>
            <a:spLocks noGrp="1"/>
          </p:cNvSpPr>
          <p:nvPr/>
        </p:nvSpPr>
        <p:spPr>
          <a:xfrm>
            <a:off x="12249150" y="72390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65758B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65758B"/>
                </a:solidFill>
                <a:latin typeface="Pretendard"/>
                <a:ea typeface="Pretendard"/>
                <a:cs typeface="Pretendard"/>
              </a:rPr>
              <a:t>개인정보·장애 대응·수동 보정 정책을 운영 절차로 정리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ADC63EA7-28C6-4D0A-B957-5E71A2BF9E9C}"/>
              </a:ext>
            </a:extLst>
          </p:cNvPr>
          <p:cNvSpPr>
            <a:spLocks noGrp="1"/>
          </p:cNvSpPr>
          <p:nvPr/>
        </p:nvSpPr>
        <p:spPr>
          <a:xfrm>
            <a:off x="762000" y="8020050"/>
            <a:ext cx="16764000" cy="723900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9525">
            <a:solidFill>
              <a:srgbClr val="CFE1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FBCF1DA-31D7-46A7-B426-4D167960F036}"/>
              </a:ext>
            </a:extLst>
          </p:cNvPr>
          <p:cNvSpPr>
            <a:spLocks noGrp="1"/>
          </p:cNvSpPr>
          <p:nvPr/>
        </p:nvSpPr>
        <p:spPr>
          <a:xfrm>
            <a:off x="971550" y="8267700"/>
            <a:ext cx="1428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진행 기준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56508C0-F2D1-4A1B-9310-BD86122E6EE1}"/>
              </a:ext>
            </a:extLst>
          </p:cNvPr>
          <p:cNvSpPr>
            <a:spLocks noGrp="1"/>
          </p:cNvSpPr>
          <p:nvPr/>
        </p:nvSpPr>
        <p:spPr>
          <a:xfrm>
            <a:off x="2571750" y="8267700"/>
            <a:ext cx="14744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4C"/>
                </a:solidFill>
                <a:latin typeface="Pretendard"/>
                <a:ea typeface="Pretendard"/>
                <a:cs typeface="Pretendard"/>
              </a:rPr>
              <a:t>로컬 MVP 완료 범위는 유지하되, 최종 발표 전에는 현장 네트워크·배포 증거·운영 정책을 실제 도입 가능성 관점에서 보강합니다.</a:t>
            </a:r>
          </a:p>
        </p:txBody>
      </p:sp>
    </p:spTree>
    <p:extLst>
      <p:ext uri="{BB962C8B-B14F-4D97-AF65-F5344CB8AC3E}">
        <p14:creationId xmlns:p14="http://schemas.microsoft.com/office/powerpoint/2010/main" val="218477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0A0117A-2E9D-46F1-83A6-CB6846A050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5A8D41-66DB-4DB2-A8B9-F087AC2A36C3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76200" cy="7543800"/>
          </a:xfrm>
          <a:prstGeom prst="rect">
            <a:avLst/>
          </a:prstGeom>
          <a:solidFill>
            <a:srgbClr val="0066CC"/>
          </a:solidFill>
        </p:spPr>
        <p:txBody>
          <a:bodyPr/>
          <a:lstStyle/>
          <a:p>
            <a:endParaRPr lang="en-KR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" y="685800"/>
            <a:ext cx="476250" cy="476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A135FC-C798-471F-B39D-18FEAB6C5ABD}"/>
              </a:ext>
            </a:extLst>
          </p:cNvPr>
          <p:cNvSpPr>
            <a:spLocks noGrp="1"/>
          </p:cNvSpPr>
          <p:nvPr/>
        </p:nvSpPr>
        <p:spPr>
          <a:xfrm>
            <a:off x="1714500" y="81915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C7D14-90D5-4A70-BE9A-6C342B8CA539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1049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D72667-D8A6-48B9-AE40-9A11BC648BBF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110490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65AD7F-5825-496C-8D32-DB4CC0C4827B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1104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1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Smart Class의 구조, 검증 범위, 향후 현장 적용 가능성에 대한 질의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A14A0C-EB91-4ADD-B1F4-71BB1CDD49B1}"/>
              </a:ext>
            </a:extLst>
          </p:cNvPr>
          <p:cNvSpPr>
            <a:spLocks noGrp="1"/>
          </p:cNvSpPr>
          <p:nvPr/>
        </p:nvSpPr>
        <p:spPr>
          <a:xfrm>
            <a:off x="11049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123A63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0A2EC6-830D-49FA-82AA-313D6ABCFCBB}"/>
              </a:ext>
            </a:extLst>
          </p:cNvPr>
          <p:cNvSpPr>
            <a:spLocks noGrp="1"/>
          </p:cNvSpPr>
          <p:nvPr/>
        </p:nvSpPr>
        <p:spPr>
          <a:xfrm>
            <a:off x="129540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D04632-42C1-4A0B-9EC9-58257882563A}"/>
              </a:ext>
            </a:extLst>
          </p:cNvPr>
          <p:cNvSpPr>
            <a:spLocks noGrp="1"/>
          </p:cNvSpPr>
          <p:nvPr/>
        </p:nvSpPr>
        <p:spPr>
          <a:xfrm>
            <a:off x="129540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구조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E4D7DF-6EF1-4E3A-8B7C-466975E7010A}"/>
              </a:ext>
            </a:extLst>
          </p:cNvPr>
          <p:cNvSpPr>
            <a:spLocks noGrp="1"/>
          </p:cNvSpPr>
          <p:nvPr/>
        </p:nvSpPr>
        <p:spPr>
          <a:xfrm>
            <a:off x="129540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LMS + Wi-Fi evidence + device auth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56FB37D-DFA1-4B25-A1B9-62C95BABADFB}"/>
              </a:ext>
            </a:extLst>
          </p:cNvPr>
          <p:cNvSpPr>
            <a:spLocks noGrp="1"/>
          </p:cNvSpPr>
          <p:nvPr/>
        </p:nvSpPr>
        <p:spPr>
          <a:xfrm>
            <a:off x="49022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E3154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191DF7-F56A-4419-8608-03FBDD201DD2}"/>
              </a:ext>
            </a:extLst>
          </p:cNvPr>
          <p:cNvSpPr>
            <a:spLocks noGrp="1"/>
          </p:cNvSpPr>
          <p:nvPr/>
        </p:nvSpPr>
        <p:spPr>
          <a:xfrm>
            <a:off x="508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666E2-1CA3-49EC-9131-9BB48D8B86AA}"/>
              </a:ext>
            </a:extLst>
          </p:cNvPr>
          <p:cNvSpPr>
            <a:spLocks noGrp="1"/>
          </p:cNvSpPr>
          <p:nvPr/>
        </p:nvSpPr>
        <p:spPr>
          <a:xfrm>
            <a:off x="508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범위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DD6DFD-11E6-4B82-80DA-BDFE865184AE}"/>
              </a:ext>
            </a:extLst>
          </p:cNvPr>
          <p:cNvSpPr>
            <a:spLocks noGrp="1"/>
          </p:cNvSpPr>
          <p:nvPr/>
        </p:nvSpPr>
        <p:spPr>
          <a:xfrm>
            <a:off x="508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local MVP와 실행 증거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F489C8C-D3F0-41DD-8C57-0AAF520E56A1}"/>
              </a:ext>
            </a:extLst>
          </p:cNvPr>
          <p:cNvSpPr>
            <a:spLocks noGrp="1"/>
          </p:cNvSpPr>
          <p:nvPr/>
        </p:nvSpPr>
        <p:spPr>
          <a:xfrm>
            <a:off x="8699500" y="6762750"/>
            <a:ext cx="3644900" cy="1524000"/>
          </a:xfrm>
          <a:prstGeom prst="roundRect">
            <a:avLst>
              <a:gd name="adj" fmla="val 5000"/>
            </a:avLst>
          </a:prstGeom>
          <a:solidFill>
            <a:srgbClr val="0A2947"/>
          </a:solidFill>
          <a:ln w="9525">
            <a:solidFill>
              <a:srgbClr val="29577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DDEBE7-6C5B-4C46-AC44-C5DB4FF8D467}"/>
              </a:ext>
            </a:extLst>
          </p:cNvPr>
          <p:cNvSpPr>
            <a:spLocks noGrp="1"/>
          </p:cNvSpPr>
          <p:nvPr/>
        </p:nvSpPr>
        <p:spPr>
          <a:xfrm>
            <a:off x="8896350" y="6915150"/>
            <a:ext cx="628650" cy="38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E66AA1-67BE-4A99-8712-ED3A3996A497}"/>
              </a:ext>
            </a:extLst>
          </p:cNvPr>
          <p:cNvSpPr>
            <a:spLocks noGrp="1"/>
          </p:cNvSpPr>
          <p:nvPr/>
        </p:nvSpPr>
        <p:spPr>
          <a:xfrm>
            <a:off x="8896350" y="7029450"/>
            <a:ext cx="325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질문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F5CCF6-759E-4DD8-8CF2-D2F10646DCB4}"/>
              </a:ext>
            </a:extLst>
          </p:cNvPr>
          <p:cNvSpPr>
            <a:spLocks noGrp="1"/>
          </p:cNvSpPr>
          <p:nvPr/>
        </p:nvSpPr>
        <p:spPr>
          <a:xfrm>
            <a:off x="8896350" y="73723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실 장비·운영 정책·개인정보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B64160-5D0F-498A-A7E7-F2EFCAF81A1D}"/>
              </a:ext>
            </a:extLst>
          </p:cNvPr>
          <p:cNvSpPr>
            <a:spLocks noGrp="1"/>
          </p:cNvSpPr>
          <p:nvPr/>
        </p:nvSpPr>
        <p:spPr>
          <a:xfrm>
            <a:off x="16383000" y="9772650"/>
            <a:ext cx="857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41 / 42</a:t>
            </a:r>
          </a:p>
        </p:txBody>
      </p:sp>
    </p:spTree>
    <p:extLst>
      <p:ext uri="{BB962C8B-B14F-4D97-AF65-F5344CB8AC3E}">
        <p14:creationId xmlns:p14="http://schemas.microsoft.com/office/powerpoint/2010/main" val="15550636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B00DEF-A933-4939-99DE-29FC4F172D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K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800100"/>
            <a:ext cx="609600" cy="609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423FDE-1613-475D-8B31-F7FE6C9A7E98}"/>
              </a:ext>
            </a:extLst>
          </p:cNvPr>
          <p:cNvSpPr>
            <a:spLocks noGrp="1"/>
          </p:cNvSpPr>
          <p:nvPr/>
        </p:nvSpPr>
        <p:spPr>
          <a:xfrm>
            <a:off x="1676400" y="971550"/>
            <a:ext cx="2476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EA50DE-E771-46DF-BBA8-E8468361995E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1219200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감사합니다.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A9651-1EFB-418E-838B-C62CECCADDFB}"/>
              </a:ext>
            </a:extLst>
          </p:cNvPr>
          <p:cNvSpPr>
            <a:spLocks noGrp="1"/>
          </p:cNvSpPr>
          <p:nvPr/>
        </p:nvSpPr>
        <p:spPr>
          <a:xfrm>
            <a:off x="914400" y="5162550"/>
            <a:ext cx="1219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00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2200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Wi-Fi 기반 위치 판별과 디바이스 인증을 결합한 공정한 스마트 클래스 서비스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7ADA82-233C-4855-A1C9-A14DD859A1ED}"/>
              </a:ext>
            </a:extLst>
          </p:cNvPr>
          <p:cNvSpPr>
            <a:spLocks noGrp="1"/>
          </p:cNvSpPr>
          <p:nvPr/>
        </p:nvSpPr>
        <p:spPr>
          <a:xfrm>
            <a:off x="16383000" y="9772650"/>
            <a:ext cx="857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7D2E2"/>
                </a:solidFill>
                <a:latin typeface="Pretendard"/>
                <a:ea typeface="Pretendard"/>
                <a:cs typeface="Pretendard"/>
              </a:rPr>
              <a:t>42 / 42</a:t>
            </a:r>
          </a:p>
        </p:txBody>
      </p:sp>
    </p:spTree>
    <p:extLst>
      <p:ext uri="{BB962C8B-B14F-4D97-AF65-F5344CB8AC3E}">
        <p14:creationId xmlns:p14="http://schemas.microsoft.com/office/powerpoint/2010/main" val="15336957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4865</Words>
  <Application>Microsoft Macintosh PowerPoint</Application>
  <DocSecurity>0</DocSecurity>
  <PresentationFormat>Custom</PresentationFormat>
  <Paragraphs>1336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Pretendard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현석 김</cp:lastModifiedBy>
  <cp:revision>1</cp:revision>
  <dcterms:created xsi:type="dcterms:W3CDTF">2026-05-03T16:48:37Z</dcterms:created>
  <dcterms:modified xsi:type="dcterms:W3CDTF">2026-05-03T16:54:19Z</dcterms:modified>
</cp:coreProperties>
</file>